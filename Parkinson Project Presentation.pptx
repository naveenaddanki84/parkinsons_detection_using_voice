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5" r:id="rId2"/>
  </p:sldMasterIdLst>
  <p:notesMasterIdLst>
    <p:notesMasterId r:id="rId39"/>
  </p:notesMasterIdLst>
  <p:sldIdLst>
    <p:sldId id="1649" r:id="rId3"/>
    <p:sldId id="1625" r:id="rId4"/>
    <p:sldId id="256" r:id="rId5"/>
    <p:sldId id="1644" r:id="rId6"/>
    <p:sldId id="1645" r:id="rId7"/>
    <p:sldId id="1646" r:id="rId8"/>
    <p:sldId id="1647" r:id="rId9"/>
    <p:sldId id="1656" r:id="rId10"/>
    <p:sldId id="275" r:id="rId11"/>
    <p:sldId id="278" r:id="rId12"/>
    <p:sldId id="295" r:id="rId13"/>
    <p:sldId id="1631" r:id="rId14"/>
    <p:sldId id="1632" r:id="rId15"/>
    <p:sldId id="1633" r:id="rId16"/>
    <p:sldId id="1641" r:id="rId17"/>
    <p:sldId id="1613" r:id="rId18"/>
    <p:sldId id="1634" r:id="rId19"/>
    <p:sldId id="1637" r:id="rId20"/>
    <p:sldId id="283" r:id="rId21"/>
    <p:sldId id="1638" r:id="rId22"/>
    <p:sldId id="1639" r:id="rId23"/>
    <p:sldId id="1640" r:id="rId24"/>
    <p:sldId id="1643" r:id="rId25"/>
    <p:sldId id="1642" r:id="rId26"/>
    <p:sldId id="1623" r:id="rId27"/>
    <p:sldId id="1318" r:id="rId28"/>
    <p:sldId id="292" r:id="rId29"/>
    <p:sldId id="1652" r:id="rId30"/>
    <p:sldId id="1651" r:id="rId31"/>
    <p:sldId id="273" r:id="rId32"/>
    <p:sldId id="1653" r:id="rId33"/>
    <p:sldId id="1655" r:id="rId34"/>
    <p:sldId id="1654" r:id="rId35"/>
    <p:sldId id="1612" r:id="rId36"/>
    <p:sldId id="1635" r:id="rId37"/>
    <p:sldId id="162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3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4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A4178-074B-46B7-A81C-12247C40122B}" type="datetimeFigureOut">
              <a:rPr lang="en-IN" smtClean="0"/>
              <a:t>04-12-2024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EF2F4-6535-4332-85C5-8D049301D9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47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1031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 First Template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1031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 First Template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1031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My First Template</a:t>
            </a:r>
          </a:p>
        </p:txBody>
      </p:sp>
    </p:spTree>
    <p:extLst>
      <p:ext uri="{BB962C8B-B14F-4D97-AF65-F5344CB8AC3E}">
        <p14:creationId xmlns:p14="http://schemas.microsoft.com/office/powerpoint/2010/main" val="1521609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1CA5-FBFD-EB82-565A-16E402B68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F56EA6-5C11-650F-DA14-6B93F5712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FA49F-3F32-FC70-AED4-940C3BA3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44F5E-60F9-BBD6-D047-DFE498E4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91181-9AC9-3C87-CA01-EF9ED92D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6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FBCA-7FBF-80B9-C666-4B9666CEF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9370-7F13-5DA0-1445-882812115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4459A-7ED8-FCB0-0A71-645E4802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7723D-F065-1B56-9F8D-502C9259A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F01C3-3563-63BB-9AE5-6AA0B9A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0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174D0-1FDA-4C79-BA80-AFD72215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E69AC-E60C-6881-E96B-88453F718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306A3-821D-7B37-64EE-B59CE4A9F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BB8F9-0C81-5B51-3D6C-864407C0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0D2FF-661A-8BA5-562C-A2E3FB42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14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A6F7-1507-5257-C3E4-9F99603F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FFC20-5439-C041-8391-493C426BD1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BEC43-3ED9-C5E3-FB3D-781D09811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297D0-3D94-2DBF-FD1C-F7E4AF6B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B3D9C-7432-91F7-6D34-BBE07EC6C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935AF-912C-7076-CF11-EED67512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2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351F-8DFB-1EEB-ADEE-1721D8B02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64F72-E255-D3E0-F9C1-6379A4259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99A8B-A7F8-DD26-6831-70A25E63C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A75CAF-0DA7-338A-8896-A693CD328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B945A-A8BD-C2C9-44F3-A1908400E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908F00-71B3-8B0E-DCDA-1DE81FFE6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FC349E-61BA-A083-0866-80490B5C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9751BC-B991-87C3-0DCF-EDB73E54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2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282B-0F82-06CC-CDBD-A88727A5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DD8B2-EC76-2E55-60E1-27EB41982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6504C-CEB4-9390-50C2-DDA2CFAE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720B7-D3AE-A97D-4B8A-109B5AB1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32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4C49EB-ECAA-ED96-64E0-3D60CA5B1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8ADBA4-38FB-C63D-4E2B-08683D213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0573F-CC35-4ED7-CB1D-C97444BB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39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C9FD-3A95-619F-E216-2BC1E3D6A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C8F7C-D2E5-526B-B150-5400BEB82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471B8-F6FC-E974-DDF9-D1CE076B3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DFDDD-50AB-145C-5F71-AAC9AFE74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2B1C9-2AAA-1DA9-8175-F327FF932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0BFA6-E1D5-F4B9-AE4B-99F0E30E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6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8B15-A99D-8AE0-7F71-BAFA63949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3B5015-308A-3018-9C86-F253F3D17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87283-1615-A883-E7E7-1BF2735BC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696BB-5242-4982-6D25-AE4C96C94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755A5-E170-22C2-C708-6A2E18FE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8BE73-F3BB-3CC7-0060-41DCC407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45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122F5-DA8F-3192-5F22-0CCDBD5FF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76227-F6E2-1D4A-E583-68DD6D7BD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24D70-A260-95E1-2B5A-9E612CBD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AC9C0-8A60-E838-CB2A-FC8EC51F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51CBF-1B2B-9C2A-6CAC-DE427267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72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76C3C1-9031-A9CF-2431-7AB31880A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342D2-82F9-A30A-EC17-B7DFD1E48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EAED1-B6B4-AF77-9B58-4F705D97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025B1-4FA9-E3D4-B69D-171B99A20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73F59-549B-16A0-9049-843A665D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82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0A3DD-80CD-A311-5F72-0AE112222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5B993-C3CB-E60E-45D4-91EA6CEEA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BCE9F-FC1D-354A-AEDF-533C655EC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8B7A5-0E47-7DCD-9DDA-EBCF1015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0702B-56AD-13B1-D6A2-16F1B0B4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44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99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+ SubTitle+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49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05779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79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47019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own Arrow Callout 17"/>
          <p:cNvSpPr/>
          <p:nvPr userDrawn="1"/>
        </p:nvSpPr>
        <p:spPr bwMode="auto">
          <a:xfrm>
            <a:off x="0" y="0"/>
            <a:ext cx="12192000" cy="3372155"/>
          </a:xfrm>
          <a:prstGeom prst="downArrowCallout">
            <a:avLst>
              <a:gd name="adj1" fmla="val 32676"/>
              <a:gd name="adj2" fmla="val 14109"/>
              <a:gd name="adj3" fmla="val 10498"/>
              <a:gd name="adj4" fmla="val 92638"/>
            </a:avLst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/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999170" y="622368"/>
            <a:ext cx="2193661" cy="2193005"/>
          </a:xfrm>
          <a:prstGeom prst="ellips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924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er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260208" y="1893005"/>
            <a:ext cx="3926352" cy="3710692"/>
          </a:xfrm>
          <a:prstGeom prst="downArrowCallout">
            <a:avLst>
              <a:gd name="adj1" fmla="val 15850"/>
              <a:gd name="adj2" fmla="val 3818"/>
              <a:gd name="adj3" fmla="val 3117"/>
              <a:gd name="adj4" fmla="val 96883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6" name="Down Arrow Callout 15"/>
          <p:cNvSpPr/>
          <p:nvPr userDrawn="1"/>
        </p:nvSpPr>
        <p:spPr>
          <a:xfrm>
            <a:off x="2721" y="1893005"/>
            <a:ext cx="3868529" cy="3710692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5631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7" name="Down Arrow Callout 16"/>
          <p:cNvSpPr/>
          <p:nvPr userDrawn="1"/>
        </p:nvSpPr>
        <p:spPr>
          <a:xfrm>
            <a:off x="3871250" y="1893005"/>
            <a:ext cx="4388959" cy="3710692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5631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161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16" grpId="0" animBg="1"/>
      <p:bldP spid="17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er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86069" y="1662388"/>
            <a:ext cx="2472192" cy="4301321"/>
          </a:xfrm>
          <a:prstGeom prst="downArrowCallout">
            <a:avLst>
              <a:gd name="adj1" fmla="val 17910"/>
              <a:gd name="adj2" fmla="val 8955"/>
              <a:gd name="adj3" fmla="val 6884"/>
              <a:gd name="adj4" fmla="val 96043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8846843" y="1662388"/>
            <a:ext cx="2472192" cy="4301321"/>
          </a:xfrm>
          <a:prstGeom prst="downArrowCallout">
            <a:avLst>
              <a:gd name="adj1" fmla="val 17910"/>
              <a:gd name="adj2" fmla="val 8955"/>
              <a:gd name="adj3" fmla="val 6884"/>
              <a:gd name="adj4" fmla="val 96043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99376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19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er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86069" y="1662388"/>
            <a:ext cx="2472192" cy="4301321"/>
          </a:xfrm>
          <a:prstGeom prst="downArrowCallout">
            <a:avLst>
              <a:gd name="adj1" fmla="val 17910"/>
              <a:gd name="adj2" fmla="val 8955"/>
              <a:gd name="adj3" fmla="val 6884"/>
              <a:gd name="adj4" fmla="val 96043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64724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3"/>
          <p:cNvSpPr>
            <a:spLocks noGrp="1"/>
          </p:cNvSpPr>
          <p:nvPr>
            <p:ph type="body" sz="half" idx="16"/>
          </p:nvPr>
        </p:nvSpPr>
        <p:spPr>
          <a:xfrm>
            <a:off x="1157321" y="4002003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57321" y="1963502"/>
            <a:ext cx="1895355" cy="1894789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15"/>
          </p:nvPr>
        </p:nvSpPr>
        <p:spPr>
          <a:xfrm>
            <a:off x="969558" y="4552559"/>
            <a:ext cx="2270884" cy="123110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17"/>
          </p:nvPr>
        </p:nvSpPr>
        <p:spPr>
          <a:xfrm>
            <a:off x="3763524" y="4002003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3763524" y="1963502"/>
            <a:ext cx="1895355" cy="1894789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5" name="Text Placeholder 3"/>
          <p:cNvSpPr>
            <a:spLocks noGrp="1"/>
          </p:cNvSpPr>
          <p:nvPr>
            <p:ph type="body" sz="half" idx="19"/>
          </p:nvPr>
        </p:nvSpPr>
        <p:spPr>
          <a:xfrm>
            <a:off x="3575761" y="4552559"/>
            <a:ext cx="2270884" cy="123110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20"/>
          </p:nvPr>
        </p:nvSpPr>
        <p:spPr>
          <a:xfrm>
            <a:off x="6438789" y="4002003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21" hasCustomPrompt="1"/>
          </p:nvPr>
        </p:nvSpPr>
        <p:spPr>
          <a:xfrm>
            <a:off x="6438789" y="1963502"/>
            <a:ext cx="1895355" cy="1894789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8" name="Text Placeholder 3"/>
          <p:cNvSpPr>
            <a:spLocks noGrp="1"/>
          </p:cNvSpPr>
          <p:nvPr>
            <p:ph type="body" sz="half" idx="22"/>
          </p:nvPr>
        </p:nvSpPr>
        <p:spPr>
          <a:xfrm>
            <a:off x="6251026" y="4552559"/>
            <a:ext cx="2270884" cy="123110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 Placeholder 3"/>
          <p:cNvSpPr>
            <a:spLocks noGrp="1"/>
          </p:cNvSpPr>
          <p:nvPr>
            <p:ph type="body" sz="half" idx="23"/>
          </p:nvPr>
        </p:nvSpPr>
        <p:spPr>
          <a:xfrm>
            <a:off x="9113800" y="4002003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0" name="Picture Placeholder 7"/>
          <p:cNvSpPr>
            <a:spLocks noGrp="1"/>
          </p:cNvSpPr>
          <p:nvPr>
            <p:ph type="pic" sz="quarter" idx="24" hasCustomPrompt="1"/>
          </p:nvPr>
        </p:nvSpPr>
        <p:spPr>
          <a:xfrm>
            <a:off x="9113800" y="1963502"/>
            <a:ext cx="1895355" cy="1894789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1" name="Text Placeholder 3"/>
          <p:cNvSpPr>
            <a:spLocks noGrp="1"/>
          </p:cNvSpPr>
          <p:nvPr>
            <p:ph type="body" sz="half" idx="25"/>
          </p:nvPr>
        </p:nvSpPr>
        <p:spPr>
          <a:xfrm>
            <a:off x="8926037" y="4552559"/>
            <a:ext cx="2270884" cy="1231107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17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500"/>
                            </p:stCondLst>
                            <p:childTnLst>
                              <p:par>
                                <p:cTn id="68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/>
      <p:bldP spid="4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/>
          <p:cNvSpPr/>
          <p:nvPr userDrawn="1"/>
        </p:nvSpPr>
        <p:spPr>
          <a:xfrm>
            <a:off x="1936802" y="2035606"/>
            <a:ext cx="3915359" cy="3915359"/>
          </a:xfrm>
          <a:prstGeom prst="ellipse">
            <a:avLst/>
          </a:prstGeom>
          <a:noFill/>
          <a:ln w="19050">
            <a:solidFill>
              <a:schemeClr val="tx2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27" name="Oval 26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9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408759" y="3327601"/>
            <a:ext cx="1330252" cy="1329856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bIns="91440" anchor="b"/>
          <a:lstStyle>
            <a:lvl1pPr algn="ctr">
              <a:buNone/>
              <a:defRPr sz="9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0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3251201" y="1499451"/>
            <a:ext cx="1330252" cy="1329856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bIns="91440" anchor="b"/>
          <a:lstStyle>
            <a:lvl1pPr algn="ctr">
              <a:buNone/>
              <a:defRPr sz="9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1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5045690" y="3337761"/>
            <a:ext cx="1330252" cy="1329856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bIns="91440" anchor="b"/>
          <a:lstStyle>
            <a:lvl1pPr algn="ctr">
              <a:buNone/>
              <a:defRPr sz="9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2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3229355" y="5147144"/>
            <a:ext cx="1330252" cy="1329856"/>
          </a:xfrm>
          <a:prstGeom prst="ellipse">
            <a:avLst/>
          </a:prstGeom>
          <a:ln w="28575">
            <a:solidFill>
              <a:schemeClr val="accent4"/>
            </a:solidFill>
          </a:ln>
        </p:spPr>
        <p:txBody>
          <a:bodyPr bIns="91440" anchor="b"/>
          <a:lstStyle>
            <a:lvl1pPr algn="ctr">
              <a:buNone/>
              <a:defRPr sz="9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42350" y="4737632"/>
            <a:ext cx="1552751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r" rtl="1">
              <a:buNone/>
              <a:defRPr sz="14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560425" y="5900182"/>
            <a:ext cx="1552751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r" rtl="1">
              <a:buNone/>
              <a:defRPr sz="1467" b="1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5" name="Text Placeholder 3"/>
          <p:cNvSpPr>
            <a:spLocks noGrp="1"/>
          </p:cNvSpPr>
          <p:nvPr>
            <p:ph type="body" sz="half" idx="21"/>
          </p:nvPr>
        </p:nvSpPr>
        <p:spPr>
          <a:xfrm>
            <a:off x="4659758" y="1716952"/>
            <a:ext cx="1552751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 rtl="1">
              <a:buNone/>
              <a:defRPr sz="14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6" name="Text Placeholder 3"/>
          <p:cNvSpPr>
            <a:spLocks noGrp="1"/>
          </p:cNvSpPr>
          <p:nvPr>
            <p:ph type="body" sz="half" idx="22"/>
          </p:nvPr>
        </p:nvSpPr>
        <p:spPr>
          <a:xfrm>
            <a:off x="5675766" y="4763299"/>
            <a:ext cx="1552751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 rtl="1">
              <a:buNone/>
              <a:defRPr sz="1467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36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2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4" grpId="0"/>
      <p:bldP spid="4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animBg="1"/>
      <p:bldP spid="60" grpId="0" animBg="1"/>
      <p:bldP spid="61" grpId="0" animBg="1"/>
      <p:bldP spid="62" grpId="0" animBg="1"/>
      <p:bldP spid="63" grpId="0" build="p">
        <p:tmplLst>
          <p:tmpl lvl="1">
            <p:tnLst>
              <p:par>
                <p:cTn presetID="22" presetClass="entr" presetSubtype="2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2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2" presetClass="entr" presetSubtype="8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am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27" name="Oval 26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925458" y="1687978"/>
            <a:ext cx="3163241" cy="31623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bIns="91440" anchor="b"/>
          <a:lstStyle>
            <a:lvl1pPr algn="ctr">
              <a:buNone/>
              <a:defRPr sz="9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82754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16"/>
          </p:nvPr>
        </p:nvSpPr>
        <p:spPr>
          <a:xfrm>
            <a:off x="1700389" y="4639711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425789" y="2087867"/>
            <a:ext cx="2444555" cy="2443827"/>
          </a:xfrm>
          <a:prstGeom prst="diamond">
            <a:avLst/>
          </a:prstGeom>
          <a:ln w="28575">
            <a:solidFill>
              <a:schemeClr val="accent1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7"/>
          </p:nvPr>
        </p:nvSpPr>
        <p:spPr>
          <a:xfrm>
            <a:off x="3420356" y="2555420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3146121" y="3102893"/>
            <a:ext cx="2444555" cy="2443827"/>
          </a:xfrm>
          <a:prstGeom prst="diamond">
            <a:avLst/>
          </a:prstGeom>
          <a:ln w="28575">
            <a:solidFill>
              <a:schemeClr val="accent2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152501" y="4639711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21" hasCustomPrompt="1"/>
          </p:nvPr>
        </p:nvSpPr>
        <p:spPr>
          <a:xfrm>
            <a:off x="4866453" y="2087867"/>
            <a:ext cx="2444555" cy="2443827"/>
          </a:xfrm>
          <a:prstGeom prst="diamond">
            <a:avLst/>
          </a:prstGeom>
          <a:ln w="28575">
            <a:solidFill>
              <a:schemeClr val="accent3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3"/>
          </p:nvPr>
        </p:nvSpPr>
        <p:spPr>
          <a:xfrm>
            <a:off x="6874101" y="2555420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24" hasCustomPrompt="1"/>
          </p:nvPr>
        </p:nvSpPr>
        <p:spPr>
          <a:xfrm>
            <a:off x="6586785" y="3102893"/>
            <a:ext cx="2444555" cy="2443827"/>
          </a:xfrm>
          <a:prstGeom prst="diamond">
            <a:avLst/>
          </a:prstGeom>
          <a:ln w="28575">
            <a:solidFill>
              <a:schemeClr val="accent4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6" name="Text Placeholder 3"/>
          <p:cNvSpPr>
            <a:spLocks noGrp="1"/>
          </p:cNvSpPr>
          <p:nvPr>
            <p:ph type="body" sz="half" idx="25"/>
          </p:nvPr>
        </p:nvSpPr>
        <p:spPr>
          <a:xfrm>
            <a:off x="8581717" y="4639711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5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7" name="Picture Placeholder 7"/>
          <p:cNvSpPr>
            <a:spLocks noGrp="1"/>
          </p:cNvSpPr>
          <p:nvPr>
            <p:ph type="pic" sz="quarter" idx="26" hasCustomPrompt="1"/>
          </p:nvPr>
        </p:nvSpPr>
        <p:spPr>
          <a:xfrm>
            <a:off x="8307117" y="2087867"/>
            <a:ext cx="2444555" cy="2443827"/>
          </a:xfrm>
          <a:prstGeom prst="diamond">
            <a:avLst/>
          </a:prstGeom>
          <a:ln w="28575">
            <a:solidFill>
              <a:schemeClr val="accent5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7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1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4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7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46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736663" y="1409834"/>
            <a:ext cx="2481605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36664" y="3215243"/>
            <a:ext cx="2481605" cy="561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8" name="Text Placeholder 3"/>
          <p:cNvSpPr>
            <a:spLocks noGrp="1"/>
          </p:cNvSpPr>
          <p:nvPr>
            <p:ph type="body" sz="half" idx="16"/>
          </p:nvPr>
        </p:nvSpPr>
        <p:spPr>
          <a:xfrm>
            <a:off x="736664" y="3241367"/>
            <a:ext cx="248160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9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3501466" y="1409834"/>
            <a:ext cx="2481605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0" name="Rectangle 49"/>
          <p:cNvSpPr/>
          <p:nvPr userDrawn="1"/>
        </p:nvSpPr>
        <p:spPr>
          <a:xfrm>
            <a:off x="3501467" y="3215243"/>
            <a:ext cx="2481605" cy="5612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1" name="Text Placeholder 3"/>
          <p:cNvSpPr>
            <a:spLocks noGrp="1"/>
          </p:cNvSpPr>
          <p:nvPr>
            <p:ph type="body" sz="half" idx="18"/>
          </p:nvPr>
        </p:nvSpPr>
        <p:spPr>
          <a:xfrm>
            <a:off x="3501467" y="3241367"/>
            <a:ext cx="248160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6244666" y="1409834"/>
            <a:ext cx="2481605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3" name="Rectangle 52"/>
          <p:cNvSpPr/>
          <p:nvPr userDrawn="1"/>
        </p:nvSpPr>
        <p:spPr>
          <a:xfrm>
            <a:off x="6244667" y="3215243"/>
            <a:ext cx="2481605" cy="5612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4" name="Text Placeholder 3"/>
          <p:cNvSpPr>
            <a:spLocks noGrp="1"/>
          </p:cNvSpPr>
          <p:nvPr>
            <p:ph type="body" sz="half" idx="20"/>
          </p:nvPr>
        </p:nvSpPr>
        <p:spPr>
          <a:xfrm>
            <a:off x="6244667" y="3241367"/>
            <a:ext cx="248160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5" name="Picture Placeholder 7"/>
          <p:cNvSpPr>
            <a:spLocks noGrp="1"/>
          </p:cNvSpPr>
          <p:nvPr>
            <p:ph type="pic" sz="quarter" idx="21" hasCustomPrompt="1"/>
          </p:nvPr>
        </p:nvSpPr>
        <p:spPr>
          <a:xfrm>
            <a:off x="8987866" y="1409834"/>
            <a:ext cx="2481605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6" name="Rectangle 55"/>
          <p:cNvSpPr/>
          <p:nvPr userDrawn="1"/>
        </p:nvSpPr>
        <p:spPr>
          <a:xfrm>
            <a:off x="8987867" y="3215243"/>
            <a:ext cx="2481605" cy="561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7" name="Text Placeholder 3"/>
          <p:cNvSpPr>
            <a:spLocks noGrp="1"/>
          </p:cNvSpPr>
          <p:nvPr>
            <p:ph type="body" sz="half" idx="22"/>
          </p:nvPr>
        </p:nvSpPr>
        <p:spPr>
          <a:xfrm>
            <a:off x="8987867" y="3241367"/>
            <a:ext cx="248160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" name="Picture Placeholder 7"/>
          <p:cNvSpPr>
            <a:spLocks noGrp="1"/>
          </p:cNvSpPr>
          <p:nvPr>
            <p:ph type="pic" sz="quarter" idx="23" hasCustomPrompt="1"/>
          </p:nvPr>
        </p:nvSpPr>
        <p:spPr>
          <a:xfrm>
            <a:off x="736663" y="3971308"/>
            <a:ext cx="2481605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9" name="Rectangle 58"/>
          <p:cNvSpPr/>
          <p:nvPr userDrawn="1"/>
        </p:nvSpPr>
        <p:spPr>
          <a:xfrm>
            <a:off x="736664" y="5776716"/>
            <a:ext cx="2481605" cy="561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4"/>
          </p:nvPr>
        </p:nvSpPr>
        <p:spPr>
          <a:xfrm>
            <a:off x="736664" y="5802840"/>
            <a:ext cx="248160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1" name="Picture Placeholder 7"/>
          <p:cNvSpPr>
            <a:spLocks noGrp="1"/>
          </p:cNvSpPr>
          <p:nvPr>
            <p:ph type="pic" sz="quarter" idx="25" hasCustomPrompt="1"/>
          </p:nvPr>
        </p:nvSpPr>
        <p:spPr>
          <a:xfrm>
            <a:off x="3501466" y="3971308"/>
            <a:ext cx="2481605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2" name="Rectangle 61"/>
          <p:cNvSpPr/>
          <p:nvPr userDrawn="1"/>
        </p:nvSpPr>
        <p:spPr>
          <a:xfrm>
            <a:off x="3501467" y="5776716"/>
            <a:ext cx="2481605" cy="5612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3" name="Text Placeholder 3"/>
          <p:cNvSpPr>
            <a:spLocks noGrp="1"/>
          </p:cNvSpPr>
          <p:nvPr>
            <p:ph type="body" sz="half" idx="26"/>
          </p:nvPr>
        </p:nvSpPr>
        <p:spPr>
          <a:xfrm>
            <a:off x="3501467" y="5802840"/>
            <a:ext cx="248160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4" name="Picture Placeholder 7"/>
          <p:cNvSpPr>
            <a:spLocks noGrp="1"/>
          </p:cNvSpPr>
          <p:nvPr>
            <p:ph type="pic" sz="quarter" idx="27" hasCustomPrompt="1"/>
          </p:nvPr>
        </p:nvSpPr>
        <p:spPr>
          <a:xfrm>
            <a:off x="6244666" y="3971308"/>
            <a:ext cx="2481605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5" name="Rectangle 64"/>
          <p:cNvSpPr/>
          <p:nvPr userDrawn="1"/>
        </p:nvSpPr>
        <p:spPr>
          <a:xfrm>
            <a:off x="6244667" y="5776716"/>
            <a:ext cx="2481605" cy="561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6" name="Text Placeholder 3"/>
          <p:cNvSpPr>
            <a:spLocks noGrp="1"/>
          </p:cNvSpPr>
          <p:nvPr>
            <p:ph type="body" sz="half" idx="28"/>
          </p:nvPr>
        </p:nvSpPr>
        <p:spPr>
          <a:xfrm>
            <a:off x="6244667" y="5802840"/>
            <a:ext cx="248160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7" name="Picture Placeholder 7"/>
          <p:cNvSpPr>
            <a:spLocks noGrp="1"/>
          </p:cNvSpPr>
          <p:nvPr>
            <p:ph type="pic" sz="quarter" idx="29" hasCustomPrompt="1"/>
          </p:nvPr>
        </p:nvSpPr>
        <p:spPr>
          <a:xfrm>
            <a:off x="8987866" y="3971308"/>
            <a:ext cx="2481605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8" name="Rectangle 67"/>
          <p:cNvSpPr/>
          <p:nvPr userDrawn="1"/>
        </p:nvSpPr>
        <p:spPr>
          <a:xfrm>
            <a:off x="8987867" y="5776716"/>
            <a:ext cx="2481605" cy="5612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9" name="Text Placeholder 3"/>
          <p:cNvSpPr>
            <a:spLocks noGrp="1"/>
          </p:cNvSpPr>
          <p:nvPr>
            <p:ph type="body" sz="half" idx="30"/>
          </p:nvPr>
        </p:nvSpPr>
        <p:spPr>
          <a:xfrm>
            <a:off x="8987867" y="5802840"/>
            <a:ext cx="248160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0" name="Oval 29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86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4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  <p:bldP spid="17" grpId="0" animBg="1"/>
      <p:bldP spid="48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/>
      <p:bldP spid="50" grpId="0" animBg="1"/>
      <p:bldP spid="51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/>
      <p:bldP spid="53" grpId="0" animBg="1"/>
      <p:bldP spid="54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/>
      <p:bldP spid="56" grpId="0" animBg="1"/>
      <p:bldP spid="57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/>
      <p:bldP spid="59" grpId="0" animBg="1"/>
      <p:bldP spid="60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/>
      <p:bldP spid="62" grpId="0" animBg="1"/>
      <p:bldP spid="64" grpId="0"/>
      <p:bldP spid="65" grpId="0" animBg="1"/>
      <p:bldP spid="66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/>
      <p:bldP spid="68" grpId="0" animBg="1"/>
      <p:bldP spid="6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33" name="Rectangle 32"/>
          <p:cNvSpPr/>
          <p:nvPr userDrawn="1"/>
        </p:nvSpPr>
        <p:spPr>
          <a:xfrm>
            <a:off x="698366" y="3924011"/>
            <a:ext cx="2552859" cy="22481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7" name="Rectangle 36"/>
          <p:cNvSpPr/>
          <p:nvPr userDrawn="1"/>
        </p:nvSpPr>
        <p:spPr>
          <a:xfrm>
            <a:off x="698366" y="1585988"/>
            <a:ext cx="2552859" cy="22481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0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769620" y="1656441"/>
            <a:ext cx="2413899" cy="2075071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3" name="Text Placeholder 3"/>
          <p:cNvSpPr>
            <a:spLocks noGrp="1"/>
          </p:cNvSpPr>
          <p:nvPr>
            <p:ph type="body" sz="half" idx="16"/>
          </p:nvPr>
        </p:nvSpPr>
        <p:spPr>
          <a:xfrm>
            <a:off x="1027118" y="4091836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84" name="Text Placeholder 3"/>
          <p:cNvSpPr>
            <a:spLocks noGrp="1"/>
          </p:cNvSpPr>
          <p:nvPr>
            <p:ph type="body" sz="half" idx="17"/>
          </p:nvPr>
        </p:nvSpPr>
        <p:spPr>
          <a:xfrm>
            <a:off x="839355" y="4591059"/>
            <a:ext cx="2270884" cy="14465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Rectangle 84"/>
          <p:cNvSpPr/>
          <p:nvPr userDrawn="1"/>
        </p:nvSpPr>
        <p:spPr>
          <a:xfrm>
            <a:off x="3449819" y="3924011"/>
            <a:ext cx="2552859" cy="22481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6" name="Rectangle 85"/>
          <p:cNvSpPr/>
          <p:nvPr userDrawn="1"/>
        </p:nvSpPr>
        <p:spPr>
          <a:xfrm>
            <a:off x="3449819" y="1585988"/>
            <a:ext cx="2552859" cy="22481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7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3521072" y="1656441"/>
            <a:ext cx="2413899" cy="2075071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8" name="Text Placeholder 3"/>
          <p:cNvSpPr>
            <a:spLocks noGrp="1"/>
          </p:cNvSpPr>
          <p:nvPr>
            <p:ph type="body" sz="half" idx="19"/>
          </p:nvPr>
        </p:nvSpPr>
        <p:spPr>
          <a:xfrm>
            <a:off x="3778571" y="4091836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89" name="Text Placeholder 3"/>
          <p:cNvSpPr>
            <a:spLocks noGrp="1"/>
          </p:cNvSpPr>
          <p:nvPr>
            <p:ph type="body" sz="half" idx="20"/>
          </p:nvPr>
        </p:nvSpPr>
        <p:spPr>
          <a:xfrm>
            <a:off x="3590807" y="4591059"/>
            <a:ext cx="2270884" cy="14465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Rectangle 89"/>
          <p:cNvSpPr/>
          <p:nvPr userDrawn="1"/>
        </p:nvSpPr>
        <p:spPr>
          <a:xfrm>
            <a:off x="6184767" y="3924011"/>
            <a:ext cx="2552859" cy="22481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1" name="Rectangle 90"/>
          <p:cNvSpPr/>
          <p:nvPr userDrawn="1"/>
        </p:nvSpPr>
        <p:spPr>
          <a:xfrm>
            <a:off x="6184767" y="1585988"/>
            <a:ext cx="2552859" cy="22481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2" name="Picture Placeholder 7"/>
          <p:cNvSpPr>
            <a:spLocks noGrp="1"/>
          </p:cNvSpPr>
          <p:nvPr>
            <p:ph type="pic" sz="quarter" idx="21" hasCustomPrompt="1"/>
          </p:nvPr>
        </p:nvSpPr>
        <p:spPr>
          <a:xfrm>
            <a:off x="6256020" y="1656441"/>
            <a:ext cx="2413899" cy="2075071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93" name="Text Placeholder 3"/>
          <p:cNvSpPr>
            <a:spLocks noGrp="1"/>
          </p:cNvSpPr>
          <p:nvPr>
            <p:ph type="body" sz="half" idx="22"/>
          </p:nvPr>
        </p:nvSpPr>
        <p:spPr>
          <a:xfrm>
            <a:off x="6513519" y="4091836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3"/>
          </p:nvPr>
        </p:nvSpPr>
        <p:spPr>
          <a:xfrm>
            <a:off x="6325755" y="4591059"/>
            <a:ext cx="2270884" cy="14465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5" name="Rectangle 94"/>
          <p:cNvSpPr/>
          <p:nvPr userDrawn="1"/>
        </p:nvSpPr>
        <p:spPr>
          <a:xfrm>
            <a:off x="8905341" y="3924011"/>
            <a:ext cx="2552859" cy="22481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6" name="Rectangle 95"/>
          <p:cNvSpPr/>
          <p:nvPr userDrawn="1"/>
        </p:nvSpPr>
        <p:spPr>
          <a:xfrm>
            <a:off x="8905341" y="1585988"/>
            <a:ext cx="2552859" cy="22481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7" name="Picture Placeholder 7"/>
          <p:cNvSpPr>
            <a:spLocks noGrp="1"/>
          </p:cNvSpPr>
          <p:nvPr>
            <p:ph type="pic" sz="quarter" idx="24" hasCustomPrompt="1"/>
          </p:nvPr>
        </p:nvSpPr>
        <p:spPr>
          <a:xfrm>
            <a:off x="8976595" y="1656441"/>
            <a:ext cx="2413899" cy="2075071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25"/>
          </p:nvPr>
        </p:nvSpPr>
        <p:spPr>
          <a:xfrm>
            <a:off x="9234093" y="4091836"/>
            <a:ext cx="189535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9" name="Text Placeholder 3"/>
          <p:cNvSpPr>
            <a:spLocks noGrp="1"/>
          </p:cNvSpPr>
          <p:nvPr>
            <p:ph type="body" sz="half" idx="26"/>
          </p:nvPr>
        </p:nvSpPr>
        <p:spPr>
          <a:xfrm>
            <a:off x="9046330" y="4591059"/>
            <a:ext cx="2270884" cy="144652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34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7" grpId="0" animBg="1"/>
      <p:bldP spid="80" grpId="0"/>
      <p:bldP spid="83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animBg="1"/>
      <p:bldP spid="87" grpId="0"/>
      <p:bldP spid="88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0" grpId="0" animBg="1"/>
      <p:bldP spid="91" grpId="0" animBg="1"/>
      <p:bldP spid="92" grpId="0"/>
      <p:bldP spid="93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4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5" grpId="0" animBg="1"/>
      <p:bldP spid="96" grpId="0" animBg="1"/>
      <p:bldP spid="97" grpId="0"/>
      <p:bldP spid="98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7"/>
          <p:cNvSpPr>
            <a:spLocks noGrp="1"/>
          </p:cNvSpPr>
          <p:nvPr>
            <p:ph type="pic" sz="quarter" idx="22" hasCustomPrompt="1"/>
          </p:nvPr>
        </p:nvSpPr>
        <p:spPr>
          <a:xfrm>
            <a:off x="4470400" y="1408767"/>
            <a:ext cx="3251200" cy="3250227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79" name="Text Placeholder 3"/>
          <p:cNvSpPr>
            <a:spLocks noGrp="1"/>
          </p:cNvSpPr>
          <p:nvPr>
            <p:ph type="body" sz="half" idx="16"/>
          </p:nvPr>
        </p:nvSpPr>
        <p:spPr>
          <a:xfrm>
            <a:off x="988393" y="5027960"/>
            <a:ext cx="1895355" cy="508973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5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1" name="Text Placeholder 3"/>
          <p:cNvSpPr>
            <a:spLocks noGrp="1"/>
          </p:cNvSpPr>
          <p:nvPr>
            <p:ph type="body" sz="half" idx="31"/>
          </p:nvPr>
        </p:nvSpPr>
        <p:spPr>
          <a:xfrm>
            <a:off x="3394707" y="5868467"/>
            <a:ext cx="1895355" cy="508973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32"/>
          </p:nvPr>
        </p:nvSpPr>
        <p:spPr>
          <a:xfrm>
            <a:off x="6832851" y="5868467"/>
            <a:ext cx="1895355" cy="508973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33"/>
          </p:nvPr>
        </p:nvSpPr>
        <p:spPr>
          <a:xfrm>
            <a:off x="9245584" y="5027960"/>
            <a:ext cx="1895355" cy="508973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6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4" name="Text Placeholder 3"/>
          <p:cNvSpPr>
            <a:spLocks noGrp="1"/>
          </p:cNvSpPr>
          <p:nvPr>
            <p:ph type="body" sz="half" idx="34"/>
          </p:nvPr>
        </p:nvSpPr>
        <p:spPr>
          <a:xfrm>
            <a:off x="5144167" y="5166947"/>
            <a:ext cx="1895355" cy="508973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74199" y="2411930"/>
            <a:ext cx="2523744" cy="2522991"/>
          </a:xfrm>
          <a:prstGeom prst="ellipse">
            <a:avLst/>
          </a:prstGeom>
          <a:ln w="28575">
            <a:solidFill>
              <a:schemeClr val="accent5"/>
            </a:solidFill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3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3080512" y="3281310"/>
            <a:ext cx="2523744" cy="2522991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73" name="Picture Placeholder 7"/>
          <p:cNvSpPr>
            <a:spLocks noGrp="1"/>
          </p:cNvSpPr>
          <p:nvPr>
            <p:ph type="pic" sz="quarter" idx="26" hasCustomPrompt="1"/>
          </p:nvPr>
        </p:nvSpPr>
        <p:spPr>
          <a:xfrm>
            <a:off x="6518656" y="3281310"/>
            <a:ext cx="2523744" cy="2522991"/>
          </a:xfrm>
          <a:prstGeom prst="ellipse">
            <a:avLst/>
          </a:prstGeom>
          <a:ln w="28575">
            <a:solidFill>
              <a:schemeClr val="accent3"/>
            </a:solidFill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3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8931389" y="2411930"/>
            <a:ext cx="2523744" cy="2522991"/>
          </a:xfrm>
          <a:prstGeom prst="ellipse">
            <a:avLst/>
          </a:prstGeom>
          <a:ln w="28575">
            <a:solidFill>
              <a:schemeClr val="accent6"/>
            </a:solidFill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64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animBg="1"/>
      <p:bldP spid="63" grpId="0" animBg="1"/>
      <p:bldP spid="73" grpId="0" animBg="1"/>
      <p:bldP spid="83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301116" y="1937835"/>
            <a:ext cx="185178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599316" y="1963503"/>
            <a:ext cx="1559685" cy="1559220"/>
          </a:xfrm>
          <a:prstGeom prst="teardrop">
            <a:avLst/>
          </a:prstGeom>
          <a:ln w="28575">
            <a:solidFill>
              <a:schemeClr val="accent1"/>
            </a:solidFill>
          </a:ln>
        </p:spPr>
        <p:txBody>
          <a:bodyPr bIns="182880" anchor="b"/>
          <a:lstStyle>
            <a:lvl1pPr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15"/>
          </p:nvPr>
        </p:nvSpPr>
        <p:spPr>
          <a:xfrm>
            <a:off x="2301116" y="2488391"/>
            <a:ext cx="1851785" cy="114381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67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1700" y="1937835"/>
            <a:ext cx="185178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68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4279900" y="1963503"/>
            <a:ext cx="1559685" cy="1559220"/>
          </a:xfrm>
          <a:prstGeom prst="teardrop">
            <a:avLst/>
          </a:prstGeom>
          <a:ln w="28575">
            <a:solidFill>
              <a:schemeClr val="accent2"/>
            </a:solidFill>
          </a:ln>
        </p:spPr>
        <p:txBody>
          <a:bodyPr bIns="182880" anchor="b"/>
          <a:lstStyle>
            <a:lvl1pPr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half" idx="19"/>
          </p:nvPr>
        </p:nvSpPr>
        <p:spPr>
          <a:xfrm>
            <a:off x="5981700" y="2488391"/>
            <a:ext cx="1851785" cy="114381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0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64700" y="1937835"/>
            <a:ext cx="185178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71" name="Picture Placeholder 7"/>
          <p:cNvSpPr>
            <a:spLocks noGrp="1"/>
          </p:cNvSpPr>
          <p:nvPr>
            <p:ph type="pic" sz="quarter" idx="21" hasCustomPrompt="1"/>
          </p:nvPr>
        </p:nvSpPr>
        <p:spPr>
          <a:xfrm>
            <a:off x="7962900" y="1963503"/>
            <a:ext cx="1559685" cy="1559220"/>
          </a:xfrm>
          <a:prstGeom prst="teardrop">
            <a:avLst/>
          </a:prstGeom>
          <a:ln w="28575">
            <a:solidFill>
              <a:schemeClr val="accent3"/>
            </a:solidFill>
          </a:ln>
        </p:spPr>
        <p:txBody>
          <a:bodyPr bIns="182880" anchor="b"/>
          <a:lstStyle>
            <a:lvl1pPr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72" name="Text Placeholder 3"/>
          <p:cNvSpPr>
            <a:spLocks noGrp="1"/>
          </p:cNvSpPr>
          <p:nvPr>
            <p:ph type="body" sz="half" idx="22"/>
          </p:nvPr>
        </p:nvSpPr>
        <p:spPr>
          <a:xfrm>
            <a:off x="9664700" y="2488391"/>
            <a:ext cx="1851785" cy="114381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3" name="Text Placeholder 3"/>
          <p:cNvSpPr>
            <a:spLocks noGrp="1"/>
          </p:cNvSpPr>
          <p:nvPr>
            <p:ph type="body" sz="half" idx="23"/>
          </p:nvPr>
        </p:nvSpPr>
        <p:spPr>
          <a:xfrm>
            <a:off x="2301116" y="3983344"/>
            <a:ext cx="185178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1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74" name="Picture Placeholder 7"/>
          <p:cNvSpPr>
            <a:spLocks noGrp="1"/>
          </p:cNvSpPr>
          <p:nvPr>
            <p:ph type="pic" sz="quarter" idx="24" hasCustomPrompt="1"/>
          </p:nvPr>
        </p:nvSpPr>
        <p:spPr>
          <a:xfrm>
            <a:off x="599316" y="4009013"/>
            <a:ext cx="1559685" cy="1559220"/>
          </a:xfrm>
          <a:prstGeom prst="teardrop">
            <a:avLst/>
          </a:prstGeom>
          <a:ln w="28575">
            <a:solidFill>
              <a:schemeClr val="accent4"/>
            </a:solidFill>
          </a:ln>
        </p:spPr>
        <p:txBody>
          <a:bodyPr bIns="182880" anchor="b"/>
          <a:lstStyle>
            <a:lvl1pPr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half" idx="25"/>
          </p:nvPr>
        </p:nvSpPr>
        <p:spPr>
          <a:xfrm>
            <a:off x="2301116" y="4533900"/>
            <a:ext cx="1851785" cy="114381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6" name="Text Placeholder 3"/>
          <p:cNvSpPr>
            <a:spLocks noGrp="1"/>
          </p:cNvSpPr>
          <p:nvPr>
            <p:ph type="body" sz="half" idx="26"/>
          </p:nvPr>
        </p:nvSpPr>
        <p:spPr>
          <a:xfrm>
            <a:off x="5981700" y="3983344"/>
            <a:ext cx="185178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1" baseline="0">
                <a:solidFill>
                  <a:schemeClr val="accent5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77" name="Picture Placeholder 7"/>
          <p:cNvSpPr>
            <a:spLocks noGrp="1"/>
          </p:cNvSpPr>
          <p:nvPr>
            <p:ph type="pic" sz="quarter" idx="27" hasCustomPrompt="1"/>
          </p:nvPr>
        </p:nvSpPr>
        <p:spPr>
          <a:xfrm>
            <a:off x="4279900" y="4009013"/>
            <a:ext cx="1559685" cy="1559220"/>
          </a:xfrm>
          <a:prstGeom prst="teardrop">
            <a:avLst/>
          </a:prstGeom>
          <a:ln w="28575">
            <a:solidFill>
              <a:schemeClr val="accent5"/>
            </a:solidFill>
          </a:ln>
        </p:spPr>
        <p:txBody>
          <a:bodyPr bIns="182880" anchor="b"/>
          <a:lstStyle>
            <a:lvl1pPr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78" name="Text Placeholder 3"/>
          <p:cNvSpPr>
            <a:spLocks noGrp="1"/>
          </p:cNvSpPr>
          <p:nvPr>
            <p:ph type="body" sz="half" idx="28"/>
          </p:nvPr>
        </p:nvSpPr>
        <p:spPr>
          <a:xfrm>
            <a:off x="5981700" y="4533900"/>
            <a:ext cx="1851785" cy="114381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9" name="Text Placeholder 3"/>
          <p:cNvSpPr>
            <a:spLocks noGrp="1"/>
          </p:cNvSpPr>
          <p:nvPr>
            <p:ph type="body" sz="half" idx="29"/>
          </p:nvPr>
        </p:nvSpPr>
        <p:spPr>
          <a:xfrm>
            <a:off x="9664700" y="3983344"/>
            <a:ext cx="1851785" cy="50897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1" baseline="0">
                <a:solidFill>
                  <a:schemeClr val="accent6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80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7962900" y="4009013"/>
            <a:ext cx="1559685" cy="1559220"/>
          </a:xfrm>
          <a:prstGeom prst="teardrop">
            <a:avLst/>
          </a:prstGeom>
          <a:ln w="28575">
            <a:solidFill>
              <a:schemeClr val="accent6"/>
            </a:solidFill>
          </a:ln>
        </p:spPr>
        <p:txBody>
          <a:bodyPr bIns="182880" anchor="b"/>
          <a:lstStyle>
            <a:lvl1pPr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1" name="Text Placeholder 3"/>
          <p:cNvSpPr>
            <a:spLocks noGrp="1"/>
          </p:cNvSpPr>
          <p:nvPr>
            <p:ph type="body" sz="half" idx="31"/>
          </p:nvPr>
        </p:nvSpPr>
        <p:spPr>
          <a:xfrm>
            <a:off x="9664700" y="4533900"/>
            <a:ext cx="1851785" cy="114381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Oval 23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2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00"/>
                            </p:stCondLst>
                            <p:childTnLst>
                              <p:par>
                                <p:cTn id="4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500"/>
                            </p:stCondLst>
                            <p:childTnLst>
                              <p:par>
                                <p:cTn id="68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000"/>
                            </p:stCondLst>
                            <p:childTnLst>
                              <p:par>
                                <p:cTn id="83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500"/>
                            </p:stCondLst>
                            <p:childTnLst>
                              <p:par>
                                <p:cTn id="8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000"/>
                            </p:stCondLst>
                            <p:childTnLst>
                              <p:par>
                                <p:cTn id="94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500"/>
                            </p:stCondLst>
                            <p:childTnLst>
                              <p:par>
                                <p:cTn id="98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/>
      <p:bldP spid="4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  <p:bldP spid="7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animBg="1"/>
      <p:bldP spid="75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0" grpId="0" animBg="1"/>
      <p:bldP spid="81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24" name="Rounded Rectangle 23"/>
          <p:cNvSpPr/>
          <p:nvPr userDrawn="1"/>
        </p:nvSpPr>
        <p:spPr>
          <a:xfrm>
            <a:off x="872965" y="1833721"/>
            <a:ext cx="5069416" cy="2245752"/>
          </a:xfrm>
          <a:prstGeom prst="roundRect">
            <a:avLst>
              <a:gd name="adj" fmla="val 366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7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1129851" y="2005621"/>
            <a:ext cx="1868376" cy="1901952"/>
          </a:xfrm>
          <a:prstGeom prst="roundRect">
            <a:avLst>
              <a:gd name="adj" fmla="val 8424"/>
            </a:avLst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" name="Oval 7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8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7" grpId="0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57321" y="1963502"/>
            <a:ext cx="1895355" cy="1894789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3763524" y="1963502"/>
            <a:ext cx="1895355" cy="1894789"/>
          </a:xfrm>
          <a:prstGeom prst="roundRect">
            <a:avLst/>
          </a:prstGeom>
          <a:ln w="28575">
            <a:solidFill>
              <a:schemeClr val="accent2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7" name="Picture Placeholder 7"/>
          <p:cNvSpPr>
            <a:spLocks noGrp="1"/>
          </p:cNvSpPr>
          <p:nvPr>
            <p:ph type="pic" sz="quarter" idx="21" hasCustomPrompt="1"/>
          </p:nvPr>
        </p:nvSpPr>
        <p:spPr>
          <a:xfrm>
            <a:off x="6438789" y="1963502"/>
            <a:ext cx="1895355" cy="1894789"/>
          </a:xfrm>
          <a:prstGeom prst="roundRect">
            <a:avLst/>
          </a:prstGeom>
          <a:ln w="28575">
            <a:solidFill>
              <a:schemeClr val="accent3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0" name="Picture Placeholder 7"/>
          <p:cNvSpPr>
            <a:spLocks noGrp="1"/>
          </p:cNvSpPr>
          <p:nvPr>
            <p:ph type="pic" sz="quarter" idx="24" hasCustomPrompt="1"/>
          </p:nvPr>
        </p:nvSpPr>
        <p:spPr>
          <a:xfrm>
            <a:off x="9113800" y="1963502"/>
            <a:ext cx="1895355" cy="1894789"/>
          </a:xfrm>
          <a:prstGeom prst="roundRect">
            <a:avLst/>
          </a:prstGeom>
          <a:ln w="28575">
            <a:solidFill>
              <a:schemeClr val="accent4"/>
            </a:solidFill>
          </a:ln>
        </p:spPr>
        <p:txBody>
          <a:bodyPr bIns="18288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13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 animBg="1"/>
      <p:bldP spid="37" grpId="0" animBg="1"/>
      <p:bldP spid="40" grpId="0" animBg="1"/>
      <p:bldP spid="42" grpId="0"/>
      <p:bldP spid="4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1511762"/>
            <a:ext cx="3698113" cy="2841945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7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8483239" y="1511762"/>
            <a:ext cx="3708763" cy="2841945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98114" y="1511764"/>
            <a:ext cx="4785125" cy="28419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Oval 8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61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6019190" y="1431959"/>
            <a:ext cx="5299844" cy="1796083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6019190" y="3429000"/>
            <a:ext cx="5299844" cy="1796083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" name="Oval 7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25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/>
      <p:bldP spid="13" grpId="0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27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871807" y="1496124"/>
            <a:ext cx="2446415" cy="3793125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8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3561387" y="1496124"/>
            <a:ext cx="2372660" cy="1796083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1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8934035" y="1496124"/>
            <a:ext cx="2372660" cy="1796083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2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6211310" y="3493167"/>
            <a:ext cx="2372660" cy="1796083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3552748" y="3427294"/>
            <a:ext cx="2381299" cy="1861956"/>
            <a:chOff x="2664561" y="2570470"/>
            <a:chExt cx="1785974" cy="1396467"/>
          </a:xfrm>
        </p:grpSpPr>
        <p:sp>
          <p:nvSpPr>
            <p:cNvPr id="34" name="Rectangle 33"/>
            <p:cNvSpPr/>
            <p:nvPr/>
          </p:nvSpPr>
          <p:spPr>
            <a:xfrm>
              <a:off x="2664561" y="2570470"/>
              <a:ext cx="1785974" cy="134706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664561" y="2619875"/>
              <a:ext cx="1785974" cy="134706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6" name="Group 3"/>
          <p:cNvGrpSpPr/>
          <p:nvPr userDrawn="1"/>
        </p:nvGrpSpPr>
        <p:grpSpPr>
          <a:xfrm>
            <a:off x="8925396" y="3417134"/>
            <a:ext cx="2381299" cy="1872116"/>
            <a:chOff x="6694047" y="2562850"/>
            <a:chExt cx="1785974" cy="1404087"/>
          </a:xfrm>
        </p:grpSpPr>
        <p:sp>
          <p:nvSpPr>
            <p:cNvPr id="37" name="Rectangle 36"/>
            <p:cNvSpPr/>
            <p:nvPr/>
          </p:nvSpPr>
          <p:spPr>
            <a:xfrm>
              <a:off x="6694047" y="2562850"/>
              <a:ext cx="1785974" cy="134706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694047" y="2619875"/>
              <a:ext cx="1785974" cy="13470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9" name="Group 2"/>
          <p:cNvGrpSpPr/>
          <p:nvPr userDrawn="1"/>
        </p:nvGrpSpPr>
        <p:grpSpPr>
          <a:xfrm>
            <a:off x="6211309" y="1496124"/>
            <a:ext cx="2381299" cy="1876243"/>
            <a:chOff x="4658482" y="1122093"/>
            <a:chExt cx="1785974" cy="1407182"/>
          </a:xfrm>
        </p:grpSpPr>
        <p:sp>
          <p:nvSpPr>
            <p:cNvPr id="40" name="Rectangle 39"/>
            <p:cNvSpPr/>
            <p:nvPr/>
          </p:nvSpPr>
          <p:spPr>
            <a:xfrm>
              <a:off x="4658482" y="1182213"/>
              <a:ext cx="1785974" cy="1347062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658482" y="1122093"/>
              <a:ext cx="1785974" cy="13470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19" name="Oval 18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48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/>
      <p:bldP spid="28" grpId="0"/>
      <p:bldP spid="31" grpId="0"/>
      <p:bldP spid="32" grpId="0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grpSp>
        <p:nvGrpSpPr>
          <p:cNvPr id="44" name="Group 43"/>
          <p:cNvGrpSpPr/>
          <p:nvPr userDrawn="1"/>
        </p:nvGrpSpPr>
        <p:grpSpPr>
          <a:xfrm>
            <a:off x="6333439" y="1907853"/>
            <a:ext cx="2381299" cy="1392120"/>
            <a:chOff x="4750079" y="1706835"/>
            <a:chExt cx="1785974" cy="1044090"/>
          </a:xfrm>
        </p:grpSpPr>
        <p:sp>
          <p:nvSpPr>
            <p:cNvPr id="45" name="Rectangle 44"/>
            <p:cNvSpPr/>
            <p:nvPr/>
          </p:nvSpPr>
          <p:spPr>
            <a:xfrm>
              <a:off x="4750079" y="1747885"/>
              <a:ext cx="1785974" cy="100304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750079" y="1706835"/>
              <a:ext cx="1785974" cy="1003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47" name="Group 46"/>
          <p:cNvGrpSpPr/>
          <p:nvPr userDrawn="1"/>
        </p:nvGrpSpPr>
        <p:grpSpPr>
          <a:xfrm>
            <a:off x="8943340" y="1907853"/>
            <a:ext cx="2381299" cy="1392120"/>
            <a:chOff x="6707505" y="1706835"/>
            <a:chExt cx="1785974" cy="1044090"/>
          </a:xfrm>
        </p:grpSpPr>
        <p:sp>
          <p:nvSpPr>
            <p:cNvPr id="48" name="Rectangle 47"/>
            <p:cNvSpPr/>
            <p:nvPr/>
          </p:nvSpPr>
          <p:spPr>
            <a:xfrm>
              <a:off x="6707505" y="1747885"/>
              <a:ext cx="1785974" cy="100304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707505" y="1706835"/>
              <a:ext cx="1785974" cy="100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50" name="Group 49"/>
          <p:cNvGrpSpPr/>
          <p:nvPr userDrawn="1"/>
        </p:nvGrpSpPr>
        <p:grpSpPr>
          <a:xfrm>
            <a:off x="6333439" y="3356131"/>
            <a:ext cx="2381299" cy="1393668"/>
            <a:chOff x="4750079" y="2793043"/>
            <a:chExt cx="1785974" cy="1045251"/>
          </a:xfrm>
        </p:grpSpPr>
        <p:sp>
          <p:nvSpPr>
            <p:cNvPr id="51" name="Rectangle 50"/>
            <p:cNvSpPr/>
            <p:nvPr/>
          </p:nvSpPr>
          <p:spPr>
            <a:xfrm>
              <a:off x="4750079" y="2793043"/>
              <a:ext cx="1785974" cy="100304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750079" y="2835254"/>
              <a:ext cx="1785974" cy="10030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53" name="Group 52"/>
          <p:cNvGrpSpPr/>
          <p:nvPr userDrawn="1"/>
        </p:nvGrpSpPr>
        <p:grpSpPr>
          <a:xfrm>
            <a:off x="8943340" y="3356131"/>
            <a:ext cx="2381299" cy="1393668"/>
            <a:chOff x="6707505" y="2793043"/>
            <a:chExt cx="1785974" cy="1045251"/>
          </a:xfrm>
        </p:grpSpPr>
        <p:sp>
          <p:nvSpPr>
            <p:cNvPr id="54" name="Rectangle 53"/>
            <p:cNvSpPr/>
            <p:nvPr/>
          </p:nvSpPr>
          <p:spPr>
            <a:xfrm>
              <a:off x="6707505" y="2793043"/>
              <a:ext cx="1785974" cy="100304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707505" y="2835254"/>
              <a:ext cx="1785974" cy="10030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56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891856" y="1907853"/>
            <a:ext cx="5178745" cy="2841947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9" name="Oval 18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29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29" name="Round Same Side Corner Rectangle 28"/>
          <p:cNvSpPr/>
          <p:nvPr userDrawn="1"/>
        </p:nvSpPr>
        <p:spPr>
          <a:xfrm rot="16200000" flipH="1">
            <a:off x="11731145" y="6331908"/>
            <a:ext cx="384047" cy="537665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62442" y="6408717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1337124"/>
            <a:ext cx="12170443" cy="3006597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05623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830435" y="1368171"/>
            <a:ext cx="3957835" cy="5222815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7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7349356" y="1368171"/>
            <a:ext cx="3957835" cy="5222815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29" name="Round Same Side Corner Rectangle 28"/>
          <p:cNvSpPr/>
          <p:nvPr userDrawn="1"/>
        </p:nvSpPr>
        <p:spPr>
          <a:xfrm rot="16200000" flipH="1">
            <a:off x="11731145" y="6331908"/>
            <a:ext cx="384047" cy="537665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662442" y="6408717"/>
            <a:ext cx="508001" cy="366183"/>
          </a:xfrm>
          <a:prstGeom prst="rect">
            <a:avLst/>
          </a:prstGeom>
        </p:spPr>
        <p:txBody>
          <a:bodyPr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Slide Number Placeholder 4"/>
          <p:cNvSpPr txBox="1">
            <a:spLocks/>
          </p:cNvSpPr>
          <p:nvPr userDrawn="1"/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marR="0" lvl="0" indent="0" algn="ctr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36B7D2-B98C-44FD-8D04-7EC62A564975}" type="slidenum">
              <a:rPr kumimoji="0" lang="en-US" sz="1333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25000"/>
                  <a:lumOff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00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16" grpId="0"/>
      <p:bldP spid="17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 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590995" y="1416445"/>
            <a:ext cx="3469533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590995" y="3221854"/>
            <a:ext cx="3469532" cy="5612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7"/>
          </p:nvPr>
        </p:nvSpPr>
        <p:spPr>
          <a:xfrm>
            <a:off x="680828" y="3363020"/>
            <a:ext cx="332475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4344200" y="1416445"/>
            <a:ext cx="3469533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4344201" y="3221854"/>
            <a:ext cx="3469532" cy="5612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34033" y="3363020"/>
            <a:ext cx="332475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20" hasCustomPrompt="1"/>
          </p:nvPr>
        </p:nvSpPr>
        <p:spPr>
          <a:xfrm>
            <a:off x="8094767" y="1416445"/>
            <a:ext cx="3469533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8094767" y="3221854"/>
            <a:ext cx="3469532" cy="5612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21"/>
          </p:nvPr>
        </p:nvSpPr>
        <p:spPr>
          <a:xfrm>
            <a:off x="8184600" y="3363020"/>
            <a:ext cx="332475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22" hasCustomPrompt="1"/>
          </p:nvPr>
        </p:nvSpPr>
        <p:spPr>
          <a:xfrm>
            <a:off x="590995" y="3990752"/>
            <a:ext cx="3469533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590995" y="5796160"/>
            <a:ext cx="3469532" cy="5612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23"/>
          </p:nvPr>
        </p:nvSpPr>
        <p:spPr>
          <a:xfrm>
            <a:off x="680828" y="5937327"/>
            <a:ext cx="332475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24" hasCustomPrompt="1"/>
          </p:nvPr>
        </p:nvSpPr>
        <p:spPr>
          <a:xfrm>
            <a:off x="4344200" y="3990752"/>
            <a:ext cx="3469533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4344201" y="5796160"/>
            <a:ext cx="3469532" cy="5612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5" name="Text Placeholder 3"/>
          <p:cNvSpPr>
            <a:spLocks noGrp="1"/>
          </p:cNvSpPr>
          <p:nvPr>
            <p:ph type="body" sz="half" idx="25"/>
          </p:nvPr>
        </p:nvSpPr>
        <p:spPr>
          <a:xfrm>
            <a:off x="4434033" y="5937327"/>
            <a:ext cx="332475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6" name="Picture Placeholder 7"/>
          <p:cNvSpPr>
            <a:spLocks noGrp="1"/>
          </p:cNvSpPr>
          <p:nvPr>
            <p:ph type="pic" sz="quarter" idx="26" hasCustomPrompt="1"/>
          </p:nvPr>
        </p:nvSpPr>
        <p:spPr>
          <a:xfrm>
            <a:off x="8094767" y="3990752"/>
            <a:ext cx="3469533" cy="1805409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8094767" y="5796160"/>
            <a:ext cx="3469532" cy="5612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8" name="Text Placeholder 3"/>
          <p:cNvSpPr>
            <a:spLocks noGrp="1"/>
          </p:cNvSpPr>
          <p:nvPr>
            <p:ph type="body" sz="half" idx="27"/>
          </p:nvPr>
        </p:nvSpPr>
        <p:spPr>
          <a:xfrm>
            <a:off x="8184600" y="5937327"/>
            <a:ext cx="332475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600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9" name="Oval 28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25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 animBg="1"/>
      <p:bldP spid="8" grpId="0"/>
      <p:bldP spid="9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15" grpId="0" animBg="1"/>
      <p:bldP spid="16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/>
      <p:bldP spid="18" grpId="0" animBg="1"/>
      <p:bldP spid="1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  <p:bldP spid="21" grpId="0" animBg="1"/>
      <p:bldP spid="22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/>
      <p:bldP spid="24" grpId="0" animBg="1"/>
      <p:bldP spid="25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/>
      <p:bldP spid="27" grpId="0" animBg="1"/>
      <p:bldP spid="28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675960" y="4674776"/>
            <a:ext cx="2415165" cy="1337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3408214" y="4674776"/>
            <a:ext cx="2415165" cy="13373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675961" y="1571392"/>
            <a:ext cx="5158924" cy="2841945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9" name="Oval 8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18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animBg="1"/>
      <p:bldP spid="12" grpId="0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0646" y="1431958"/>
            <a:ext cx="4214343" cy="284194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17500" sx="1000" sy="1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4203696" y="1431958"/>
            <a:ext cx="7988304" cy="2841945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" name="Oval 7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12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2"/>
            <a:ext cx="12170441" cy="3966663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" name="Oval 4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49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8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12170441" cy="4888376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35912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880609" y="1639333"/>
            <a:ext cx="4908153" cy="4301321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64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6385124" y="1639333"/>
            <a:ext cx="4908153" cy="4301321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0" name="Oval 9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58244" y="1969623"/>
            <a:ext cx="4930517" cy="3710692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2158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6249619" y="0"/>
            <a:ext cx="5942381" cy="6858000"/>
          </a:xfrm>
          <a:prstGeom prst="rect">
            <a:avLst/>
          </a:prstGeom>
          <a:ln>
            <a:noFill/>
          </a:ln>
        </p:spPr>
        <p:txBody>
          <a:bodyPr bIns="2743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14567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87251" y="3992397"/>
            <a:ext cx="2677296" cy="2201739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5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6171140" y="3992397"/>
            <a:ext cx="2677296" cy="2201739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2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3348317" y="1611404"/>
            <a:ext cx="2677296" cy="2201739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3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8995061" y="1611404"/>
            <a:ext cx="2677296" cy="2201739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3348317" y="3813144"/>
            <a:ext cx="2677296" cy="238099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170">
              <a:spcBef>
                <a:spcPct val="20000"/>
              </a:spcBef>
              <a:defRPr/>
            </a:pPr>
            <a:endParaRPr lang="en-US" sz="5333" dirty="0">
              <a:latin typeface="FontAwesome" pitchFamily="2" charset="0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487251" y="1611405"/>
            <a:ext cx="2677296" cy="238099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170">
              <a:spcBef>
                <a:spcPct val="20000"/>
              </a:spcBef>
              <a:defRPr/>
            </a:pPr>
            <a:endParaRPr lang="en-US" sz="5867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39" name="Rectangle 38"/>
          <p:cNvSpPr/>
          <p:nvPr userDrawn="1"/>
        </p:nvSpPr>
        <p:spPr>
          <a:xfrm>
            <a:off x="6171140" y="1611404"/>
            <a:ext cx="2677296" cy="238099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170">
              <a:spcBef>
                <a:spcPct val="20000"/>
              </a:spcBef>
              <a:defRPr/>
            </a:pPr>
            <a:r>
              <a:rPr lang="en-US" sz="1333" dirty="0"/>
              <a:t> </a:t>
            </a:r>
          </a:p>
          <a:p>
            <a:pPr lvl="0" algn="ctr" defTabSz="1219170">
              <a:spcBef>
                <a:spcPct val="20000"/>
              </a:spcBef>
              <a:defRPr/>
            </a:pPr>
            <a:br>
              <a:rPr lang="en-US" sz="1600" b="1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n-US" sz="1600" b="1" dirty="0">
                <a:solidFill>
                  <a:schemeClr val="bg1">
                    <a:lumMod val="95000"/>
                  </a:schemeClr>
                </a:solidFill>
              </a:rPr>
            </a:br>
            <a:endParaRPr lang="en-US" sz="2133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4" name="Rectangle 43"/>
          <p:cNvSpPr/>
          <p:nvPr userDrawn="1"/>
        </p:nvSpPr>
        <p:spPr>
          <a:xfrm>
            <a:off x="8995061" y="3813144"/>
            <a:ext cx="2677296" cy="238099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spcBef>
                <a:spcPct val="20000"/>
              </a:spcBef>
              <a:defRPr/>
            </a:pPr>
            <a:endParaRPr lang="en-US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93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/>
      <p:bldP spid="52" grpId="0"/>
      <p:bldP spid="53" grpId="0"/>
      <p:bldP spid="36" grpId="0" animBg="1"/>
      <p:bldP spid="35" grpId="0" animBg="1"/>
      <p:bldP spid="39" grpId="0" animBg="1"/>
      <p:bldP spid="44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-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icture Placeholder 7"/>
          <p:cNvSpPr>
            <a:spLocks noGrp="1"/>
          </p:cNvSpPr>
          <p:nvPr>
            <p:ph type="pic" sz="quarter" idx="22" hasCustomPrompt="1"/>
          </p:nvPr>
        </p:nvSpPr>
        <p:spPr>
          <a:xfrm>
            <a:off x="6286301" y="2195018"/>
            <a:ext cx="5030956" cy="2697948"/>
          </a:xfrm>
          <a:prstGeom prst="downArrowCallout">
            <a:avLst>
              <a:gd name="adj1" fmla="val 50000"/>
              <a:gd name="adj2" fmla="val 11967"/>
              <a:gd name="adj3" fmla="val 7487"/>
              <a:gd name="adj4" fmla="val 92647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58243" y="2182184"/>
            <a:ext cx="5030956" cy="2710781"/>
          </a:xfrm>
          <a:prstGeom prst="downArrowCallout">
            <a:avLst>
              <a:gd name="adj1" fmla="val 50000"/>
              <a:gd name="adj2" fmla="val 11967"/>
              <a:gd name="adj3" fmla="val 7487"/>
              <a:gd name="adj4" fmla="val 92647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40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5266" y="5193235"/>
            <a:ext cx="5016911" cy="84679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8242" y="4918632"/>
            <a:ext cx="5030957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23"/>
          </p:nvPr>
        </p:nvSpPr>
        <p:spPr>
          <a:xfrm>
            <a:off x="6293323" y="5193235"/>
            <a:ext cx="5016911" cy="84679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Placeholder 3"/>
          <p:cNvSpPr>
            <a:spLocks noGrp="1"/>
          </p:cNvSpPr>
          <p:nvPr>
            <p:ph type="body" sz="half" idx="25"/>
          </p:nvPr>
        </p:nvSpPr>
        <p:spPr>
          <a:xfrm>
            <a:off x="6286299" y="4918632"/>
            <a:ext cx="5030957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32" name="Rectangle 31"/>
          <p:cNvSpPr/>
          <p:nvPr userDrawn="1"/>
        </p:nvSpPr>
        <p:spPr>
          <a:xfrm>
            <a:off x="865264" y="1672313"/>
            <a:ext cx="5016912" cy="5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41" name="Text Placeholder 3"/>
          <p:cNvSpPr>
            <a:spLocks noGrp="1"/>
          </p:cNvSpPr>
          <p:nvPr>
            <p:ph type="body" sz="half" idx="16"/>
          </p:nvPr>
        </p:nvSpPr>
        <p:spPr>
          <a:xfrm>
            <a:off x="896710" y="1773356"/>
            <a:ext cx="4954023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60" name="Rectangle 59"/>
          <p:cNvSpPr/>
          <p:nvPr userDrawn="1"/>
        </p:nvSpPr>
        <p:spPr>
          <a:xfrm>
            <a:off x="6293321" y="1672313"/>
            <a:ext cx="5016912" cy="5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61" name="Text Placeholder 3"/>
          <p:cNvSpPr>
            <a:spLocks noGrp="1"/>
          </p:cNvSpPr>
          <p:nvPr>
            <p:ph type="body" sz="half" idx="24"/>
          </p:nvPr>
        </p:nvSpPr>
        <p:spPr>
          <a:xfrm>
            <a:off x="6324767" y="1773356"/>
            <a:ext cx="4954023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18" name="Oval 17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87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38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41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animBg="1"/>
      <p:bldP spid="61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58244" y="2220285"/>
            <a:ext cx="3322493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5267" y="5155135"/>
            <a:ext cx="3315472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7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8241" y="4880532"/>
            <a:ext cx="332475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78" name="Rectangle 77"/>
          <p:cNvSpPr/>
          <p:nvPr userDrawn="1"/>
        </p:nvSpPr>
        <p:spPr>
          <a:xfrm>
            <a:off x="865265" y="1710413"/>
            <a:ext cx="3315472" cy="5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79" name="Text Placeholder 3"/>
          <p:cNvSpPr>
            <a:spLocks noGrp="1"/>
          </p:cNvSpPr>
          <p:nvPr>
            <p:ph type="body" sz="half" idx="16"/>
          </p:nvPr>
        </p:nvSpPr>
        <p:spPr>
          <a:xfrm>
            <a:off x="990156" y="1830583"/>
            <a:ext cx="3065691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80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4445003" y="2220285"/>
            <a:ext cx="3322493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1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52025" y="5155135"/>
            <a:ext cx="3315472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2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45000" y="4880532"/>
            <a:ext cx="332475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83" name="Rectangle 82"/>
          <p:cNvSpPr/>
          <p:nvPr userDrawn="1"/>
        </p:nvSpPr>
        <p:spPr>
          <a:xfrm>
            <a:off x="4452024" y="1710413"/>
            <a:ext cx="3315472" cy="5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8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6915" y="1830583"/>
            <a:ext cx="3065691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85" name="Picture Placeholder 7"/>
          <p:cNvSpPr>
            <a:spLocks noGrp="1"/>
          </p:cNvSpPr>
          <p:nvPr>
            <p:ph type="pic" sz="quarter" idx="22" hasCustomPrompt="1"/>
          </p:nvPr>
        </p:nvSpPr>
        <p:spPr>
          <a:xfrm>
            <a:off x="8026403" y="2220285"/>
            <a:ext cx="3322493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6" name="Text Placeholder 3"/>
          <p:cNvSpPr>
            <a:spLocks noGrp="1"/>
          </p:cNvSpPr>
          <p:nvPr>
            <p:ph type="body" sz="half" idx="23"/>
          </p:nvPr>
        </p:nvSpPr>
        <p:spPr>
          <a:xfrm>
            <a:off x="8033425" y="5155135"/>
            <a:ext cx="3315472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7" name="Text Placeholder 3"/>
          <p:cNvSpPr>
            <a:spLocks noGrp="1"/>
          </p:cNvSpPr>
          <p:nvPr>
            <p:ph type="body" sz="half" idx="24"/>
          </p:nvPr>
        </p:nvSpPr>
        <p:spPr>
          <a:xfrm>
            <a:off x="8026400" y="4880532"/>
            <a:ext cx="3324755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88" name="Rectangle 87"/>
          <p:cNvSpPr/>
          <p:nvPr userDrawn="1"/>
        </p:nvSpPr>
        <p:spPr>
          <a:xfrm>
            <a:off x="8033424" y="1710413"/>
            <a:ext cx="3315472" cy="5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89" name="Text Placeholder 3"/>
          <p:cNvSpPr>
            <a:spLocks noGrp="1"/>
          </p:cNvSpPr>
          <p:nvPr>
            <p:ph type="body" sz="half" idx="25"/>
          </p:nvPr>
        </p:nvSpPr>
        <p:spPr>
          <a:xfrm>
            <a:off x="8158315" y="1830583"/>
            <a:ext cx="3065691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1" name="Oval 20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1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/>
      <p:bldP spid="76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8" grpId="0" animBg="1"/>
      <p:bldP spid="7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0" grpId="0"/>
      <p:bldP spid="81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3" grpId="0" animBg="1"/>
      <p:bldP spid="84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/>
      <p:bldP spid="86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animBg="1"/>
      <p:bldP spid="8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761000" y="2114227"/>
            <a:ext cx="2495557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94149" y="5028135"/>
            <a:ext cx="2576857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7" name="Text Placeholder 3"/>
          <p:cNvSpPr>
            <a:spLocks noGrp="1"/>
          </p:cNvSpPr>
          <p:nvPr>
            <p:ph type="body" sz="half" idx="17"/>
          </p:nvPr>
        </p:nvSpPr>
        <p:spPr>
          <a:xfrm>
            <a:off x="687123" y="4753532"/>
            <a:ext cx="2584072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78" name="Rectangle 77"/>
          <p:cNvSpPr/>
          <p:nvPr userDrawn="1"/>
        </p:nvSpPr>
        <p:spPr>
          <a:xfrm>
            <a:off x="768022" y="1604356"/>
            <a:ext cx="2490284" cy="5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79" name="Text Placeholder 3"/>
          <p:cNvSpPr>
            <a:spLocks noGrp="1"/>
          </p:cNvSpPr>
          <p:nvPr>
            <p:ph type="body" sz="half" idx="16"/>
          </p:nvPr>
        </p:nvSpPr>
        <p:spPr>
          <a:xfrm>
            <a:off x="861829" y="1724526"/>
            <a:ext cx="2302671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41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3511630" y="2114227"/>
            <a:ext cx="2495557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2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44778" y="5028135"/>
            <a:ext cx="2576857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0"/>
          </p:nvPr>
        </p:nvSpPr>
        <p:spPr>
          <a:xfrm>
            <a:off x="3437752" y="4753532"/>
            <a:ext cx="2584072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44" name="Rectangle 43"/>
          <p:cNvSpPr/>
          <p:nvPr userDrawn="1"/>
        </p:nvSpPr>
        <p:spPr>
          <a:xfrm>
            <a:off x="3518651" y="1604356"/>
            <a:ext cx="2490284" cy="5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21"/>
          </p:nvPr>
        </p:nvSpPr>
        <p:spPr>
          <a:xfrm>
            <a:off x="3612458" y="1724526"/>
            <a:ext cx="2302671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2" hasCustomPrompt="1"/>
          </p:nvPr>
        </p:nvSpPr>
        <p:spPr>
          <a:xfrm>
            <a:off x="6246042" y="2114227"/>
            <a:ext cx="2495557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7" name="Text Placeholder 3"/>
          <p:cNvSpPr>
            <a:spLocks noGrp="1"/>
          </p:cNvSpPr>
          <p:nvPr>
            <p:ph type="body" sz="half" idx="23"/>
          </p:nvPr>
        </p:nvSpPr>
        <p:spPr>
          <a:xfrm>
            <a:off x="6179190" y="5028135"/>
            <a:ext cx="2576857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8" name="Text Placeholder 3"/>
          <p:cNvSpPr>
            <a:spLocks noGrp="1"/>
          </p:cNvSpPr>
          <p:nvPr>
            <p:ph type="body" sz="half" idx="24"/>
          </p:nvPr>
        </p:nvSpPr>
        <p:spPr>
          <a:xfrm>
            <a:off x="6172164" y="4753532"/>
            <a:ext cx="2584072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49" name="Rectangle 48"/>
          <p:cNvSpPr/>
          <p:nvPr userDrawn="1"/>
        </p:nvSpPr>
        <p:spPr>
          <a:xfrm>
            <a:off x="6253063" y="1604356"/>
            <a:ext cx="2490284" cy="5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50" name="Text Placeholder 3"/>
          <p:cNvSpPr>
            <a:spLocks noGrp="1"/>
          </p:cNvSpPr>
          <p:nvPr>
            <p:ph type="body" sz="half" idx="25"/>
          </p:nvPr>
        </p:nvSpPr>
        <p:spPr>
          <a:xfrm>
            <a:off x="6346870" y="1724526"/>
            <a:ext cx="2302671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56" name="Picture Placeholder 7"/>
          <p:cNvSpPr>
            <a:spLocks noGrp="1"/>
          </p:cNvSpPr>
          <p:nvPr>
            <p:ph type="pic" sz="quarter" idx="26" hasCustomPrompt="1"/>
          </p:nvPr>
        </p:nvSpPr>
        <p:spPr>
          <a:xfrm>
            <a:off x="8963878" y="2114227"/>
            <a:ext cx="2495557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2434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7" name="Text Placeholder 3"/>
          <p:cNvSpPr>
            <a:spLocks noGrp="1"/>
          </p:cNvSpPr>
          <p:nvPr>
            <p:ph type="body" sz="half" idx="27"/>
          </p:nvPr>
        </p:nvSpPr>
        <p:spPr>
          <a:xfrm>
            <a:off x="8897026" y="5028135"/>
            <a:ext cx="2576857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Placeholder 3"/>
          <p:cNvSpPr>
            <a:spLocks noGrp="1"/>
          </p:cNvSpPr>
          <p:nvPr>
            <p:ph type="body" sz="half" idx="28"/>
          </p:nvPr>
        </p:nvSpPr>
        <p:spPr>
          <a:xfrm>
            <a:off x="8890000" y="4753532"/>
            <a:ext cx="2584072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8970899" y="1604356"/>
            <a:ext cx="2490284" cy="5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9"/>
          </p:nvPr>
        </p:nvSpPr>
        <p:spPr>
          <a:xfrm>
            <a:off x="9064706" y="1724526"/>
            <a:ext cx="2302671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6" name="Oval 25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84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0"/>
                            </p:stCondLst>
                            <p:childTnLst>
                              <p:par>
                                <p:cTn id="87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000"/>
                            </p:stCondLst>
                            <p:childTnLst>
                              <p:par>
                                <p:cTn id="95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/>
      <p:bldP spid="76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8" grpId="0" animBg="1"/>
      <p:bldP spid="7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/>
      <p:bldP spid="4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/>
      <p:bldP spid="47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/>
      <p:bldP spid="57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70778" y="2132797"/>
            <a:ext cx="2054121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3840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03927" y="5059404"/>
            <a:ext cx="2121040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7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900" y="4784801"/>
            <a:ext cx="2126979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78" name="Rectangle 77"/>
          <p:cNvSpPr/>
          <p:nvPr userDrawn="1"/>
        </p:nvSpPr>
        <p:spPr>
          <a:xfrm>
            <a:off x="677800" y="1622925"/>
            <a:ext cx="2049781" cy="50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79" name="Text Placeholder 3"/>
          <p:cNvSpPr>
            <a:spLocks noGrp="1"/>
          </p:cNvSpPr>
          <p:nvPr>
            <p:ph type="body" sz="half" idx="16"/>
          </p:nvPr>
        </p:nvSpPr>
        <p:spPr>
          <a:xfrm>
            <a:off x="755013" y="1743095"/>
            <a:ext cx="1895355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63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2863110" y="2132797"/>
            <a:ext cx="2054121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3840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796259" y="5059404"/>
            <a:ext cx="2121040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5" name="Text Placeholder 3"/>
          <p:cNvSpPr>
            <a:spLocks noGrp="1"/>
          </p:cNvSpPr>
          <p:nvPr>
            <p:ph type="body" sz="half" idx="20"/>
          </p:nvPr>
        </p:nvSpPr>
        <p:spPr>
          <a:xfrm>
            <a:off x="2789232" y="4784801"/>
            <a:ext cx="2126979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2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66" name="Rectangle 65"/>
          <p:cNvSpPr/>
          <p:nvPr userDrawn="1"/>
        </p:nvSpPr>
        <p:spPr>
          <a:xfrm>
            <a:off x="2870132" y="1622925"/>
            <a:ext cx="2049781" cy="5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67" name="Text Placeholder 3"/>
          <p:cNvSpPr>
            <a:spLocks noGrp="1"/>
          </p:cNvSpPr>
          <p:nvPr>
            <p:ph type="body" sz="half" idx="21"/>
          </p:nvPr>
        </p:nvSpPr>
        <p:spPr>
          <a:xfrm>
            <a:off x="2947345" y="1743095"/>
            <a:ext cx="1895355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68" name="Picture Placeholder 7"/>
          <p:cNvSpPr>
            <a:spLocks noGrp="1"/>
          </p:cNvSpPr>
          <p:nvPr>
            <p:ph type="pic" sz="quarter" idx="22" hasCustomPrompt="1"/>
          </p:nvPr>
        </p:nvSpPr>
        <p:spPr>
          <a:xfrm>
            <a:off x="5059398" y="2132797"/>
            <a:ext cx="2054121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3840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half" idx="23"/>
          </p:nvPr>
        </p:nvSpPr>
        <p:spPr>
          <a:xfrm>
            <a:off x="4992547" y="5059404"/>
            <a:ext cx="2121040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0" name="Text Placeholder 3"/>
          <p:cNvSpPr>
            <a:spLocks noGrp="1"/>
          </p:cNvSpPr>
          <p:nvPr>
            <p:ph type="body" sz="half" idx="24"/>
          </p:nvPr>
        </p:nvSpPr>
        <p:spPr>
          <a:xfrm>
            <a:off x="4985520" y="4784801"/>
            <a:ext cx="2126979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3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71" name="Rectangle 70"/>
          <p:cNvSpPr/>
          <p:nvPr userDrawn="1"/>
        </p:nvSpPr>
        <p:spPr>
          <a:xfrm>
            <a:off x="5066420" y="1622925"/>
            <a:ext cx="2049781" cy="5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72" name="Text Placeholder 3"/>
          <p:cNvSpPr>
            <a:spLocks noGrp="1"/>
          </p:cNvSpPr>
          <p:nvPr>
            <p:ph type="body" sz="half" idx="25"/>
          </p:nvPr>
        </p:nvSpPr>
        <p:spPr>
          <a:xfrm>
            <a:off x="5143633" y="1743095"/>
            <a:ext cx="1895355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73" name="Picture Placeholder 7"/>
          <p:cNvSpPr>
            <a:spLocks noGrp="1"/>
          </p:cNvSpPr>
          <p:nvPr>
            <p:ph type="pic" sz="quarter" idx="26" hasCustomPrompt="1"/>
          </p:nvPr>
        </p:nvSpPr>
        <p:spPr>
          <a:xfrm>
            <a:off x="7251248" y="2132797"/>
            <a:ext cx="2054121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3840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7"/>
          </p:nvPr>
        </p:nvSpPr>
        <p:spPr>
          <a:xfrm>
            <a:off x="7184396" y="5059404"/>
            <a:ext cx="2121040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 Placeholder 3"/>
          <p:cNvSpPr>
            <a:spLocks noGrp="1"/>
          </p:cNvSpPr>
          <p:nvPr>
            <p:ph type="body" sz="half" idx="28"/>
          </p:nvPr>
        </p:nvSpPr>
        <p:spPr>
          <a:xfrm>
            <a:off x="7177369" y="4784801"/>
            <a:ext cx="2126979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4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81" name="Rectangle 80"/>
          <p:cNvSpPr/>
          <p:nvPr userDrawn="1"/>
        </p:nvSpPr>
        <p:spPr>
          <a:xfrm>
            <a:off x="7258270" y="1622925"/>
            <a:ext cx="2049781" cy="5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82" name="Text Placeholder 3"/>
          <p:cNvSpPr>
            <a:spLocks noGrp="1"/>
          </p:cNvSpPr>
          <p:nvPr>
            <p:ph type="body" sz="half" idx="29"/>
          </p:nvPr>
        </p:nvSpPr>
        <p:spPr>
          <a:xfrm>
            <a:off x="7335483" y="1743095"/>
            <a:ext cx="1895355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83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9437020" y="2132797"/>
            <a:ext cx="2054121" cy="2522991"/>
          </a:xfrm>
          <a:prstGeom prst="downArrowCallout">
            <a:avLst>
              <a:gd name="adj1" fmla="val 35178"/>
              <a:gd name="adj2" fmla="val 13059"/>
              <a:gd name="adj3" fmla="val 7566"/>
              <a:gd name="adj4" fmla="val 93840"/>
            </a:avLst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84" name="Text Placeholder 3"/>
          <p:cNvSpPr>
            <a:spLocks noGrp="1"/>
          </p:cNvSpPr>
          <p:nvPr>
            <p:ph type="body" sz="half" idx="31"/>
          </p:nvPr>
        </p:nvSpPr>
        <p:spPr>
          <a:xfrm>
            <a:off x="9370168" y="5059404"/>
            <a:ext cx="2121040" cy="846795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indent="0" algn="ctr">
              <a:buNone/>
              <a:defRPr sz="1467" b="0" baseline="0">
                <a:solidFill>
                  <a:schemeClr val="bg1">
                    <a:lumMod val="50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algn="ctr"/>
            <a:endParaRPr lang="en-US" sz="1333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5" name="Text Placeholder 3"/>
          <p:cNvSpPr>
            <a:spLocks noGrp="1"/>
          </p:cNvSpPr>
          <p:nvPr>
            <p:ph type="body" sz="half" idx="32"/>
          </p:nvPr>
        </p:nvSpPr>
        <p:spPr>
          <a:xfrm>
            <a:off x="9363141" y="4784801"/>
            <a:ext cx="2126979" cy="25704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accent5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86" name="Rectangle 85"/>
          <p:cNvSpPr/>
          <p:nvPr userDrawn="1"/>
        </p:nvSpPr>
        <p:spPr>
          <a:xfrm>
            <a:off x="9444042" y="1622925"/>
            <a:ext cx="2049781" cy="50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 dirty="0"/>
          </a:p>
        </p:txBody>
      </p:sp>
      <p:sp>
        <p:nvSpPr>
          <p:cNvPr id="87" name="Text Placeholder 3"/>
          <p:cNvSpPr>
            <a:spLocks noGrp="1"/>
          </p:cNvSpPr>
          <p:nvPr>
            <p:ph type="body" sz="half" idx="33"/>
          </p:nvPr>
        </p:nvSpPr>
        <p:spPr>
          <a:xfrm>
            <a:off x="9521255" y="1743095"/>
            <a:ext cx="1895355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/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31" name="Oval 30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45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0"/>
                            </p:stCondLst>
                            <p:childTnLst>
                              <p:par>
                                <p:cTn id="87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000"/>
                            </p:stCondLst>
                            <p:childTnLst>
                              <p:par>
                                <p:cTn id="95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000"/>
                            </p:stCondLst>
                            <p:childTnLst>
                              <p:par>
                                <p:cTn id="10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9500"/>
                            </p:stCondLst>
                            <p:childTnLst>
                              <p:par>
                                <p:cTn id="110" presetID="2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8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3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/>
      <p:bldP spid="76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8" grpId="0" animBg="1"/>
      <p:bldP spid="79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/>
      <p:bldP spid="64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6" grpId="0" animBg="1"/>
      <p:bldP spid="67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/>
      <p:bldP spid="69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1" grpId="0" animBg="1"/>
      <p:bldP spid="72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/>
      <p:bldP spid="74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/>
      <p:bldP spid="84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6" grpId="0" animBg="1"/>
      <p:bldP spid="87" grpId="0" build="p">
        <p:tmplLst>
          <p:tmpl lvl="1">
            <p:tnLst>
              <p:par>
                <p:cTn presetID="22" presetClass="entr" presetSubtype="4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grpSp>
        <p:nvGrpSpPr>
          <p:cNvPr id="31" name="Group 300"/>
          <p:cNvGrpSpPr/>
          <p:nvPr userDrawn="1"/>
        </p:nvGrpSpPr>
        <p:grpSpPr>
          <a:xfrm>
            <a:off x="612067" y="1872883"/>
            <a:ext cx="5176696" cy="2707424"/>
            <a:chOff x="2844800" y="1304396"/>
            <a:chExt cx="2803525" cy="1466250"/>
          </a:xfrm>
        </p:grpSpPr>
        <p:grpSp>
          <p:nvGrpSpPr>
            <p:cNvPr id="32" name="Group 44"/>
            <p:cNvGrpSpPr/>
            <p:nvPr/>
          </p:nvGrpSpPr>
          <p:grpSpPr>
            <a:xfrm>
              <a:off x="3209925" y="1304396"/>
              <a:ext cx="2073275" cy="1397000"/>
              <a:chOff x="4843457" y="992546"/>
              <a:chExt cx="2073275" cy="1397000"/>
            </a:xfrm>
          </p:grpSpPr>
          <p:sp>
            <p:nvSpPr>
              <p:cNvPr id="37" name="Freeform 12"/>
              <p:cNvSpPr>
                <a:spLocks/>
              </p:cNvSpPr>
              <p:nvPr/>
            </p:nvSpPr>
            <p:spPr bwMode="auto">
              <a:xfrm>
                <a:off x="4843457" y="992546"/>
                <a:ext cx="2073275" cy="1397000"/>
              </a:xfrm>
              <a:custGeom>
                <a:avLst/>
                <a:gdLst/>
                <a:ahLst/>
                <a:cxnLst>
                  <a:cxn ang="0">
                    <a:pos x="1146" y="737"/>
                  </a:cxn>
                  <a:cxn ang="0">
                    <a:pos x="1120" y="772"/>
                  </a:cxn>
                  <a:cxn ang="0">
                    <a:pos x="26" y="772"/>
                  </a:cxn>
                  <a:cxn ang="0">
                    <a:pos x="0" y="737"/>
                  </a:cxn>
                  <a:cxn ang="0">
                    <a:pos x="0" y="35"/>
                  </a:cxn>
                  <a:cxn ang="0">
                    <a:pos x="26" y="0"/>
                  </a:cxn>
                  <a:cxn ang="0">
                    <a:pos x="1120" y="0"/>
                  </a:cxn>
                  <a:cxn ang="0">
                    <a:pos x="1146" y="35"/>
                  </a:cxn>
                  <a:cxn ang="0">
                    <a:pos x="1146" y="737"/>
                  </a:cxn>
                </a:cxnLst>
                <a:rect l="0" t="0" r="r" b="b"/>
                <a:pathLst>
                  <a:path w="1146" h="772">
                    <a:moveTo>
                      <a:pt x="1146" y="737"/>
                    </a:moveTo>
                    <a:cubicBezTo>
                      <a:pt x="1146" y="756"/>
                      <a:pt x="1134" y="772"/>
                      <a:pt x="1120" y="772"/>
                    </a:cubicBezTo>
                    <a:cubicBezTo>
                      <a:pt x="26" y="772"/>
                      <a:pt x="26" y="772"/>
                      <a:pt x="26" y="772"/>
                    </a:cubicBezTo>
                    <a:cubicBezTo>
                      <a:pt x="12" y="772"/>
                      <a:pt x="0" y="756"/>
                      <a:pt x="0" y="737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6"/>
                      <a:pt x="12" y="0"/>
                      <a:pt x="26" y="0"/>
                    </a:cubicBezTo>
                    <a:cubicBezTo>
                      <a:pt x="1120" y="0"/>
                      <a:pt x="1120" y="0"/>
                      <a:pt x="1120" y="0"/>
                    </a:cubicBezTo>
                    <a:cubicBezTo>
                      <a:pt x="1134" y="0"/>
                      <a:pt x="1146" y="16"/>
                      <a:pt x="1146" y="35"/>
                    </a:cubicBezTo>
                    <a:cubicBezTo>
                      <a:pt x="1146" y="737"/>
                      <a:pt x="1146" y="737"/>
                      <a:pt x="1146" y="737"/>
                    </a:cubicBezTo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38" name="Rectangle 13"/>
              <p:cNvSpPr>
                <a:spLocks noChangeArrowheads="1"/>
              </p:cNvSpPr>
              <p:nvPr/>
            </p:nvSpPr>
            <p:spPr bwMode="auto">
              <a:xfrm>
                <a:off x="4926007" y="1068746"/>
                <a:ext cx="1914525" cy="11811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39" name="Freeform 21"/>
              <p:cNvSpPr>
                <a:spLocks/>
              </p:cNvSpPr>
              <p:nvPr/>
            </p:nvSpPr>
            <p:spPr bwMode="auto">
              <a:xfrm>
                <a:off x="4936351" y="1068746"/>
                <a:ext cx="1901825" cy="1089025"/>
              </a:xfrm>
              <a:custGeom>
                <a:avLst/>
                <a:gdLst/>
                <a:ahLst/>
                <a:cxnLst>
                  <a:cxn ang="0">
                    <a:pos x="1198" y="0"/>
                  </a:cxn>
                  <a:cxn ang="0">
                    <a:pos x="0" y="0"/>
                  </a:cxn>
                  <a:cxn ang="0">
                    <a:pos x="1198" y="686"/>
                  </a:cxn>
                  <a:cxn ang="0">
                    <a:pos x="1198" y="0"/>
                  </a:cxn>
                </a:cxnLst>
                <a:rect l="0" t="0" r="r" b="b"/>
                <a:pathLst>
                  <a:path w="1198" h="686">
                    <a:moveTo>
                      <a:pt x="1198" y="0"/>
                    </a:moveTo>
                    <a:lnTo>
                      <a:pt x="0" y="0"/>
                    </a:lnTo>
                    <a:lnTo>
                      <a:pt x="1198" y="686"/>
                    </a:lnTo>
                    <a:lnTo>
                      <a:pt x="1198" y="0"/>
                    </a:lnTo>
                    <a:close/>
                  </a:path>
                </a:pathLst>
              </a:custGeom>
              <a:solidFill>
                <a:schemeClr val="bg1">
                  <a:alpha val="23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</p:grpSp>
        <p:grpSp>
          <p:nvGrpSpPr>
            <p:cNvPr id="33" name="Group 43"/>
            <p:cNvGrpSpPr/>
            <p:nvPr/>
          </p:nvGrpSpPr>
          <p:grpSpPr>
            <a:xfrm>
              <a:off x="2844800" y="2648409"/>
              <a:ext cx="2803525" cy="122237"/>
              <a:chOff x="4462463" y="2425701"/>
              <a:chExt cx="2803525" cy="122237"/>
            </a:xfrm>
          </p:grpSpPr>
          <p:sp>
            <p:nvSpPr>
              <p:cNvPr id="34" name="Freeform 15"/>
              <p:cNvSpPr>
                <a:spLocks/>
              </p:cNvSpPr>
              <p:nvPr/>
            </p:nvSpPr>
            <p:spPr bwMode="auto">
              <a:xfrm>
                <a:off x="4462463" y="2481263"/>
                <a:ext cx="2800350" cy="66675"/>
              </a:xfrm>
              <a:custGeom>
                <a:avLst/>
                <a:gdLst/>
                <a:ahLst/>
                <a:cxnLst>
                  <a:cxn ang="0">
                    <a:pos x="10" y="5"/>
                  </a:cxn>
                  <a:cxn ang="0">
                    <a:pos x="68" y="37"/>
                  </a:cxn>
                  <a:cxn ang="0">
                    <a:pos x="1487" y="37"/>
                  </a:cxn>
                  <a:cxn ang="0">
                    <a:pos x="1546" y="12"/>
                  </a:cxn>
                  <a:cxn ang="0">
                    <a:pos x="1547" y="0"/>
                  </a:cxn>
                  <a:cxn ang="0">
                    <a:pos x="10" y="5"/>
                  </a:cxn>
                </a:cxnLst>
                <a:rect l="0" t="0" r="r" b="b"/>
                <a:pathLst>
                  <a:path w="1547" h="37">
                    <a:moveTo>
                      <a:pt x="10" y="5"/>
                    </a:moveTo>
                    <a:cubicBezTo>
                      <a:pt x="10" y="5"/>
                      <a:pt x="0" y="23"/>
                      <a:pt x="68" y="37"/>
                    </a:cubicBezTo>
                    <a:cubicBezTo>
                      <a:pt x="1487" y="37"/>
                      <a:pt x="1487" y="37"/>
                      <a:pt x="1487" y="37"/>
                    </a:cubicBezTo>
                    <a:cubicBezTo>
                      <a:pt x="1487" y="37"/>
                      <a:pt x="1534" y="34"/>
                      <a:pt x="1546" y="12"/>
                    </a:cubicBezTo>
                    <a:cubicBezTo>
                      <a:pt x="1547" y="0"/>
                      <a:pt x="1547" y="0"/>
                      <a:pt x="1547" y="0"/>
                    </a:cubicBezTo>
                    <a:lnTo>
                      <a:pt x="10" y="5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35" name="Freeform 16"/>
              <p:cNvSpPr>
                <a:spLocks/>
              </p:cNvSpPr>
              <p:nvPr/>
            </p:nvSpPr>
            <p:spPr bwMode="auto">
              <a:xfrm>
                <a:off x="4478338" y="2425701"/>
                <a:ext cx="2787650" cy="841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38"/>
                  </a:cxn>
                  <a:cxn ang="0">
                    <a:pos x="16" y="43"/>
                  </a:cxn>
                  <a:cxn ang="0">
                    <a:pos x="1522" y="43"/>
                  </a:cxn>
                  <a:cxn ang="0">
                    <a:pos x="1538" y="40"/>
                  </a:cxn>
                  <a:cxn ang="0">
                    <a:pos x="1538" y="0"/>
                  </a:cxn>
                  <a:cxn ang="0">
                    <a:pos x="1" y="0"/>
                  </a:cxn>
                </a:cxnLst>
                <a:rect l="0" t="0" r="r" b="b"/>
                <a:pathLst>
                  <a:path w="1540" h="47">
                    <a:moveTo>
                      <a:pt x="1" y="0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1" y="47"/>
                      <a:pt x="16" y="43"/>
                      <a:pt x="16" y="43"/>
                    </a:cubicBezTo>
                    <a:cubicBezTo>
                      <a:pt x="1522" y="43"/>
                      <a:pt x="1522" y="43"/>
                      <a:pt x="1522" y="43"/>
                    </a:cubicBezTo>
                    <a:cubicBezTo>
                      <a:pt x="1540" y="45"/>
                      <a:pt x="1538" y="40"/>
                      <a:pt x="1538" y="40"/>
                    </a:cubicBezTo>
                    <a:cubicBezTo>
                      <a:pt x="1538" y="0"/>
                      <a:pt x="1538" y="0"/>
                      <a:pt x="1538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42000">
                    <a:schemeClr val="bg1">
                      <a:lumMod val="75000"/>
                    </a:schemeClr>
                  </a:gs>
                  <a:gs pos="6000">
                    <a:schemeClr val="bg1">
                      <a:lumMod val="85000"/>
                    </a:schemeClr>
                  </a:gs>
                  <a:gs pos="0">
                    <a:schemeClr val="bg1">
                      <a:lumMod val="65000"/>
                    </a:schemeClr>
                  </a:gs>
                </a:gsLst>
                <a:lin ang="5400000" scaled="0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36" name="Freeform 31"/>
              <p:cNvSpPr>
                <a:spLocks/>
              </p:cNvSpPr>
              <p:nvPr/>
            </p:nvSpPr>
            <p:spPr bwMode="auto">
              <a:xfrm>
                <a:off x="5672138" y="2425701"/>
                <a:ext cx="392113" cy="44450"/>
              </a:xfrm>
              <a:custGeom>
                <a:avLst/>
                <a:gdLst/>
                <a:ahLst/>
                <a:cxnLst>
                  <a:cxn ang="0">
                    <a:pos x="20" y="22"/>
                  </a:cxn>
                  <a:cxn ang="0">
                    <a:pos x="198" y="22"/>
                  </a:cxn>
                  <a:cxn ang="0">
                    <a:pos x="215" y="1"/>
                  </a:cxn>
                  <a:cxn ang="0">
                    <a:pos x="6" y="0"/>
                  </a:cxn>
                  <a:cxn ang="0">
                    <a:pos x="20" y="22"/>
                  </a:cxn>
                </a:cxnLst>
                <a:rect l="0" t="0" r="r" b="b"/>
                <a:pathLst>
                  <a:path w="217" h="25">
                    <a:moveTo>
                      <a:pt x="20" y="22"/>
                    </a:moveTo>
                    <a:cubicBezTo>
                      <a:pt x="198" y="22"/>
                      <a:pt x="198" y="22"/>
                      <a:pt x="198" y="22"/>
                    </a:cubicBezTo>
                    <a:cubicBezTo>
                      <a:pt x="198" y="22"/>
                      <a:pt x="217" y="25"/>
                      <a:pt x="215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0" y="20"/>
                      <a:pt x="20" y="2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</p:grpSp>
      </p:grpSp>
      <p:sp>
        <p:nvSpPr>
          <p:cNvPr id="41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438696" y="2013587"/>
            <a:ext cx="3535163" cy="2180896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66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grpSp>
        <p:nvGrpSpPr>
          <p:cNvPr id="18" name="Group 29"/>
          <p:cNvGrpSpPr/>
          <p:nvPr userDrawn="1"/>
        </p:nvGrpSpPr>
        <p:grpSpPr>
          <a:xfrm>
            <a:off x="5112723" y="1731349"/>
            <a:ext cx="1966555" cy="4155551"/>
            <a:chOff x="3189614" y="1562392"/>
            <a:chExt cx="1474916" cy="3116662"/>
          </a:xfrm>
          <a:effectLst/>
        </p:grpSpPr>
        <p:sp>
          <p:nvSpPr>
            <p:cNvPr id="19" name="Freeform 18"/>
            <p:cNvSpPr/>
            <p:nvPr/>
          </p:nvSpPr>
          <p:spPr>
            <a:xfrm>
              <a:off x="3205386" y="1579715"/>
              <a:ext cx="1459144" cy="3099339"/>
            </a:xfrm>
            <a:custGeom>
              <a:avLst/>
              <a:gdLst>
                <a:gd name="connsiteX0" fmla="*/ 0 w 1459144"/>
                <a:gd name="connsiteY0" fmla="*/ 176060 h 3099339"/>
                <a:gd name="connsiteX1" fmla="*/ 51567 w 1459144"/>
                <a:gd name="connsiteY1" fmla="*/ 51567 h 3099339"/>
                <a:gd name="connsiteX2" fmla="*/ 176060 w 1459144"/>
                <a:gd name="connsiteY2" fmla="*/ 0 h 3099339"/>
                <a:gd name="connsiteX3" fmla="*/ 1283084 w 1459144"/>
                <a:gd name="connsiteY3" fmla="*/ 0 h 3099339"/>
                <a:gd name="connsiteX4" fmla="*/ 1407577 w 1459144"/>
                <a:gd name="connsiteY4" fmla="*/ 51567 h 3099339"/>
                <a:gd name="connsiteX5" fmla="*/ 1459144 w 1459144"/>
                <a:gd name="connsiteY5" fmla="*/ 176060 h 3099339"/>
                <a:gd name="connsiteX6" fmla="*/ 1459144 w 1459144"/>
                <a:gd name="connsiteY6" fmla="*/ 2923279 h 3099339"/>
                <a:gd name="connsiteX7" fmla="*/ 1407577 w 1459144"/>
                <a:gd name="connsiteY7" fmla="*/ 3047772 h 3099339"/>
                <a:gd name="connsiteX8" fmla="*/ 1283084 w 1459144"/>
                <a:gd name="connsiteY8" fmla="*/ 3099339 h 3099339"/>
                <a:gd name="connsiteX9" fmla="*/ 176060 w 1459144"/>
                <a:gd name="connsiteY9" fmla="*/ 3099339 h 3099339"/>
                <a:gd name="connsiteX10" fmla="*/ 51567 w 1459144"/>
                <a:gd name="connsiteY10" fmla="*/ 3047772 h 3099339"/>
                <a:gd name="connsiteX11" fmla="*/ 0 w 1459144"/>
                <a:gd name="connsiteY11" fmla="*/ 2923279 h 3099339"/>
                <a:gd name="connsiteX12" fmla="*/ 0 w 1459144"/>
                <a:gd name="connsiteY12" fmla="*/ 176060 h 309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144" h="3099339">
                  <a:moveTo>
                    <a:pt x="0" y="176060"/>
                  </a:moveTo>
                  <a:cubicBezTo>
                    <a:pt x="0" y="129366"/>
                    <a:pt x="18549" y="84584"/>
                    <a:pt x="51567" y="51567"/>
                  </a:cubicBezTo>
                  <a:cubicBezTo>
                    <a:pt x="84585" y="18549"/>
                    <a:pt x="129366" y="0"/>
                    <a:pt x="176060" y="0"/>
                  </a:cubicBezTo>
                  <a:lnTo>
                    <a:pt x="1283084" y="0"/>
                  </a:lnTo>
                  <a:cubicBezTo>
                    <a:pt x="1329778" y="0"/>
                    <a:pt x="1374560" y="18549"/>
                    <a:pt x="1407577" y="51567"/>
                  </a:cubicBezTo>
                  <a:cubicBezTo>
                    <a:pt x="1440595" y="84585"/>
                    <a:pt x="1459144" y="129366"/>
                    <a:pt x="1459144" y="176060"/>
                  </a:cubicBezTo>
                  <a:lnTo>
                    <a:pt x="1459144" y="2923279"/>
                  </a:lnTo>
                  <a:cubicBezTo>
                    <a:pt x="1459144" y="2969973"/>
                    <a:pt x="1440595" y="3014755"/>
                    <a:pt x="1407577" y="3047772"/>
                  </a:cubicBezTo>
                  <a:cubicBezTo>
                    <a:pt x="1374559" y="3080790"/>
                    <a:pt x="1329778" y="3099339"/>
                    <a:pt x="1283084" y="3099339"/>
                  </a:cubicBezTo>
                  <a:lnTo>
                    <a:pt x="176060" y="3099339"/>
                  </a:lnTo>
                  <a:cubicBezTo>
                    <a:pt x="129366" y="3099339"/>
                    <a:pt x="84584" y="3080790"/>
                    <a:pt x="51567" y="3047772"/>
                  </a:cubicBezTo>
                  <a:cubicBezTo>
                    <a:pt x="18549" y="3014754"/>
                    <a:pt x="0" y="2969973"/>
                    <a:pt x="0" y="2923279"/>
                  </a:cubicBezTo>
                  <a:lnTo>
                    <a:pt x="0" y="176060"/>
                  </a:lnTo>
                  <a:close/>
                </a:path>
              </a:pathLst>
            </a:cu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3189738" y="1991495"/>
              <a:ext cx="23663" cy="645898"/>
              <a:chOff x="3392428" y="1951545"/>
              <a:chExt cx="27432" cy="735419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3392428" y="1951545"/>
                <a:ext cx="18288" cy="172821"/>
              </a:xfrm>
              <a:prstGeom prst="rect">
                <a:avLst/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401572" y="2289545"/>
                <a:ext cx="18288" cy="118872"/>
              </a:xfrm>
              <a:prstGeom prst="rect">
                <a:avLst/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3401572" y="2568092"/>
                <a:ext cx="18288" cy="118872"/>
              </a:xfrm>
              <a:prstGeom prst="rect">
                <a:avLst/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</p:grpSp>
        <p:sp>
          <p:nvSpPr>
            <p:cNvPr id="21" name="Freeform 20"/>
            <p:cNvSpPr/>
            <p:nvPr/>
          </p:nvSpPr>
          <p:spPr>
            <a:xfrm>
              <a:off x="3806686" y="4332856"/>
              <a:ext cx="256543" cy="261216"/>
            </a:xfrm>
            <a:custGeom>
              <a:avLst/>
              <a:gdLst>
                <a:gd name="connsiteX0" fmla="*/ 0 w 256543"/>
                <a:gd name="connsiteY0" fmla="*/ 130608 h 261216"/>
                <a:gd name="connsiteX1" fmla="*/ 36755 w 256543"/>
                <a:gd name="connsiteY1" fmla="*/ 39091 h 261216"/>
                <a:gd name="connsiteX2" fmla="*/ 128272 w 256543"/>
                <a:gd name="connsiteY2" fmla="*/ 0 h 261216"/>
                <a:gd name="connsiteX3" fmla="*/ 219789 w 256543"/>
                <a:gd name="connsiteY3" fmla="*/ 39091 h 261216"/>
                <a:gd name="connsiteX4" fmla="*/ 256544 w 256543"/>
                <a:gd name="connsiteY4" fmla="*/ 130608 h 261216"/>
                <a:gd name="connsiteX5" fmla="*/ 219789 w 256543"/>
                <a:gd name="connsiteY5" fmla="*/ 222125 h 261216"/>
                <a:gd name="connsiteX6" fmla="*/ 128272 w 256543"/>
                <a:gd name="connsiteY6" fmla="*/ 261216 h 261216"/>
                <a:gd name="connsiteX7" fmla="*/ 36755 w 256543"/>
                <a:gd name="connsiteY7" fmla="*/ 222125 h 261216"/>
                <a:gd name="connsiteX8" fmla="*/ 0 w 256543"/>
                <a:gd name="connsiteY8" fmla="*/ 130608 h 261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543" h="261216">
                  <a:moveTo>
                    <a:pt x="0" y="130608"/>
                  </a:moveTo>
                  <a:cubicBezTo>
                    <a:pt x="0" y="96377"/>
                    <a:pt x="13199" y="63514"/>
                    <a:pt x="36755" y="39091"/>
                  </a:cubicBezTo>
                  <a:cubicBezTo>
                    <a:pt x="60874" y="14086"/>
                    <a:pt x="93851" y="0"/>
                    <a:pt x="128272" y="0"/>
                  </a:cubicBezTo>
                  <a:cubicBezTo>
                    <a:pt x="162693" y="0"/>
                    <a:pt x="195670" y="14086"/>
                    <a:pt x="219789" y="39091"/>
                  </a:cubicBezTo>
                  <a:cubicBezTo>
                    <a:pt x="243346" y="63514"/>
                    <a:pt x="256544" y="96377"/>
                    <a:pt x="256544" y="130608"/>
                  </a:cubicBezTo>
                  <a:cubicBezTo>
                    <a:pt x="256544" y="164839"/>
                    <a:pt x="243345" y="197702"/>
                    <a:pt x="219789" y="222125"/>
                  </a:cubicBezTo>
                  <a:cubicBezTo>
                    <a:pt x="195670" y="247130"/>
                    <a:pt x="162693" y="261216"/>
                    <a:pt x="128272" y="261216"/>
                  </a:cubicBezTo>
                  <a:cubicBezTo>
                    <a:pt x="93851" y="261216"/>
                    <a:pt x="60874" y="247130"/>
                    <a:pt x="36755" y="222125"/>
                  </a:cubicBezTo>
                  <a:cubicBezTo>
                    <a:pt x="13198" y="197702"/>
                    <a:pt x="0" y="164839"/>
                    <a:pt x="0" y="130608"/>
                  </a:cubicBezTo>
                  <a:close/>
                </a:path>
              </a:pathLst>
            </a:cu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3306742" y="1997538"/>
              <a:ext cx="1256433" cy="2276759"/>
            </a:xfrm>
            <a:custGeom>
              <a:avLst/>
              <a:gdLst>
                <a:gd name="connsiteX0" fmla="*/ 0 w 1256433"/>
                <a:gd name="connsiteY0" fmla="*/ 0 h 2276759"/>
                <a:gd name="connsiteX1" fmla="*/ 1256433 w 1256433"/>
                <a:gd name="connsiteY1" fmla="*/ 0 h 2276759"/>
                <a:gd name="connsiteX2" fmla="*/ 1256433 w 1256433"/>
                <a:gd name="connsiteY2" fmla="*/ 2276759 h 2276759"/>
                <a:gd name="connsiteX3" fmla="*/ 0 w 1256433"/>
                <a:gd name="connsiteY3" fmla="*/ 2276759 h 2276759"/>
                <a:gd name="connsiteX4" fmla="*/ 0 w 1256433"/>
                <a:gd name="connsiteY4" fmla="*/ 0 h 22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433" h="2276759">
                  <a:moveTo>
                    <a:pt x="0" y="0"/>
                  </a:moveTo>
                  <a:lnTo>
                    <a:pt x="1256433" y="0"/>
                  </a:lnTo>
                  <a:lnTo>
                    <a:pt x="1256433" y="2276759"/>
                  </a:lnTo>
                  <a:lnTo>
                    <a:pt x="0" y="22767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3796931" y="1824436"/>
              <a:ext cx="276054" cy="32124"/>
            </a:xfrm>
            <a:custGeom>
              <a:avLst/>
              <a:gdLst>
                <a:gd name="connsiteX0" fmla="*/ 0 w 276054"/>
                <a:gd name="connsiteY0" fmla="*/ 16062 h 32124"/>
                <a:gd name="connsiteX1" fmla="*/ 4704 w 276054"/>
                <a:gd name="connsiteY1" fmla="*/ 4704 h 32124"/>
                <a:gd name="connsiteX2" fmla="*/ 16062 w 276054"/>
                <a:gd name="connsiteY2" fmla="*/ 0 h 32124"/>
                <a:gd name="connsiteX3" fmla="*/ 259992 w 276054"/>
                <a:gd name="connsiteY3" fmla="*/ 0 h 32124"/>
                <a:gd name="connsiteX4" fmla="*/ 271350 w 276054"/>
                <a:gd name="connsiteY4" fmla="*/ 4704 h 32124"/>
                <a:gd name="connsiteX5" fmla="*/ 276054 w 276054"/>
                <a:gd name="connsiteY5" fmla="*/ 16062 h 32124"/>
                <a:gd name="connsiteX6" fmla="*/ 276054 w 276054"/>
                <a:gd name="connsiteY6" fmla="*/ 16062 h 32124"/>
                <a:gd name="connsiteX7" fmla="*/ 271350 w 276054"/>
                <a:gd name="connsiteY7" fmla="*/ 27420 h 32124"/>
                <a:gd name="connsiteX8" fmla="*/ 259992 w 276054"/>
                <a:gd name="connsiteY8" fmla="*/ 32124 h 32124"/>
                <a:gd name="connsiteX9" fmla="*/ 16062 w 276054"/>
                <a:gd name="connsiteY9" fmla="*/ 32124 h 32124"/>
                <a:gd name="connsiteX10" fmla="*/ 4704 w 276054"/>
                <a:gd name="connsiteY10" fmla="*/ 27420 h 32124"/>
                <a:gd name="connsiteX11" fmla="*/ 0 w 276054"/>
                <a:gd name="connsiteY11" fmla="*/ 16062 h 3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6054" h="32124">
                  <a:moveTo>
                    <a:pt x="0" y="16062"/>
                  </a:moveTo>
                  <a:cubicBezTo>
                    <a:pt x="0" y="11802"/>
                    <a:pt x="1692" y="7717"/>
                    <a:pt x="4704" y="4704"/>
                  </a:cubicBezTo>
                  <a:cubicBezTo>
                    <a:pt x="7716" y="1692"/>
                    <a:pt x="11802" y="0"/>
                    <a:pt x="16062" y="0"/>
                  </a:cubicBezTo>
                  <a:lnTo>
                    <a:pt x="259992" y="0"/>
                  </a:lnTo>
                  <a:cubicBezTo>
                    <a:pt x="264252" y="0"/>
                    <a:pt x="268337" y="1692"/>
                    <a:pt x="271350" y="4704"/>
                  </a:cubicBezTo>
                  <a:cubicBezTo>
                    <a:pt x="274362" y="7716"/>
                    <a:pt x="276054" y="11802"/>
                    <a:pt x="276054" y="16062"/>
                  </a:cubicBezTo>
                  <a:lnTo>
                    <a:pt x="276054" y="16062"/>
                  </a:lnTo>
                  <a:cubicBezTo>
                    <a:pt x="276054" y="20322"/>
                    <a:pt x="274362" y="24407"/>
                    <a:pt x="271350" y="27420"/>
                  </a:cubicBezTo>
                  <a:cubicBezTo>
                    <a:pt x="268338" y="30432"/>
                    <a:pt x="264252" y="32124"/>
                    <a:pt x="259992" y="32124"/>
                  </a:cubicBezTo>
                  <a:lnTo>
                    <a:pt x="16062" y="32124"/>
                  </a:lnTo>
                  <a:cubicBezTo>
                    <a:pt x="11802" y="32124"/>
                    <a:pt x="7717" y="30432"/>
                    <a:pt x="4704" y="27420"/>
                  </a:cubicBezTo>
                  <a:cubicBezTo>
                    <a:pt x="1692" y="24408"/>
                    <a:pt x="0" y="20322"/>
                    <a:pt x="0" y="1606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3911556" y="1704426"/>
              <a:ext cx="46804" cy="47657"/>
            </a:xfrm>
            <a:custGeom>
              <a:avLst/>
              <a:gdLst>
                <a:gd name="connsiteX0" fmla="*/ 0 w 46804"/>
                <a:gd name="connsiteY0" fmla="*/ 23829 h 47657"/>
                <a:gd name="connsiteX1" fmla="*/ 6705 w 46804"/>
                <a:gd name="connsiteY1" fmla="*/ 7132 h 47657"/>
                <a:gd name="connsiteX2" fmla="*/ 23402 w 46804"/>
                <a:gd name="connsiteY2" fmla="*/ 0 h 47657"/>
                <a:gd name="connsiteX3" fmla="*/ 40099 w 46804"/>
                <a:gd name="connsiteY3" fmla="*/ 7132 h 47657"/>
                <a:gd name="connsiteX4" fmla="*/ 46804 w 46804"/>
                <a:gd name="connsiteY4" fmla="*/ 23829 h 47657"/>
                <a:gd name="connsiteX5" fmla="*/ 40099 w 46804"/>
                <a:gd name="connsiteY5" fmla="*/ 40526 h 47657"/>
                <a:gd name="connsiteX6" fmla="*/ 23402 w 46804"/>
                <a:gd name="connsiteY6" fmla="*/ 47658 h 47657"/>
                <a:gd name="connsiteX7" fmla="*/ 6705 w 46804"/>
                <a:gd name="connsiteY7" fmla="*/ 40526 h 47657"/>
                <a:gd name="connsiteX8" fmla="*/ 0 w 46804"/>
                <a:gd name="connsiteY8" fmla="*/ 23829 h 4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804" h="47657">
                  <a:moveTo>
                    <a:pt x="0" y="23829"/>
                  </a:moveTo>
                  <a:cubicBezTo>
                    <a:pt x="0" y="17584"/>
                    <a:pt x="2408" y="11588"/>
                    <a:pt x="6705" y="7132"/>
                  </a:cubicBezTo>
                  <a:cubicBezTo>
                    <a:pt x="11105" y="2570"/>
                    <a:pt x="17122" y="0"/>
                    <a:pt x="23402" y="0"/>
                  </a:cubicBezTo>
                  <a:cubicBezTo>
                    <a:pt x="29682" y="0"/>
                    <a:pt x="35698" y="2570"/>
                    <a:pt x="40099" y="7132"/>
                  </a:cubicBezTo>
                  <a:cubicBezTo>
                    <a:pt x="44397" y="11588"/>
                    <a:pt x="46804" y="17583"/>
                    <a:pt x="46804" y="23829"/>
                  </a:cubicBezTo>
                  <a:cubicBezTo>
                    <a:pt x="46804" y="30074"/>
                    <a:pt x="44396" y="36070"/>
                    <a:pt x="40099" y="40526"/>
                  </a:cubicBezTo>
                  <a:cubicBezTo>
                    <a:pt x="35699" y="45088"/>
                    <a:pt x="29682" y="47658"/>
                    <a:pt x="23402" y="47658"/>
                  </a:cubicBezTo>
                  <a:cubicBezTo>
                    <a:pt x="17122" y="47658"/>
                    <a:pt x="11106" y="45088"/>
                    <a:pt x="6705" y="40526"/>
                  </a:cubicBezTo>
                  <a:cubicBezTo>
                    <a:pt x="2407" y="36070"/>
                    <a:pt x="0" y="30075"/>
                    <a:pt x="0" y="2382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4293042" y="1562392"/>
              <a:ext cx="198758" cy="40154"/>
            </a:xfrm>
            <a:custGeom>
              <a:avLst/>
              <a:gdLst>
                <a:gd name="connsiteX0" fmla="*/ 0 w 198758"/>
                <a:gd name="connsiteY0" fmla="*/ 0 h 40154"/>
                <a:gd name="connsiteX1" fmla="*/ 198758 w 198758"/>
                <a:gd name="connsiteY1" fmla="*/ 0 h 40154"/>
                <a:gd name="connsiteX2" fmla="*/ 198758 w 198758"/>
                <a:gd name="connsiteY2" fmla="*/ 40154 h 40154"/>
                <a:gd name="connsiteX3" fmla="*/ 0 w 198758"/>
                <a:gd name="connsiteY3" fmla="*/ 40154 h 40154"/>
                <a:gd name="connsiteX4" fmla="*/ 0 w 198758"/>
                <a:gd name="connsiteY4" fmla="*/ 0 h 40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758" h="40154">
                  <a:moveTo>
                    <a:pt x="0" y="0"/>
                  </a:moveTo>
                  <a:lnTo>
                    <a:pt x="198758" y="0"/>
                  </a:lnTo>
                  <a:lnTo>
                    <a:pt x="198758" y="40154"/>
                  </a:lnTo>
                  <a:lnTo>
                    <a:pt x="0" y="40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32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5268894" y="2303485"/>
            <a:ext cx="1675244" cy="3043737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31" name="Oval 30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24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ockUp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4365006"/>
            <a:ext cx="12192000" cy="249299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cxnSp>
        <p:nvCxnSpPr>
          <p:cNvPr id="38" name="Straight Line buttom"/>
          <p:cNvCxnSpPr/>
          <p:nvPr userDrawn="1"/>
        </p:nvCxnSpPr>
        <p:spPr>
          <a:xfrm>
            <a:off x="0" y="4365005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 userDrawn="1"/>
        </p:nvGrpSpPr>
        <p:grpSpPr>
          <a:xfrm>
            <a:off x="4438652" y="1934377"/>
            <a:ext cx="3403643" cy="2708115"/>
            <a:chOff x="2094899" y="1081795"/>
            <a:chExt cx="4400683" cy="3501414"/>
          </a:xfrm>
        </p:grpSpPr>
        <p:sp>
          <p:nvSpPr>
            <p:cNvPr id="20" name="Rectangle 19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endParaRPr lang="en-US" sz="2400" dirty="0"/>
            </a:p>
          </p:txBody>
        </p:sp>
        <p:sp>
          <p:nvSpPr>
            <p:cNvPr id="31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 rtl="1"/>
              <a:endParaRPr lang="en-US" sz="2400" dirty="0"/>
            </a:p>
          </p:txBody>
        </p:sp>
        <p:sp>
          <p:nvSpPr>
            <p:cNvPr id="33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 rtl="1"/>
              <a:endParaRPr lang="en-US" sz="2400" dirty="0"/>
            </a:p>
          </p:txBody>
        </p:sp>
        <p:sp>
          <p:nvSpPr>
            <p:cNvPr id="34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 rtl="1"/>
              <a:r>
                <a:rPr lang="en-US" sz="2400" dirty="0"/>
                <a:t> </a:t>
              </a:r>
            </a:p>
          </p:txBody>
        </p:sp>
        <p:sp>
          <p:nvSpPr>
            <p:cNvPr id="35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 rtl="1"/>
              <a:endParaRPr lang="en-US" sz="2400" dirty="0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3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593535" y="2062632"/>
            <a:ext cx="3090911" cy="1747861"/>
          </a:xfrm>
          <a:prstGeom prst="rect">
            <a:avLst/>
          </a:prstGeom>
          <a:ln>
            <a:noFill/>
          </a:ln>
        </p:spPr>
        <p:txBody>
          <a:bodyPr tIns="0" bIns="27432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5" name="Oval 14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29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cxnSp>
        <p:nvCxnSpPr>
          <p:cNvPr id="18" name="Straight Line buttom"/>
          <p:cNvCxnSpPr/>
          <p:nvPr userDrawn="1"/>
        </p:nvCxnSpPr>
        <p:spPr>
          <a:xfrm>
            <a:off x="0" y="4363412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 userDrawn="1"/>
        </p:nvSpPr>
        <p:spPr>
          <a:xfrm>
            <a:off x="0" y="4365006"/>
            <a:ext cx="12192000" cy="24929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31" name="Group 29"/>
          <p:cNvGrpSpPr/>
          <p:nvPr userDrawn="1"/>
        </p:nvGrpSpPr>
        <p:grpSpPr>
          <a:xfrm>
            <a:off x="903452" y="1431958"/>
            <a:ext cx="2196983" cy="4642471"/>
            <a:chOff x="3189614" y="1562392"/>
            <a:chExt cx="1474916" cy="3116662"/>
          </a:xfrm>
          <a:effectLst/>
        </p:grpSpPr>
        <p:sp>
          <p:nvSpPr>
            <p:cNvPr id="33" name="Freeform 32"/>
            <p:cNvSpPr/>
            <p:nvPr/>
          </p:nvSpPr>
          <p:spPr>
            <a:xfrm>
              <a:off x="3205386" y="1579715"/>
              <a:ext cx="1459144" cy="3099339"/>
            </a:xfrm>
            <a:custGeom>
              <a:avLst/>
              <a:gdLst>
                <a:gd name="connsiteX0" fmla="*/ 0 w 1459144"/>
                <a:gd name="connsiteY0" fmla="*/ 176060 h 3099339"/>
                <a:gd name="connsiteX1" fmla="*/ 51567 w 1459144"/>
                <a:gd name="connsiteY1" fmla="*/ 51567 h 3099339"/>
                <a:gd name="connsiteX2" fmla="*/ 176060 w 1459144"/>
                <a:gd name="connsiteY2" fmla="*/ 0 h 3099339"/>
                <a:gd name="connsiteX3" fmla="*/ 1283084 w 1459144"/>
                <a:gd name="connsiteY3" fmla="*/ 0 h 3099339"/>
                <a:gd name="connsiteX4" fmla="*/ 1407577 w 1459144"/>
                <a:gd name="connsiteY4" fmla="*/ 51567 h 3099339"/>
                <a:gd name="connsiteX5" fmla="*/ 1459144 w 1459144"/>
                <a:gd name="connsiteY5" fmla="*/ 176060 h 3099339"/>
                <a:gd name="connsiteX6" fmla="*/ 1459144 w 1459144"/>
                <a:gd name="connsiteY6" fmla="*/ 2923279 h 3099339"/>
                <a:gd name="connsiteX7" fmla="*/ 1407577 w 1459144"/>
                <a:gd name="connsiteY7" fmla="*/ 3047772 h 3099339"/>
                <a:gd name="connsiteX8" fmla="*/ 1283084 w 1459144"/>
                <a:gd name="connsiteY8" fmla="*/ 3099339 h 3099339"/>
                <a:gd name="connsiteX9" fmla="*/ 176060 w 1459144"/>
                <a:gd name="connsiteY9" fmla="*/ 3099339 h 3099339"/>
                <a:gd name="connsiteX10" fmla="*/ 51567 w 1459144"/>
                <a:gd name="connsiteY10" fmla="*/ 3047772 h 3099339"/>
                <a:gd name="connsiteX11" fmla="*/ 0 w 1459144"/>
                <a:gd name="connsiteY11" fmla="*/ 2923279 h 3099339"/>
                <a:gd name="connsiteX12" fmla="*/ 0 w 1459144"/>
                <a:gd name="connsiteY12" fmla="*/ 176060 h 309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59144" h="3099339">
                  <a:moveTo>
                    <a:pt x="0" y="176060"/>
                  </a:moveTo>
                  <a:cubicBezTo>
                    <a:pt x="0" y="129366"/>
                    <a:pt x="18549" y="84584"/>
                    <a:pt x="51567" y="51567"/>
                  </a:cubicBezTo>
                  <a:cubicBezTo>
                    <a:pt x="84585" y="18549"/>
                    <a:pt x="129366" y="0"/>
                    <a:pt x="176060" y="0"/>
                  </a:cubicBezTo>
                  <a:lnTo>
                    <a:pt x="1283084" y="0"/>
                  </a:lnTo>
                  <a:cubicBezTo>
                    <a:pt x="1329778" y="0"/>
                    <a:pt x="1374560" y="18549"/>
                    <a:pt x="1407577" y="51567"/>
                  </a:cubicBezTo>
                  <a:cubicBezTo>
                    <a:pt x="1440595" y="84585"/>
                    <a:pt x="1459144" y="129366"/>
                    <a:pt x="1459144" y="176060"/>
                  </a:cubicBezTo>
                  <a:lnTo>
                    <a:pt x="1459144" y="2923279"/>
                  </a:lnTo>
                  <a:cubicBezTo>
                    <a:pt x="1459144" y="2969973"/>
                    <a:pt x="1440595" y="3014755"/>
                    <a:pt x="1407577" y="3047772"/>
                  </a:cubicBezTo>
                  <a:cubicBezTo>
                    <a:pt x="1374559" y="3080790"/>
                    <a:pt x="1329778" y="3099339"/>
                    <a:pt x="1283084" y="3099339"/>
                  </a:cubicBezTo>
                  <a:lnTo>
                    <a:pt x="176060" y="3099339"/>
                  </a:lnTo>
                  <a:cubicBezTo>
                    <a:pt x="129366" y="3099339"/>
                    <a:pt x="84584" y="3080790"/>
                    <a:pt x="51567" y="3047772"/>
                  </a:cubicBezTo>
                  <a:cubicBezTo>
                    <a:pt x="18549" y="3014754"/>
                    <a:pt x="0" y="2969973"/>
                    <a:pt x="0" y="2923279"/>
                  </a:cubicBezTo>
                  <a:lnTo>
                    <a:pt x="0" y="176060"/>
                  </a:lnTo>
                  <a:close/>
                </a:path>
              </a:pathLst>
            </a:cu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grpSp>
          <p:nvGrpSpPr>
            <p:cNvPr id="34" name="Group 20"/>
            <p:cNvGrpSpPr/>
            <p:nvPr/>
          </p:nvGrpSpPr>
          <p:grpSpPr>
            <a:xfrm>
              <a:off x="3189738" y="1991495"/>
              <a:ext cx="23663" cy="645898"/>
              <a:chOff x="3392428" y="1951545"/>
              <a:chExt cx="27432" cy="735419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3392428" y="1951545"/>
                <a:ext cx="18288" cy="172821"/>
              </a:xfrm>
              <a:prstGeom prst="rect">
                <a:avLst/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3401572" y="2289545"/>
                <a:ext cx="18288" cy="118872"/>
              </a:xfrm>
              <a:prstGeom prst="rect">
                <a:avLst/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3401572" y="2568092"/>
                <a:ext cx="18288" cy="118872"/>
              </a:xfrm>
              <a:prstGeom prst="rect">
                <a:avLst/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</p:grpSp>
        <p:sp>
          <p:nvSpPr>
            <p:cNvPr id="35" name="Freeform 34"/>
            <p:cNvSpPr/>
            <p:nvPr/>
          </p:nvSpPr>
          <p:spPr>
            <a:xfrm>
              <a:off x="3806686" y="4332856"/>
              <a:ext cx="256543" cy="261216"/>
            </a:xfrm>
            <a:custGeom>
              <a:avLst/>
              <a:gdLst>
                <a:gd name="connsiteX0" fmla="*/ 0 w 256543"/>
                <a:gd name="connsiteY0" fmla="*/ 130608 h 261216"/>
                <a:gd name="connsiteX1" fmla="*/ 36755 w 256543"/>
                <a:gd name="connsiteY1" fmla="*/ 39091 h 261216"/>
                <a:gd name="connsiteX2" fmla="*/ 128272 w 256543"/>
                <a:gd name="connsiteY2" fmla="*/ 0 h 261216"/>
                <a:gd name="connsiteX3" fmla="*/ 219789 w 256543"/>
                <a:gd name="connsiteY3" fmla="*/ 39091 h 261216"/>
                <a:gd name="connsiteX4" fmla="*/ 256544 w 256543"/>
                <a:gd name="connsiteY4" fmla="*/ 130608 h 261216"/>
                <a:gd name="connsiteX5" fmla="*/ 219789 w 256543"/>
                <a:gd name="connsiteY5" fmla="*/ 222125 h 261216"/>
                <a:gd name="connsiteX6" fmla="*/ 128272 w 256543"/>
                <a:gd name="connsiteY6" fmla="*/ 261216 h 261216"/>
                <a:gd name="connsiteX7" fmla="*/ 36755 w 256543"/>
                <a:gd name="connsiteY7" fmla="*/ 222125 h 261216"/>
                <a:gd name="connsiteX8" fmla="*/ 0 w 256543"/>
                <a:gd name="connsiteY8" fmla="*/ 130608 h 261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543" h="261216">
                  <a:moveTo>
                    <a:pt x="0" y="130608"/>
                  </a:moveTo>
                  <a:cubicBezTo>
                    <a:pt x="0" y="96377"/>
                    <a:pt x="13199" y="63514"/>
                    <a:pt x="36755" y="39091"/>
                  </a:cubicBezTo>
                  <a:cubicBezTo>
                    <a:pt x="60874" y="14086"/>
                    <a:pt x="93851" y="0"/>
                    <a:pt x="128272" y="0"/>
                  </a:cubicBezTo>
                  <a:cubicBezTo>
                    <a:pt x="162693" y="0"/>
                    <a:pt x="195670" y="14086"/>
                    <a:pt x="219789" y="39091"/>
                  </a:cubicBezTo>
                  <a:cubicBezTo>
                    <a:pt x="243346" y="63514"/>
                    <a:pt x="256544" y="96377"/>
                    <a:pt x="256544" y="130608"/>
                  </a:cubicBezTo>
                  <a:cubicBezTo>
                    <a:pt x="256544" y="164839"/>
                    <a:pt x="243345" y="197702"/>
                    <a:pt x="219789" y="222125"/>
                  </a:cubicBezTo>
                  <a:cubicBezTo>
                    <a:pt x="195670" y="247130"/>
                    <a:pt x="162693" y="261216"/>
                    <a:pt x="128272" y="261216"/>
                  </a:cubicBezTo>
                  <a:cubicBezTo>
                    <a:pt x="93851" y="261216"/>
                    <a:pt x="60874" y="247130"/>
                    <a:pt x="36755" y="222125"/>
                  </a:cubicBezTo>
                  <a:cubicBezTo>
                    <a:pt x="13198" y="197702"/>
                    <a:pt x="0" y="164839"/>
                    <a:pt x="0" y="130608"/>
                  </a:cubicBezTo>
                  <a:close/>
                </a:path>
              </a:pathLst>
            </a:cu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3306742" y="1997538"/>
              <a:ext cx="1256433" cy="2276759"/>
            </a:xfrm>
            <a:custGeom>
              <a:avLst/>
              <a:gdLst>
                <a:gd name="connsiteX0" fmla="*/ 0 w 1256433"/>
                <a:gd name="connsiteY0" fmla="*/ 0 h 2276759"/>
                <a:gd name="connsiteX1" fmla="*/ 1256433 w 1256433"/>
                <a:gd name="connsiteY1" fmla="*/ 0 h 2276759"/>
                <a:gd name="connsiteX2" fmla="*/ 1256433 w 1256433"/>
                <a:gd name="connsiteY2" fmla="*/ 2276759 h 2276759"/>
                <a:gd name="connsiteX3" fmla="*/ 0 w 1256433"/>
                <a:gd name="connsiteY3" fmla="*/ 2276759 h 2276759"/>
                <a:gd name="connsiteX4" fmla="*/ 0 w 1256433"/>
                <a:gd name="connsiteY4" fmla="*/ 0 h 22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433" h="2276759">
                  <a:moveTo>
                    <a:pt x="0" y="0"/>
                  </a:moveTo>
                  <a:lnTo>
                    <a:pt x="1256433" y="0"/>
                  </a:lnTo>
                  <a:lnTo>
                    <a:pt x="1256433" y="2276759"/>
                  </a:lnTo>
                  <a:lnTo>
                    <a:pt x="0" y="22767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3796931" y="1824436"/>
              <a:ext cx="276054" cy="32124"/>
            </a:xfrm>
            <a:custGeom>
              <a:avLst/>
              <a:gdLst>
                <a:gd name="connsiteX0" fmla="*/ 0 w 276054"/>
                <a:gd name="connsiteY0" fmla="*/ 16062 h 32124"/>
                <a:gd name="connsiteX1" fmla="*/ 4704 w 276054"/>
                <a:gd name="connsiteY1" fmla="*/ 4704 h 32124"/>
                <a:gd name="connsiteX2" fmla="*/ 16062 w 276054"/>
                <a:gd name="connsiteY2" fmla="*/ 0 h 32124"/>
                <a:gd name="connsiteX3" fmla="*/ 259992 w 276054"/>
                <a:gd name="connsiteY3" fmla="*/ 0 h 32124"/>
                <a:gd name="connsiteX4" fmla="*/ 271350 w 276054"/>
                <a:gd name="connsiteY4" fmla="*/ 4704 h 32124"/>
                <a:gd name="connsiteX5" fmla="*/ 276054 w 276054"/>
                <a:gd name="connsiteY5" fmla="*/ 16062 h 32124"/>
                <a:gd name="connsiteX6" fmla="*/ 276054 w 276054"/>
                <a:gd name="connsiteY6" fmla="*/ 16062 h 32124"/>
                <a:gd name="connsiteX7" fmla="*/ 271350 w 276054"/>
                <a:gd name="connsiteY7" fmla="*/ 27420 h 32124"/>
                <a:gd name="connsiteX8" fmla="*/ 259992 w 276054"/>
                <a:gd name="connsiteY8" fmla="*/ 32124 h 32124"/>
                <a:gd name="connsiteX9" fmla="*/ 16062 w 276054"/>
                <a:gd name="connsiteY9" fmla="*/ 32124 h 32124"/>
                <a:gd name="connsiteX10" fmla="*/ 4704 w 276054"/>
                <a:gd name="connsiteY10" fmla="*/ 27420 h 32124"/>
                <a:gd name="connsiteX11" fmla="*/ 0 w 276054"/>
                <a:gd name="connsiteY11" fmla="*/ 16062 h 3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6054" h="32124">
                  <a:moveTo>
                    <a:pt x="0" y="16062"/>
                  </a:moveTo>
                  <a:cubicBezTo>
                    <a:pt x="0" y="11802"/>
                    <a:pt x="1692" y="7717"/>
                    <a:pt x="4704" y="4704"/>
                  </a:cubicBezTo>
                  <a:cubicBezTo>
                    <a:pt x="7716" y="1692"/>
                    <a:pt x="11802" y="0"/>
                    <a:pt x="16062" y="0"/>
                  </a:cubicBezTo>
                  <a:lnTo>
                    <a:pt x="259992" y="0"/>
                  </a:lnTo>
                  <a:cubicBezTo>
                    <a:pt x="264252" y="0"/>
                    <a:pt x="268337" y="1692"/>
                    <a:pt x="271350" y="4704"/>
                  </a:cubicBezTo>
                  <a:cubicBezTo>
                    <a:pt x="274362" y="7716"/>
                    <a:pt x="276054" y="11802"/>
                    <a:pt x="276054" y="16062"/>
                  </a:cubicBezTo>
                  <a:lnTo>
                    <a:pt x="276054" y="16062"/>
                  </a:lnTo>
                  <a:cubicBezTo>
                    <a:pt x="276054" y="20322"/>
                    <a:pt x="274362" y="24407"/>
                    <a:pt x="271350" y="27420"/>
                  </a:cubicBezTo>
                  <a:cubicBezTo>
                    <a:pt x="268338" y="30432"/>
                    <a:pt x="264252" y="32124"/>
                    <a:pt x="259992" y="32124"/>
                  </a:cubicBezTo>
                  <a:lnTo>
                    <a:pt x="16062" y="32124"/>
                  </a:lnTo>
                  <a:cubicBezTo>
                    <a:pt x="11802" y="32124"/>
                    <a:pt x="7717" y="30432"/>
                    <a:pt x="4704" y="27420"/>
                  </a:cubicBezTo>
                  <a:cubicBezTo>
                    <a:pt x="1692" y="24408"/>
                    <a:pt x="0" y="20322"/>
                    <a:pt x="0" y="1606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3911556" y="1704426"/>
              <a:ext cx="46804" cy="47657"/>
            </a:xfrm>
            <a:custGeom>
              <a:avLst/>
              <a:gdLst>
                <a:gd name="connsiteX0" fmla="*/ 0 w 46804"/>
                <a:gd name="connsiteY0" fmla="*/ 23829 h 47657"/>
                <a:gd name="connsiteX1" fmla="*/ 6705 w 46804"/>
                <a:gd name="connsiteY1" fmla="*/ 7132 h 47657"/>
                <a:gd name="connsiteX2" fmla="*/ 23402 w 46804"/>
                <a:gd name="connsiteY2" fmla="*/ 0 h 47657"/>
                <a:gd name="connsiteX3" fmla="*/ 40099 w 46804"/>
                <a:gd name="connsiteY3" fmla="*/ 7132 h 47657"/>
                <a:gd name="connsiteX4" fmla="*/ 46804 w 46804"/>
                <a:gd name="connsiteY4" fmla="*/ 23829 h 47657"/>
                <a:gd name="connsiteX5" fmla="*/ 40099 w 46804"/>
                <a:gd name="connsiteY5" fmla="*/ 40526 h 47657"/>
                <a:gd name="connsiteX6" fmla="*/ 23402 w 46804"/>
                <a:gd name="connsiteY6" fmla="*/ 47658 h 47657"/>
                <a:gd name="connsiteX7" fmla="*/ 6705 w 46804"/>
                <a:gd name="connsiteY7" fmla="*/ 40526 h 47657"/>
                <a:gd name="connsiteX8" fmla="*/ 0 w 46804"/>
                <a:gd name="connsiteY8" fmla="*/ 23829 h 47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804" h="47657">
                  <a:moveTo>
                    <a:pt x="0" y="23829"/>
                  </a:moveTo>
                  <a:cubicBezTo>
                    <a:pt x="0" y="17584"/>
                    <a:pt x="2408" y="11588"/>
                    <a:pt x="6705" y="7132"/>
                  </a:cubicBezTo>
                  <a:cubicBezTo>
                    <a:pt x="11105" y="2570"/>
                    <a:pt x="17122" y="0"/>
                    <a:pt x="23402" y="0"/>
                  </a:cubicBezTo>
                  <a:cubicBezTo>
                    <a:pt x="29682" y="0"/>
                    <a:pt x="35698" y="2570"/>
                    <a:pt x="40099" y="7132"/>
                  </a:cubicBezTo>
                  <a:cubicBezTo>
                    <a:pt x="44397" y="11588"/>
                    <a:pt x="46804" y="17583"/>
                    <a:pt x="46804" y="23829"/>
                  </a:cubicBezTo>
                  <a:cubicBezTo>
                    <a:pt x="46804" y="30074"/>
                    <a:pt x="44396" y="36070"/>
                    <a:pt x="40099" y="40526"/>
                  </a:cubicBezTo>
                  <a:cubicBezTo>
                    <a:pt x="35699" y="45088"/>
                    <a:pt x="29682" y="47658"/>
                    <a:pt x="23402" y="47658"/>
                  </a:cubicBezTo>
                  <a:cubicBezTo>
                    <a:pt x="17122" y="47658"/>
                    <a:pt x="11106" y="45088"/>
                    <a:pt x="6705" y="40526"/>
                  </a:cubicBezTo>
                  <a:cubicBezTo>
                    <a:pt x="2407" y="36070"/>
                    <a:pt x="0" y="30075"/>
                    <a:pt x="0" y="2382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4293042" y="1562392"/>
              <a:ext cx="198758" cy="40154"/>
            </a:xfrm>
            <a:custGeom>
              <a:avLst/>
              <a:gdLst>
                <a:gd name="connsiteX0" fmla="*/ 0 w 198758"/>
                <a:gd name="connsiteY0" fmla="*/ 0 h 40154"/>
                <a:gd name="connsiteX1" fmla="*/ 198758 w 198758"/>
                <a:gd name="connsiteY1" fmla="*/ 0 h 40154"/>
                <a:gd name="connsiteX2" fmla="*/ 198758 w 198758"/>
                <a:gd name="connsiteY2" fmla="*/ 40154 h 40154"/>
                <a:gd name="connsiteX3" fmla="*/ 0 w 198758"/>
                <a:gd name="connsiteY3" fmla="*/ 40154 h 40154"/>
                <a:gd name="connsiteX4" fmla="*/ 0 w 198758"/>
                <a:gd name="connsiteY4" fmla="*/ 0 h 40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758" h="40154">
                  <a:moveTo>
                    <a:pt x="0" y="0"/>
                  </a:moveTo>
                  <a:lnTo>
                    <a:pt x="198758" y="0"/>
                  </a:lnTo>
                  <a:lnTo>
                    <a:pt x="198758" y="40154"/>
                  </a:lnTo>
                  <a:lnTo>
                    <a:pt x="0" y="40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pic>
        <p:nvPicPr>
          <p:cNvPr id="44" name="Picture 43" descr="shadow.png"/>
          <p:cNvPicPr>
            <a:picLocks noChangeAspect="1"/>
          </p:cNvPicPr>
          <p:nvPr userDrawn="1"/>
        </p:nvPicPr>
        <p:blipFill>
          <a:blip r:embed="rId2" cstate="print">
            <a:biLevel thresh="50000"/>
          </a:blip>
          <a:stretch>
            <a:fillRect/>
          </a:stretch>
        </p:blipFill>
        <p:spPr>
          <a:xfrm>
            <a:off x="501393" y="6074429"/>
            <a:ext cx="3094309" cy="317500"/>
          </a:xfrm>
          <a:prstGeom prst="rect">
            <a:avLst/>
          </a:prstGeom>
        </p:spPr>
      </p:pic>
      <p:sp>
        <p:nvSpPr>
          <p:cNvPr id="4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077921" y="2085073"/>
            <a:ext cx="1871539" cy="3386444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1" name="Oval 20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65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animBg="1"/>
      <p:bldP spid="45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5558336" y="1602393"/>
            <a:ext cx="5867577" cy="4668552"/>
            <a:chOff x="2094899" y="1081795"/>
            <a:chExt cx="4400683" cy="3501414"/>
          </a:xfrm>
        </p:grpSpPr>
        <p:sp>
          <p:nvSpPr>
            <p:cNvPr id="22" name="Rectangle 21"/>
            <p:cNvSpPr/>
            <p:nvPr/>
          </p:nvSpPr>
          <p:spPr>
            <a:xfrm>
              <a:off x="2261198" y="1247618"/>
              <a:ext cx="4081379" cy="22598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3" name="Freeform 5"/>
            <p:cNvSpPr>
              <a:spLocks noEditPoints="1"/>
            </p:cNvSpPr>
            <p:nvPr/>
          </p:nvSpPr>
          <p:spPr bwMode="auto">
            <a:xfrm>
              <a:off x="2094899" y="1081795"/>
              <a:ext cx="4400683" cy="2608522"/>
            </a:xfrm>
            <a:custGeom>
              <a:avLst/>
              <a:gdLst/>
              <a:ahLst/>
              <a:cxnLst>
                <a:cxn ang="0">
                  <a:pos x="1757" y="0"/>
                </a:cxn>
                <a:cxn ang="0">
                  <a:pos x="921" y="0"/>
                </a:cxn>
                <a:cxn ang="0">
                  <a:pos x="893" y="0"/>
                </a:cxn>
                <a:cxn ang="0">
                  <a:pos x="56" y="0"/>
                </a:cxn>
                <a:cxn ang="0">
                  <a:pos x="0" y="47"/>
                </a:cxn>
                <a:cxn ang="0">
                  <a:pos x="0" y="1076"/>
                </a:cxn>
                <a:cxn ang="0">
                  <a:pos x="1816" y="1076"/>
                </a:cxn>
                <a:cxn ang="0">
                  <a:pos x="1816" y="47"/>
                </a:cxn>
                <a:cxn ang="0">
                  <a:pos x="1757" y="0"/>
                </a:cxn>
                <a:cxn ang="0">
                  <a:pos x="1732" y="1000"/>
                </a:cxn>
                <a:cxn ang="0">
                  <a:pos x="76" y="1000"/>
                </a:cxn>
                <a:cxn ang="0">
                  <a:pos x="76" y="68"/>
                </a:cxn>
                <a:cxn ang="0">
                  <a:pos x="1732" y="68"/>
                </a:cxn>
                <a:cxn ang="0">
                  <a:pos x="1732" y="1000"/>
                </a:cxn>
              </a:cxnLst>
              <a:rect l="0" t="0" r="r" b="b"/>
              <a:pathLst>
                <a:path w="1816" h="1076">
                  <a:moveTo>
                    <a:pt x="1757" y="0"/>
                  </a:moveTo>
                  <a:cubicBezTo>
                    <a:pt x="921" y="0"/>
                    <a:pt x="921" y="0"/>
                    <a:pt x="921" y="0"/>
                  </a:cubicBezTo>
                  <a:cubicBezTo>
                    <a:pt x="893" y="0"/>
                    <a:pt x="893" y="0"/>
                    <a:pt x="893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27" y="0"/>
                    <a:pt x="0" y="17"/>
                    <a:pt x="0" y="47"/>
                  </a:cubicBezTo>
                  <a:cubicBezTo>
                    <a:pt x="0" y="1076"/>
                    <a:pt x="0" y="1076"/>
                    <a:pt x="0" y="1076"/>
                  </a:cubicBezTo>
                  <a:cubicBezTo>
                    <a:pt x="1816" y="1076"/>
                    <a:pt x="1816" y="1076"/>
                    <a:pt x="1816" y="1076"/>
                  </a:cubicBezTo>
                  <a:cubicBezTo>
                    <a:pt x="1816" y="47"/>
                    <a:pt x="1816" y="47"/>
                    <a:pt x="1816" y="47"/>
                  </a:cubicBezTo>
                  <a:cubicBezTo>
                    <a:pt x="1816" y="17"/>
                    <a:pt x="1787" y="0"/>
                    <a:pt x="1757" y="0"/>
                  </a:cubicBezTo>
                  <a:moveTo>
                    <a:pt x="1732" y="1000"/>
                  </a:moveTo>
                  <a:cubicBezTo>
                    <a:pt x="76" y="1000"/>
                    <a:pt x="76" y="1000"/>
                    <a:pt x="76" y="1000"/>
                  </a:cubicBezTo>
                  <a:cubicBezTo>
                    <a:pt x="76" y="68"/>
                    <a:pt x="76" y="68"/>
                    <a:pt x="76" y="68"/>
                  </a:cubicBezTo>
                  <a:cubicBezTo>
                    <a:pt x="1732" y="68"/>
                    <a:pt x="1732" y="68"/>
                    <a:pt x="1732" y="68"/>
                  </a:cubicBezTo>
                  <a:cubicBezTo>
                    <a:pt x="1732" y="1000"/>
                    <a:pt x="1732" y="1000"/>
                    <a:pt x="1732" y="1000"/>
                  </a:cubicBezTo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2311744" y="1247618"/>
              <a:ext cx="3979748" cy="2259869"/>
            </a:xfrm>
            <a:custGeom>
              <a:avLst/>
              <a:gdLst/>
              <a:ahLst/>
              <a:cxnLst>
                <a:cxn ang="0">
                  <a:pos x="1872" y="0"/>
                </a:cxn>
                <a:cxn ang="0">
                  <a:pos x="0" y="0"/>
                </a:cxn>
                <a:cxn ang="0">
                  <a:pos x="1872" y="1063"/>
                </a:cxn>
                <a:cxn ang="0">
                  <a:pos x="1872" y="0"/>
                </a:cxn>
              </a:cxnLst>
              <a:rect l="0" t="0" r="r" b="b"/>
              <a:pathLst>
                <a:path w="1872" h="1063">
                  <a:moveTo>
                    <a:pt x="1872" y="0"/>
                  </a:moveTo>
                  <a:lnTo>
                    <a:pt x="0" y="0"/>
                  </a:lnTo>
                  <a:lnTo>
                    <a:pt x="1872" y="1063"/>
                  </a:lnTo>
                  <a:lnTo>
                    <a:pt x="1872" y="0"/>
                  </a:lnTo>
                  <a:close/>
                </a:path>
              </a:pathLst>
            </a:custGeom>
            <a:solidFill>
              <a:srgbClr val="FFFFFF">
                <a:alpha val="16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5" name="Freeform 27"/>
            <p:cNvSpPr>
              <a:spLocks/>
            </p:cNvSpPr>
            <p:nvPr/>
          </p:nvSpPr>
          <p:spPr bwMode="auto">
            <a:xfrm>
              <a:off x="2094899" y="3690315"/>
              <a:ext cx="4400683" cy="3975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"/>
                </a:cxn>
                <a:cxn ang="0">
                  <a:pos x="56" y="164"/>
                </a:cxn>
                <a:cxn ang="0">
                  <a:pos x="893" y="164"/>
                </a:cxn>
                <a:cxn ang="0">
                  <a:pos x="921" y="164"/>
                </a:cxn>
                <a:cxn ang="0">
                  <a:pos x="1757" y="164"/>
                </a:cxn>
                <a:cxn ang="0">
                  <a:pos x="1816" y="100"/>
                </a:cxn>
                <a:cxn ang="0">
                  <a:pos x="1816" y="0"/>
                </a:cxn>
                <a:cxn ang="0">
                  <a:pos x="0" y="0"/>
                </a:cxn>
              </a:cxnLst>
              <a:rect l="0" t="0" r="r" b="b"/>
              <a:pathLst>
                <a:path w="1816" h="164">
                  <a:moveTo>
                    <a:pt x="0" y="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30"/>
                    <a:pt x="27" y="164"/>
                    <a:pt x="56" y="164"/>
                  </a:cubicBezTo>
                  <a:cubicBezTo>
                    <a:pt x="893" y="164"/>
                    <a:pt x="893" y="164"/>
                    <a:pt x="893" y="164"/>
                  </a:cubicBezTo>
                  <a:cubicBezTo>
                    <a:pt x="921" y="164"/>
                    <a:pt x="921" y="164"/>
                    <a:pt x="921" y="164"/>
                  </a:cubicBezTo>
                  <a:cubicBezTo>
                    <a:pt x="1757" y="164"/>
                    <a:pt x="1757" y="164"/>
                    <a:pt x="1757" y="164"/>
                  </a:cubicBezTo>
                  <a:cubicBezTo>
                    <a:pt x="1787" y="164"/>
                    <a:pt x="1816" y="130"/>
                    <a:pt x="1816" y="100"/>
                  </a:cubicBezTo>
                  <a:cubicBezTo>
                    <a:pt x="1816" y="0"/>
                    <a:pt x="1816" y="0"/>
                    <a:pt x="1816" y="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83000">
                  <a:schemeClr val="bg1">
                    <a:lumMod val="75000"/>
                  </a:schemeClr>
                </a:gs>
                <a:gs pos="54000">
                  <a:schemeClr val="bg1">
                    <a:lumMod val="85000"/>
                  </a:schemeClr>
                </a:gs>
              </a:gsLst>
              <a:lin ang="18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2400" dirty="0"/>
                <a:t> </a:t>
              </a:r>
            </a:p>
          </p:txBody>
        </p:sp>
        <p:sp>
          <p:nvSpPr>
            <p:cNvPr id="26" name="Freeform 29"/>
            <p:cNvSpPr>
              <a:spLocks/>
            </p:cNvSpPr>
            <p:nvPr/>
          </p:nvSpPr>
          <p:spPr bwMode="auto">
            <a:xfrm>
              <a:off x="3506519" y="4087866"/>
              <a:ext cx="1590198" cy="495343"/>
            </a:xfrm>
            <a:custGeom>
              <a:avLst/>
              <a:gdLst/>
              <a:ahLst/>
              <a:cxnLst>
                <a:cxn ang="0">
                  <a:pos x="335" y="0"/>
                </a:cxn>
                <a:cxn ang="0">
                  <a:pos x="322" y="0"/>
                </a:cxn>
                <a:cxn ang="0">
                  <a:pos x="143" y="0"/>
                </a:cxn>
                <a:cxn ang="0">
                  <a:pos x="102" y="128"/>
                </a:cxn>
                <a:cxn ang="0">
                  <a:pos x="108" y="204"/>
                </a:cxn>
                <a:cxn ang="0">
                  <a:pos x="322" y="204"/>
                </a:cxn>
                <a:cxn ang="0">
                  <a:pos x="335" y="204"/>
                </a:cxn>
                <a:cxn ang="0">
                  <a:pos x="549" y="204"/>
                </a:cxn>
                <a:cxn ang="0">
                  <a:pos x="555" y="128"/>
                </a:cxn>
                <a:cxn ang="0">
                  <a:pos x="513" y="0"/>
                </a:cxn>
                <a:cxn ang="0">
                  <a:pos x="335" y="0"/>
                </a:cxn>
              </a:cxnLst>
              <a:rect l="0" t="0" r="r" b="b"/>
              <a:pathLst>
                <a:path w="656" h="204">
                  <a:moveTo>
                    <a:pt x="335" y="0"/>
                  </a:moveTo>
                  <a:cubicBezTo>
                    <a:pt x="322" y="0"/>
                    <a:pt x="322" y="0"/>
                    <a:pt x="322" y="0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142" y="88"/>
                    <a:pt x="102" y="128"/>
                  </a:cubicBezTo>
                  <a:cubicBezTo>
                    <a:pt x="62" y="169"/>
                    <a:pt x="0" y="204"/>
                    <a:pt x="108" y="204"/>
                  </a:cubicBezTo>
                  <a:cubicBezTo>
                    <a:pt x="322" y="204"/>
                    <a:pt x="322" y="204"/>
                    <a:pt x="322" y="204"/>
                  </a:cubicBezTo>
                  <a:cubicBezTo>
                    <a:pt x="335" y="204"/>
                    <a:pt x="335" y="204"/>
                    <a:pt x="335" y="204"/>
                  </a:cubicBezTo>
                  <a:cubicBezTo>
                    <a:pt x="549" y="204"/>
                    <a:pt x="549" y="204"/>
                    <a:pt x="549" y="204"/>
                  </a:cubicBezTo>
                  <a:cubicBezTo>
                    <a:pt x="656" y="204"/>
                    <a:pt x="594" y="169"/>
                    <a:pt x="555" y="128"/>
                  </a:cubicBezTo>
                  <a:cubicBezTo>
                    <a:pt x="515" y="88"/>
                    <a:pt x="513" y="0"/>
                    <a:pt x="513" y="0"/>
                  </a:cubicBezTo>
                  <a:lnTo>
                    <a:pt x="335" y="0"/>
                  </a:lnTo>
                  <a:close/>
                </a:path>
              </a:pathLst>
            </a:custGeom>
            <a:gradFill>
              <a:gsLst>
                <a:gs pos="42000">
                  <a:schemeClr val="bg1">
                    <a:lumMod val="75000"/>
                  </a:schemeClr>
                </a:gs>
                <a:gs pos="6000">
                  <a:schemeClr val="bg1">
                    <a:lumMod val="85000"/>
                  </a:schemeClr>
                </a:gs>
                <a:gs pos="0">
                  <a:schemeClr val="bg1">
                    <a:lumMod val="65000"/>
                  </a:schemeClr>
                </a:gs>
              </a:gsLst>
              <a:lin ang="540000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2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5808961" y="1823491"/>
            <a:ext cx="5344831" cy="3013159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3" name="Oval 12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24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3878174" y="1674245"/>
            <a:ext cx="4435653" cy="5748840"/>
            <a:chOff x="2908630" y="1255684"/>
            <a:chExt cx="3326740" cy="4311630"/>
          </a:xfrm>
        </p:grpSpPr>
        <p:grpSp>
          <p:nvGrpSpPr>
            <p:cNvPr id="14" name="Group 66"/>
            <p:cNvGrpSpPr/>
            <p:nvPr/>
          </p:nvGrpSpPr>
          <p:grpSpPr>
            <a:xfrm>
              <a:off x="2908630" y="1255684"/>
              <a:ext cx="3326740" cy="4311630"/>
              <a:chOff x="1208088" y="2017712"/>
              <a:chExt cx="1206500" cy="1563688"/>
            </a:xfrm>
          </p:grpSpPr>
          <p:sp>
            <p:nvSpPr>
              <p:cNvPr id="18" name="Rectangle 6"/>
              <p:cNvSpPr>
                <a:spLocks noChangeArrowheads="1"/>
              </p:cNvSpPr>
              <p:nvPr/>
            </p:nvSpPr>
            <p:spPr bwMode="auto">
              <a:xfrm>
                <a:off x="1319213" y="2152650"/>
                <a:ext cx="969963" cy="129698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19" name="Rectangle 7"/>
              <p:cNvSpPr>
                <a:spLocks noChangeArrowheads="1"/>
              </p:cNvSpPr>
              <p:nvPr/>
            </p:nvSpPr>
            <p:spPr bwMode="auto">
              <a:xfrm>
                <a:off x="1319213" y="2152650"/>
                <a:ext cx="969963" cy="12969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20" name="Freeform 8"/>
              <p:cNvSpPr>
                <a:spLocks noEditPoints="1"/>
              </p:cNvSpPr>
              <p:nvPr/>
            </p:nvSpPr>
            <p:spPr bwMode="auto">
              <a:xfrm>
                <a:off x="1208088" y="2017712"/>
                <a:ext cx="1206500" cy="1563688"/>
              </a:xfrm>
              <a:custGeom>
                <a:avLst/>
                <a:gdLst/>
                <a:ahLst/>
                <a:cxnLst>
                  <a:cxn ang="0">
                    <a:pos x="666" y="35"/>
                  </a:cxn>
                  <a:cxn ang="0">
                    <a:pos x="631" y="0"/>
                  </a:cxn>
                  <a:cxn ang="0">
                    <a:pos x="34" y="0"/>
                  </a:cxn>
                  <a:cxn ang="0">
                    <a:pos x="0" y="35"/>
                  </a:cxn>
                  <a:cxn ang="0">
                    <a:pos x="0" y="829"/>
                  </a:cxn>
                  <a:cxn ang="0">
                    <a:pos x="34" y="864"/>
                  </a:cxn>
                  <a:cxn ang="0">
                    <a:pos x="631" y="864"/>
                  </a:cxn>
                  <a:cxn ang="0">
                    <a:pos x="666" y="829"/>
                  </a:cxn>
                  <a:cxn ang="0">
                    <a:pos x="666" y="35"/>
                  </a:cxn>
                  <a:cxn ang="0">
                    <a:pos x="597" y="791"/>
                  </a:cxn>
                  <a:cxn ang="0">
                    <a:pos x="66" y="791"/>
                  </a:cxn>
                  <a:cxn ang="0">
                    <a:pos x="66" y="76"/>
                  </a:cxn>
                  <a:cxn ang="0">
                    <a:pos x="597" y="76"/>
                  </a:cxn>
                  <a:cxn ang="0">
                    <a:pos x="597" y="791"/>
                  </a:cxn>
                </a:cxnLst>
                <a:rect l="0" t="0" r="r" b="b"/>
                <a:pathLst>
                  <a:path w="666" h="864">
                    <a:moveTo>
                      <a:pt x="666" y="35"/>
                    </a:moveTo>
                    <a:cubicBezTo>
                      <a:pt x="666" y="16"/>
                      <a:pt x="650" y="0"/>
                      <a:pt x="631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5" y="0"/>
                      <a:pt x="0" y="16"/>
                      <a:pt x="0" y="35"/>
                    </a:cubicBezTo>
                    <a:cubicBezTo>
                      <a:pt x="0" y="829"/>
                      <a:pt x="0" y="829"/>
                      <a:pt x="0" y="829"/>
                    </a:cubicBezTo>
                    <a:cubicBezTo>
                      <a:pt x="0" y="849"/>
                      <a:pt x="15" y="864"/>
                      <a:pt x="34" y="864"/>
                    </a:cubicBezTo>
                    <a:cubicBezTo>
                      <a:pt x="631" y="864"/>
                      <a:pt x="631" y="864"/>
                      <a:pt x="631" y="864"/>
                    </a:cubicBezTo>
                    <a:cubicBezTo>
                      <a:pt x="650" y="864"/>
                      <a:pt x="666" y="849"/>
                      <a:pt x="666" y="829"/>
                    </a:cubicBezTo>
                    <a:cubicBezTo>
                      <a:pt x="666" y="35"/>
                      <a:pt x="666" y="35"/>
                      <a:pt x="666" y="35"/>
                    </a:cubicBezTo>
                    <a:moveTo>
                      <a:pt x="597" y="791"/>
                    </a:moveTo>
                    <a:cubicBezTo>
                      <a:pt x="66" y="791"/>
                      <a:pt x="66" y="791"/>
                      <a:pt x="66" y="791"/>
                    </a:cubicBezTo>
                    <a:cubicBezTo>
                      <a:pt x="66" y="76"/>
                      <a:pt x="66" y="76"/>
                      <a:pt x="66" y="76"/>
                    </a:cubicBezTo>
                    <a:cubicBezTo>
                      <a:pt x="597" y="76"/>
                      <a:pt x="597" y="76"/>
                      <a:pt x="597" y="76"/>
                    </a:cubicBezTo>
                    <a:cubicBezTo>
                      <a:pt x="597" y="791"/>
                      <a:pt x="597" y="791"/>
                      <a:pt x="597" y="791"/>
                    </a:cubicBezTo>
                  </a:path>
                </a:pathLst>
              </a:custGeom>
              <a:solidFill>
                <a:schemeClr val="tx1">
                  <a:lumMod val="90000"/>
                  <a:lumOff val="1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</p:grpSp>
        <p:sp>
          <p:nvSpPr>
            <p:cNvPr id="15" name="Oval 14"/>
            <p:cNvSpPr/>
            <p:nvPr/>
          </p:nvSpPr>
          <p:spPr>
            <a:xfrm>
              <a:off x="4471627" y="1357124"/>
              <a:ext cx="200746" cy="20074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2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286721" y="2170340"/>
            <a:ext cx="3566033" cy="4768328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21" name="Oval 20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69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516467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667" b="1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985788"/>
            <a:ext cx="5486400" cy="26766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467" b="1" baseline="0">
                <a:solidFill>
                  <a:schemeClr val="bg1">
                    <a:lumMod val="75000"/>
                  </a:schemeClr>
                </a:solidFill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grpSp>
        <p:nvGrpSpPr>
          <p:cNvPr id="41" name="Group 300"/>
          <p:cNvGrpSpPr/>
          <p:nvPr userDrawn="1"/>
        </p:nvGrpSpPr>
        <p:grpSpPr>
          <a:xfrm>
            <a:off x="996304" y="1975549"/>
            <a:ext cx="5176696" cy="2707424"/>
            <a:chOff x="2844800" y="1304396"/>
            <a:chExt cx="2803525" cy="1466250"/>
          </a:xfrm>
        </p:grpSpPr>
        <p:grpSp>
          <p:nvGrpSpPr>
            <p:cNvPr id="42" name="Group 44"/>
            <p:cNvGrpSpPr/>
            <p:nvPr/>
          </p:nvGrpSpPr>
          <p:grpSpPr>
            <a:xfrm>
              <a:off x="3209925" y="1304396"/>
              <a:ext cx="2073275" cy="1397000"/>
              <a:chOff x="4843457" y="992546"/>
              <a:chExt cx="2073275" cy="1397000"/>
            </a:xfrm>
          </p:grpSpPr>
          <p:sp>
            <p:nvSpPr>
              <p:cNvPr id="47" name="Freeform 12"/>
              <p:cNvSpPr>
                <a:spLocks/>
              </p:cNvSpPr>
              <p:nvPr/>
            </p:nvSpPr>
            <p:spPr bwMode="auto">
              <a:xfrm>
                <a:off x="4843457" y="992546"/>
                <a:ext cx="2073275" cy="1397000"/>
              </a:xfrm>
              <a:custGeom>
                <a:avLst/>
                <a:gdLst/>
                <a:ahLst/>
                <a:cxnLst>
                  <a:cxn ang="0">
                    <a:pos x="1146" y="737"/>
                  </a:cxn>
                  <a:cxn ang="0">
                    <a:pos x="1120" y="772"/>
                  </a:cxn>
                  <a:cxn ang="0">
                    <a:pos x="26" y="772"/>
                  </a:cxn>
                  <a:cxn ang="0">
                    <a:pos x="0" y="737"/>
                  </a:cxn>
                  <a:cxn ang="0">
                    <a:pos x="0" y="35"/>
                  </a:cxn>
                  <a:cxn ang="0">
                    <a:pos x="26" y="0"/>
                  </a:cxn>
                  <a:cxn ang="0">
                    <a:pos x="1120" y="0"/>
                  </a:cxn>
                  <a:cxn ang="0">
                    <a:pos x="1146" y="35"/>
                  </a:cxn>
                  <a:cxn ang="0">
                    <a:pos x="1146" y="737"/>
                  </a:cxn>
                </a:cxnLst>
                <a:rect l="0" t="0" r="r" b="b"/>
                <a:pathLst>
                  <a:path w="1146" h="772">
                    <a:moveTo>
                      <a:pt x="1146" y="737"/>
                    </a:moveTo>
                    <a:cubicBezTo>
                      <a:pt x="1146" y="756"/>
                      <a:pt x="1134" y="772"/>
                      <a:pt x="1120" y="772"/>
                    </a:cubicBezTo>
                    <a:cubicBezTo>
                      <a:pt x="26" y="772"/>
                      <a:pt x="26" y="772"/>
                      <a:pt x="26" y="772"/>
                    </a:cubicBezTo>
                    <a:cubicBezTo>
                      <a:pt x="12" y="772"/>
                      <a:pt x="0" y="756"/>
                      <a:pt x="0" y="737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6"/>
                      <a:pt x="12" y="0"/>
                      <a:pt x="26" y="0"/>
                    </a:cubicBezTo>
                    <a:cubicBezTo>
                      <a:pt x="1120" y="0"/>
                      <a:pt x="1120" y="0"/>
                      <a:pt x="1120" y="0"/>
                    </a:cubicBezTo>
                    <a:cubicBezTo>
                      <a:pt x="1134" y="0"/>
                      <a:pt x="1146" y="16"/>
                      <a:pt x="1146" y="35"/>
                    </a:cubicBezTo>
                    <a:cubicBezTo>
                      <a:pt x="1146" y="737"/>
                      <a:pt x="1146" y="737"/>
                      <a:pt x="1146" y="737"/>
                    </a:cubicBezTo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48" name="Rectangle 13"/>
              <p:cNvSpPr>
                <a:spLocks noChangeArrowheads="1"/>
              </p:cNvSpPr>
              <p:nvPr/>
            </p:nvSpPr>
            <p:spPr bwMode="auto">
              <a:xfrm>
                <a:off x="4926007" y="1068746"/>
                <a:ext cx="1914525" cy="11811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49" name="Freeform 21"/>
              <p:cNvSpPr>
                <a:spLocks/>
              </p:cNvSpPr>
              <p:nvPr/>
            </p:nvSpPr>
            <p:spPr bwMode="auto">
              <a:xfrm>
                <a:off x="4936351" y="1068746"/>
                <a:ext cx="1901825" cy="1089025"/>
              </a:xfrm>
              <a:custGeom>
                <a:avLst/>
                <a:gdLst/>
                <a:ahLst/>
                <a:cxnLst>
                  <a:cxn ang="0">
                    <a:pos x="1198" y="0"/>
                  </a:cxn>
                  <a:cxn ang="0">
                    <a:pos x="0" y="0"/>
                  </a:cxn>
                  <a:cxn ang="0">
                    <a:pos x="1198" y="686"/>
                  </a:cxn>
                  <a:cxn ang="0">
                    <a:pos x="1198" y="0"/>
                  </a:cxn>
                </a:cxnLst>
                <a:rect l="0" t="0" r="r" b="b"/>
                <a:pathLst>
                  <a:path w="1198" h="686">
                    <a:moveTo>
                      <a:pt x="1198" y="0"/>
                    </a:moveTo>
                    <a:lnTo>
                      <a:pt x="0" y="0"/>
                    </a:lnTo>
                    <a:lnTo>
                      <a:pt x="1198" y="686"/>
                    </a:lnTo>
                    <a:lnTo>
                      <a:pt x="1198" y="0"/>
                    </a:lnTo>
                    <a:close/>
                  </a:path>
                </a:pathLst>
              </a:custGeom>
              <a:solidFill>
                <a:schemeClr val="bg1">
                  <a:alpha val="23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844800" y="2648409"/>
              <a:ext cx="2803525" cy="122237"/>
              <a:chOff x="4462463" y="2425701"/>
              <a:chExt cx="2803525" cy="122237"/>
            </a:xfrm>
          </p:grpSpPr>
          <p:sp>
            <p:nvSpPr>
              <p:cNvPr id="44" name="Freeform 15"/>
              <p:cNvSpPr>
                <a:spLocks/>
              </p:cNvSpPr>
              <p:nvPr/>
            </p:nvSpPr>
            <p:spPr bwMode="auto">
              <a:xfrm>
                <a:off x="4462463" y="2481263"/>
                <a:ext cx="2800350" cy="66675"/>
              </a:xfrm>
              <a:custGeom>
                <a:avLst/>
                <a:gdLst/>
                <a:ahLst/>
                <a:cxnLst>
                  <a:cxn ang="0">
                    <a:pos x="10" y="5"/>
                  </a:cxn>
                  <a:cxn ang="0">
                    <a:pos x="68" y="37"/>
                  </a:cxn>
                  <a:cxn ang="0">
                    <a:pos x="1487" y="37"/>
                  </a:cxn>
                  <a:cxn ang="0">
                    <a:pos x="1546" y="12"/>
                  </a:cxn>
                  <a:cxn ang="0">
                    <a:pos x="1547" y="0"/>
                  </a:cxn>
                  <a:cxn ang="0">
                    <a:pos x="10" y="5"/>
                  </a:cxn>
                </a:cxnLst>
                <a:rect l="0" t="0" r="r" b="b"/>
                <a:pathLst>
                  <a:path w="1547" h="37">
                    <a:moveTo>
                      <a:pt x="10" y="5"/>
                    </a:moveTo>
                    <a:cubicBezTo>
                      <a:pt x="10" y="5"/>
                      <a:pt x="0" y="23"/>
                      <a:pt x="68" y="37"/>
                    </a:cubicBezTo>
                    <a:cubicBezTo>
                      <a:pt x="1487" y="37"/>
                      <a:pt x="1487" y="37"/>
                      <a:pt x="1487" y="37"/>
                    </a:cubicBezTo>
                    <a:cubicBezTo>
                      <a:pt x="1487" y="37"/>
                      <a:pt x="1534" y="34"/>
                      <a:pt x="1546" y="12"/>
                    </a:cubicBezTo>
                    <a:cubicBezTo>
                      <a:pt x="1547" y="0"/>
                      <a:pt x="1547" y="0"/>
                      <a:pt x="1547" y="0"/>
                    </a:cubicBezTo>
                    <a:lnTo>
                      <a:pt x="10" y="5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45" name="Freeform 16"/>
              <p:cNvSpPr>
                <a:spLocks/>
              </p:cNvSpPr>
              <p:nvPr/>
            </p:nvSpPr>
            <p:spPr bwMode="auto">
              <a:xfrm>
                <a:off x="4478338" y="2425701"/>
                <a:ext cx="2787650" cy="841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38"/>
                  </a:cxn>
                  <a:cxn ang="0">
                    <a:pos x="16" y="43"/>
                  </a:cxn>
                  <a:cxn ang="0">
                    <a:pos x="1522" y="43"/>
                  </a:cxn>
                  <a:cxn ang="0">
                    <a:pos x="1538" y="40"/>
                  </a:cxn>
                  <a:cxn ang="0">
                    <a:pos x="1538" y="0"/>
                  </a:cxn>
                  <a:cxn ang="0">
                    <a:pos x="1" y="0"/>
                  </a:cxn>
                </a:cxnLst>
                <a:rect l="0" t="0" r="r" b="b"/>
                <a:pathLst>
                  <a:path w="1540" h="47">
                    <a:moveTo>
                      <a:pt x="1" y="0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1" y="47"/>
                      <a:pt x="16" y="43"/>
                      <a:pt x="16" y="43"/>
                    </a:cubicBezTo>
                    <a:cubicBezTo>
                      <a:pt x="1522" y="43"/>
                      <a:pt x="1522" y="43"/>
                      <a:pt x="1522" y="43"/>
                    </a:cubicBezTo>
                    <a:cubicBezTo>
                      <a:pt x="1540" y="45"/>
                      <a:pt x="1538" y="40"/>
                      <a:pt x="1538" y="40"/>
                    </a:cubicBezTo>
                    <a:cubicBezTo>
                      <a:pt x="1538" y="0"/>
                      <a:pt x="1538" y="0"/>
                      <a:pt x="1538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42000">
                    <a:schemeClr val="bg1">
                      <a:lumMod val="75000"/>
                    </a:schemeClr>
                  </a:gs>
                  <a:gs pos="6000">
                    <a:schemeClr val="bg1">
                      <a:lumMod val="85000"/>
                    </a:schemeClr>
                  </a:gs>
                  <a:gs pos="0">
                    <a:schemeClr val="bg1">
                      <a:lumMod val="65000"/>
                    </a:schemeClr>
                  </a:gs>
                </a:gsLst>
                <a:lin ang="5400000" scaled="0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  <p:sp>
            <p:nvSpPr>
              <p:cNvPr id="46" name="Freeform 31"/>
              <p:cNvSpPr>
                <a:spLocks/>
              </p:cNvSpPr>
              <p:nvPr/>
            </p:nvSpPr>
            <p:spPr bwMode="auto">
              <a:xfrm>
                <a:off x="5672138" y="2425701"/>
                <a:ext cx="392113" cy="44450"/>
              </a:xfrm>
              <a:custGeom>
                <a:avLst/>
                <a:gdLst/>
                <a:ahLst/>
                <a:cxnLst>
                  <a:cxn ang="0">
                    <a:pos x="20" y="22"/>
                  </a:cxn>
                  <a:cxn ang="0">
                    <a:pos x="198" y="22"/>
                  </a:cxn>
                  <a:cxn ang="0">
                    <a:pos x="215" y="1"/>
                  </a:cxn>
                  <a:cxn ang="0">
                    <a:pos x="6" y="0"/>
                  </a:cxn>
                  <a:cxn ang="0">
                    <a:pos x="20" y="22"/>
                  </a:cxn>
                </a:cxnLst>
                <a:rect l="0" t="0" r="r" b="b"/>
                <a:pathLst>
                  <a:path w="217" h="25">
                    <a:moveTo>
                      <a:pt x="20" y="22"/>
                    </a:moveTo>
                    <a:cubicBezTo>
                      <a:pt x="198" y="22"/>
                      <a:pt x="198" y="22"/>
                      <a:pt x="198" y="22"/>
                    </a:cubicBezTo>
                    <a:cubicBezTo>
                      <a:pt x="198" y="22"/>
                      <a:pt x="217" y="25"/>
                      <a:pt x="215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0" y="20"/>
                      <a:pt x="20" y="2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/>
              </a:p>
            </p:txBody>
          </p:sp>
        </p:grpSp>
      </p:grpSp>
      <p:sp>
        <p:nvSpPr>
          <p:cNvPr id="50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822933" y="2116253"/>
            <a:ext cx="3535163" cy="2180896"/>
          </a:xfrm>
          <a:prstGeom prst="rect">
            <a:avLst/>
          </a:prstGeom>
          <a:ln>
            <a:noFill/>
          </a:ln>
        </p:spPr>
        <p:txBody>
          <a:bodyPr bIns="457200" anchor="b"/>
          <a:lstStyle>
            <a:lvl1pPr algn="ctr">
              <a:buNone/>
              <a:defRPr sz="146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222203" y="6256701"/>
            <a:ext cx="384047" cy="384047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106" y="6265633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12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e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0253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Off-page Connector 6"/>
          <p:cNvSpPr/>
          <p:nvPr userDrawn="1"/>
        </p:nvSpPr>
        <p:spPr>
          <a:xfrm rot="5400000">
            <a:off x="11681289" y="6247141"/>
            <a:ext cx="455692" cy="565727"/>
          </a:xfrm>
          <a:prstGeom prst="flowChartOffpage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3206" y="6340867"/>
            <a:ext cx="610241" cy="366183"/>
          </a:xfrm>
          <a:prstGeom prst="rect">
            <a:avLst/>
          </a:prstGeom>
        </p:spPr>
        <p:txBody>
          <a:bodyPr anchor="ctr"/>
          <a:lstStyle>
            <a:lvl1pPr algn="ctr">
              <a:defRPr sz="1333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36B7D2-B98C-44FD-8D04-7EC62A5649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49117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356628"/>
            <a:ext cx="7518400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3200" b="1" baseline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52800" y="825950"/>
            <a:ext cx="5486400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76354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0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42" Type="http://schemas.openxmlformats.org/officeDocument/2006/relationships/slideLayout" Target="../slideLayouts/slideLayout55.xml"/><Relationship Id="rId47" Type="http://schemas.openxmlformats.org/officeDocument/2006/relationships/slideLayout" Target="../slideLayouts/slideLayout60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Relationship Id="rId46" Type="http://schemas.openxmlformats.org/officeDocument/2006/relationships/slideLayout" Target="../slideLayouts/slideLayout59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45" Type="http://schemas.openxmlformats.org/officeDocument/2006/relationships/slideLayout" Target="../slideLayouts/slideLayout58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4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4" Type="http://schemas.openxmlformats.org/officeDocument/2006/relationships/slideLayout" Target="../slideLayouts/slideLayout57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56.xml"/><Relationship Id="rId48" Type="http://schemas.openxmlformats.org/officeDocument/2006/relationships/slideLayout" Target="../slideLayouts/slideLayout61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58D859-DEA2-071B-DB89-FC15D3867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34176-B0E6-F4BE-2362-979F5C598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369BF-4731-C509-B359-152A78AEB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ABAD9-B423-41FC-8F09-4A4CEC6B4078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7D471-E0C8-2777-E4DD-5AFB82786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EA5D4-316E-4D59-A70F-6115BDA00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7C9CD-AD2C-4B04-B554-1AA945513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2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208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7" r:id="rId32"/>
    <p:sldLayoutId id="2147483708" r:id="rId33"/>
    <p:sldLayoutId id="2147483709" r:id="rId34"/>
    <p:sldLayoutId id="2147483710" r:id="rId35"/>
    <p:sldLayoutId id="2147483711" r:id="rId36"/>
    <p:sldLayoutId id="2147483712" r:id="rId37"/>
    <p:sldLayoutId id="2147483713" r:id="rId38"/>
    <p:sldLayoutId id="2147483714" r:id="rId39"/>
    <p:sldLayoutId id="2147483715" r:id="rId40"/>
    <p:sldLayoutId id="2147483716" r:id="rId41"/>
    <p:sldLayoutId id="2147483717" r:id="rId42"/>
    <p:sldLayoutId id="2147483718" r:id="rId43"/>
    <p:sldLayoutId id="2147483719" r:id="rId44"/>
    <p:sldLayoutId id="2147483720" r:id="rId45"/>
    <p:sldLayoutId id="2147483721" r:id="rId46"/>
    <p:sldLayoutId id="2147483722" r:id="rId47"/>
    <p:sldLayoutId id="2147483723" r:id="rId48"/>
    <p:sldLayoutId id="2147483724" r:id="rId49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2867216#.YpSK3i0QPT9" TargetMode="External"/><Relationship Id="rId2" Type="http://schemas.openxmlformats.org/officeDocument/2006/relationships/hyperlink" Target="https://ieee-dataport.org/open-access/italian-parkinsons-voice-and-speech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osf.io/preprints/osf/5pwze" TargetMode="External"/><Relationship Id="rId4" Type="http://schemas.openxmlformats.org/officeDocument/2006/relationships/hyperlink" Target="https://arxiv.org/pdf/2111.10207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3870F5A-B12A-265E-6805-B4BDDD754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86B837F-6C98-523C-9AA4-115316CFF9E0}"/>
              </a:ext>
            </a:extLst>
          </p:cNvPr>
          <p:cNvSpPr txBox="1"/>
          <p:nvPr/>
        </p:nvSpPr>
        <p:spPr>
          <a:xfrm>
            <a:off x="-3047" y="132918"/>
            <a:ext cx="12188952" cy="15824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Early Detection of Parkinson through Speech Analysis</a:t>
            </a:r>
          </a:p>
        </p:txBody>
      </p:sp>
      <p:sp>
        <p:nvSpPr>
          <p:cNvPr id="55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72CEDC-EE4A-F4E3-4E15-80315B50E298}"/>
              </a:ext>
            </a:extLst>
          </p:cNvPr>
          <p:cNvSpPr txBox="1"/>
          <p:nvPr/>
        </p:nvSpPr>
        <p:spPr>
          <a:xfrm>
            <a:off x="603315" y="5461686"/>
            <a:ext cx="10727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Akshay Channam                                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Addanki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Naveen                                  Ram Swarup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Bavikati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58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4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79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81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91EC8-52B5-3CC0-ABF4-AC5249BA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460" y="1291471"/>
            <a:ext cx="3272324" cy="40063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Parkinson’s Disease​</a:t>
            </a:r>
            <a:endParaRPr lang="en-US" b="1" u="sng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00" name="Freeform: Shape 83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1" name="Freeform: Shape 85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87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EAA8E-23AA-53B0-CB74-F220D924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63907" y="1899464"/>
            <a:ext cx="4991517" cy="3266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/>
              <a:t>Parkinson’s Disease (PD) is a </a:t>
            </a:r>
            <a:r>
              <a:rPr lang="en-US" sz="1600" b="1" dirty="0"/>
              <a:t>progressive neurodegenerative disorder</a:t>
            </a:r>
            <a:r>
              <a:rPr lang="en-US" sz="1600" dirty="0"/>
              <a:t> primarily affecting </a:t>
            </a:r>
            <a:r>
              <a:rPr lang="en-US" sz="1600" b="1" dirty="0"/>
              <a:t>dopamine-producing neurons</a:t>
            </a:r>
            <a:r>
              <a:rPr lang="en-US" sz="1600" dirty="0"/>
              <a:t>. The disease manifests through motor symptoms such as </a:t>
            </a:r>
            <a:r>
              <a:rPr lang="en-US" sz="1600" b="1" dirty="0"/>
              <a:t>tremors</a:t>
            </a:r>
            <a:r>
              <a:rPr lang="en-US" sz="1600" dirty="0"/>
              <a:t>, </a:t>
            </a:r>
            <a:r>
              <a:rPr lang="en-US" sz="1600" b="1" dirty="0"/>
              <a:t>rigidity</a:t>
            </a:r>
            <a:r>
              <a:rPr lang="en-US" sz="1600" dirty="0"/>
              <a:t>, </a:t>
            </a:r>
            <a:r>
              <a:rPr lang="en-US" sz="1600" b="1" dirty="0"/>
              <a:t>bradykinesia</a:t>
            </a:r>
            <a:r>
              <a:rPr lang="en-US" sz="1600" dirty="0"/>
              <a:t>, and </a:t>
            </a:r>
            <a:r>
              <a:rPr lang="en-US" sz="1600" b="1" dirty="0"/>
              <a:t>postural instability</a:t>
            </a:r>
            <a:r>
              <a:rPr lang="en-US" sz="1600" dirty="0"/>
              <a:t>, along with non-motor symptoms like </a:t>
            </a:r>
            <a:r>
              <a:rPr lang="en-US" sz="1600" b="1" dirty="0"/>
              <a:t>speech impairments</a:t>
            </a:r>
            <a:r>
              <a:rPr lang="en-US" sz="1600" dirty="0"/>
              <a:t>, which are among the earliest indicators.</a:t>
            </a:r>
          </a:p>
          <a:p>
            <a:r>
              <a:rPr lang="en-US" sz="1600" dirty="0"/>
              <a:t>Despite its prevalence, diagnosing PD remains challenging due to the lack of </a:t>
            </a:r>
            <a:r>
              <a:rPr lang="en-US" sz="1600" b="1" dirty="0"/>
              <a:t>definitive biomarkers</a:t>
            </a:r>
            <a:r>
              <a:rPr lang="en-US" sz="1600" dirty="0"/>
              <a:t> or </a:t>
            </a:r>
            <a:r>
              <a:rPr lang="en-US" sz="1600" b="1" dirty="0"/>
              <a:t>reliable imaging tools</a:t>
            </a:r>
            <a:r>
              <a:rPr lang="en-US" sz="1600" dirty="0"/>
              <a:t>. Symptoms are often detected after </a:t>
            </a:r>
            <a:r>
              <a:rPr lang="en-US" sz="1600" b="1" dirty="0"/>
              <a:t>significant neuronal loss</a:t>
            </a:r>
            <a:r>
              <a:rPr lang="en-US" sz="1600" dirty="0"/>
              <a:t>, delaying intervention. Early diagnosis is critical for better </a:t>
            </a:r>
            <a:r>
              <a:rPr lang="en-US" sz="1600" b="1" dirty="0"/>
              <a:t>disease management</a:t>
            </a:r>
            <a:r>
              <a:rPr lang="en-US" sz="1600" dirty="0"/>
              <a:t> and improved patient outcomes.</a:t>
            </a:r>
          </a:p>
        </p:txBody>
      </p:sp>
      <p:sp>
        <p:nvSpPr>
          <p:cNvPr id="103" name="Freeform: Shape 89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Freeform: Shape 91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93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680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91EC8-52B5-3CC0-ABF4-AC5249BA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u="sng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EAA8E-23AA-53B0-CB74-F220D924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0728" y="959535"/>
            <a:ext cx="6297222" cy="52318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Problem:</a:t>
            </a:r>
          </a:p>
          <a:p>
            <a:r>
              <a:rPr lang="en-US" sz="1400" dirty="0"/>
              <a:t>Parkinson’s Disease affects millions globally, yet </a:t>
            </a:r>
            <a:r>
              <a:rPr lang="en-US" sz="1400" b="1" dirty="0"/>
              <a:t>early diagnosis</a:t>
            </a:r>
            <a:r>
              <a:rPr lang="en-US" sz="1400" dirty="0"/>
              <a:t> is hindered by the absence of </a:t>
            </a:r>
            <a:r>
              <a:rPr lang="en-US" sz="1400" b="1" dirty="0"/>
              <a:t>definitive tests</a:t>
            </a:r>
            <a:r>
              <a:rPr lang="en-US" sz="1400" dirty="0"/>
              <a:t>. Speech disturbances, observed in </a:t>
            </a:r>
            <a:r>
              <a:rPr lang="en-US" sz="1400" b="1" dirty="0"/>
              <a:t>90% of PD patients</a:t>
            </a:r>
            <a:r>
              <a:rPr lang="en-US" sz="1400" dirty="0"/>
              <a:t>, are often overlooked despite being an early symptom.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Need for Study:</a:t>
            </a:r>
          </a:p>
          <a:p>
            <a:r>
              <a:rPr lang="en-US" sz="1400" b="1" dirty="0"/>
              <a:t>Challenges in Diagnosis</a:t>
            </a:r>
            <a:r>
              <a:rPr lang="en-US" sz="1400" dirty="0"/>
              <a:t>: Imaging and laboratory tests fail to provide conclusive results.</a:t>
            </a:r>
          </a:p>
          <a:p>
            <a:r>
              <a:rPr lang="en-US" sz="1400" b="1" dirty="0"/>
              <a:t>Early Indicators</a:t>
            </a:r>
            <a:r>
              <a:rPr lang="en-US" sz="1400" dirty="0"/>
              <a:t>: Voice and prosody alterations are among the </a:t>
            </a:r>
            <a:r>
              <a:rPr lang="en-US" sz="1400" b="1" dirty="0"/>
              <a:t>first signs</a:t>
            </a:r>
            <a:r>
              <a:rPr lang="en-US" sz="1400" dirty="0"/>
              <a:t> of PD.</a:t>
            </a:r>
          </a:p>
          <a:p>
            <a:r>
              <a:rPr lang="en-US" sz="1400" b="1" dirty="0"/>
              <a:t>Solution</a:t>
            </a:r>
            <a:r>
              <a:rPr lang="en-US" sz="1400" dirty="0"/>
              <a:t>: Automating voice analysis using </a:t>
            </a:r>
            <a:r>
              <a:rPr lang="en-US" sz="1400" b="1" dirty="0"/>
              <a:t>machine learning</a:t>
            </a:r>
            <a:r>
              <a:rPr lang="en-US" sz="1400" dirty="0"/>
              <a:t> offers a reliable, language-independent approach to detect PD early and non-invasively.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Key Tools for Feature Extraction:</a:t>
            </a:r>
          </a:p>
          <a:p>
            <a:r>
              <a:rPr lang="en-US" sz="1400" b="1" dirty="0" err="1"/>
              <a:t>Praat</a:t>
            </a:r>
            <a:r>
              <a:rPr lang="en-US" sz="1400" dirty="0"/>
              <a:t>: Acoustic analysis, manual feature extraction, and visualization.</a:t>
            </a:r>
          </a:p>
          <a:p>
            <a:r>
              <a:rPr lang="en-US" sz="1400" b="1" dirty="0"/>
              <a:t>LIBROSA</a:t>
            </a:r>
            <a:r>
              <a:rPr lang="en-US" sz="1400" dirty="0"/>
              <a:t>: Standardized tool for processing acoustic data.</a:t>
            </a:r>
          </a:p>
          <a:p>
            <a:r>
              <a:rPr lang="en-US" sz="1400" b="1" dirty="0" err="1"/>
              <a:t>OpenSMILE</a:t>
            </a:r>
            <a:r>
              <a:rPr lang="en-US" sz="1400" dirty="0"/>
              <a:t>: Open-source software offering automated feature extraction across multiple datasets, including real-time capability.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36586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5BF6F64-3347-466A-B631-E1797504C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329938"/>
            <a:ext cx="5725212" cy="59288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b="1" dirty="0"/>
              <a:t>Speech as a Biomarker </a:t>
            </a:r>
          </a:p>
          <a:p>
            <a:pPr marL="0" indent="0">
              <a:buNone/>
            </a:pPr>
            <a:r>
              <a:rPr lang="en-US" sz="1400" dirty="0"/>
              <a:t>Speech provides an excellent biomarker for PD as it is </a:t>
            </a:r>
            <a:r>
              <a:rPr lang="en-US" sz="1400" b="1" dirty="0"/>
              <a:t>non-invasive</a:t>
            </a:r>
            <a:r>
              <a:rPr lang="en-US" sz="1400" dirty="0"/>
              <a:t>, </a:t>
            </a:r>
            <a:r>
              <a:rPr lang="en-US" sz="1400" b="1" dirty="0"/>
              <a:t>cost-effective</a:t>
            </a:r>
            <a:r>
              <a:rPr lang="en-US" sz="1400" dirty="0"/>
              <a:t>, and easily monitored. The disease affects multiple components of </a:t>
            </a:r>
            <a:r>
              <a:rPr lang="en-US" sz="1400" b="1" dirty="0"/>
              <a:t>speech production</a:t>
            </a:r>
            <a:r>
              <a:rPr lang="en-US" sz="1400" dirty="0"/>
              <a:t>:</a:t>
            </a:r>
          </a:p>
          <a:p>
            <a:r>
              <a:rPr lang="en-US" sz="1400" b="1" dirty="0"/>
              <a:t>Phonation Changes</a:t>
            </a:r>
            <a:r>
              <a:rPr lang="en-US" sz="1400" dirty="0"/>
              <a:t>: Reduced loudness, roughness, tremor in voice.</a:t>
            </a:r>
          </a:p>
          <a:p>
            <a:r>
              <a:rPr lang="en-US" sz="1400" b="1" dirty="0"/>
              <a:t>Articulation Challenges</a:t>
            </a:r>
            <a:r>
              <a:rPr lang="en-US" sz="1400" dirty="0"/>
              <a:t>: Imprecise consonants, reduced vowel space, slurred speech.</a:t>
            </a:r>
          </a:p>
          <a:p>
            <a:r>
              <a:rPr lang="en-US" sz="1400" b="1" dirty="0"/>
              <a:t>Prosodic Features</a:t>
            </a:r>
            <a:r>
              <a:rPr lang="en-US" sz="1400" dirty="0"/>
              <a:t>: Monotone pitch, variable rate, inappropriate pauses.</a:t>
            </a:r>
          </a:p>
          <a:p>
            <a:pPr marL="0" indent="0">
              <a:buNone/>
            </a:pPr>
            <a:r>
              <a:rPr lang="en-US" sz="1400" dirty="0"/>
              <a:t>These changes are </a:t>
            </a:r>
            <a:r>
              <a:rPr lang="en-US" sz="1400" b="1" dirty="0"/>
              <a:t>language-independent</a:t>
            </a:r>
            <a:r>
              <a:rPr lang="en-US" sz="1400" dirty="0"/>
              <a:t> and detectable in early stages, making </a:t>
            </a:r>
            <a:r>
              <a:rPr lang="en-US" sz="1400" b="1" dirty="0"/>
              <a:t>speech analysis</a:t>
            </a:r>
            <a:r>
              <a:rPr lang="en-US" sz="1400" dirty="0"/>
              <a:t> an effective diagnostic tool.</a:t>
            </a: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r>
              <a:rPr lang="en-US" sz="1400" b="1" dirty="0"/>
              <a:t>Speech Disturbances in Parkinson’s Disease:</a:t>
            </a:r>
          </a:p>
          <a:p>
            <a:pPr marL="0" indent="0">
              <a:buNone/>
            </a:pPr>
            <a:r>
              <a:rPr lang="en-US" sz="1400" dirty="0"/>
              <a:t>PD significantly impacts communication, with speech disturbances emerging as one of the earliest and most disabling symptoms:</a:t>
            </a:r>
          </a:p>
          <a:p>
            <a:pPr marL="0" indent="0">
              <a:buNone/>
            </a:pPr>
            <a:r>
              <a:rPr lang="en-US" sz="1400" b="1" dirty="0"/>
              <a:t>Prevalence: </a:t>
            </a:r>
            <a:r>
              <a:rPr lang="en-US" sz="1400" dirty="0"/>
              <a:t>Almost </a:t>
            </a:r>
            <a:r>
              <a:rPr lang="en-US" sz="1400" b="1" dirty="0"/>
              <a:t>90% of PD patients </a:t>
            </a:r>
            <a:r>
              <a:rPr lang="en-US" sz="1400" dirty="0"/>
              <a:t>experience hypokinetic speech.</a:t>
            </a:r>
          </a:p>
          <a:p>
            <a:pPr marL="0" indent="0">
              <a:buNone/>
            </a:pPr>
            <a:r>
              <a:rPr lang="en-US" sz="1400" b="1" dirty="0"/>
              <a:t>Characteristics:</a:t>
            </a:r>
          </a:p>
          <a:p>
            <a:r>
              <a:rPr lang="en-US" sz="1400" dirty="0"/>
              <a:t>Monotonous pitch and low tone.</a:t>
            </a:r>
          </a:p>
          <a:p>
            <a:r>
              <a:rPr lang="en-US" sz="1400" dirty="0"/>
              <a:t>Variable speech speed with inappropriate pauses.</a:t>
            </a:r>
          </a:p>
          <a:p>
            <a:r>
              <a:rPr lang="en-US" sz="1400" dirty="0"/>
              <a:t>Shortened phrases, articulation decay, and vocal tremors.</a:t>
            </a:r>
          </a:p>
          <a:p>
            <a:pPr marL="0" indent="0">
              <a:buNone/>
            </a:pPr>
            <a:r>
              <a:rPr lang="en-US" sz="1400" dirty="0"/>
              <a:t>These symptoms worsen as the disease progresses, emphasizing the need for diagnostic tools focusing on </a:t>
            </a:r>
            <a:r>
              <a:rPr lang="en-US" sz="1400" b="1" dirty="0"/>
              <a:t>speech analysis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b="1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25C7396-8A24-4D75-B280-BED1F1649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460" y="1291471"/>
            <a:ext cx="3272324" cy="40063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Speech</a:t>
            </a:r>
            <a:endParaRPr lang="en-US" b="1" u="sng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937855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2" name="Rectangle 16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91EC8-52B5-3CC0-ABF4-AC5249BA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49" y="2261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u="sng" kern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Why </a:t>
            </a:r>
            <a:r>
              <a:rPr lang="en-US" sz="3600" b="1" u="sng" kern="12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OpenSMILE</a:t>
            </a:r>
            <a:r>
              <a:rPr lang="en-US" sz="3600" b="1" u="sng" kern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EAA8E-23AA-53B0-CB74-F220D924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549" y="1857646"/>
            <a:ext cx="5027864" cy="44533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chemeClr val="tx2"/>
                </a:solidFill>
              </a:rPr>
              <a:t>OpenSMILE</a:t>
            </a:r>
            <a:r>
              <a:rPr lang="en-US" sz="1400" dirty="0">
                <a:solidFill>
                  <a:schemeClr val="tx2"/>
                </a:solidFill>
              </a:rPr>
              <a:t> (Open Speech and Music Interpretation by Large-space Extraction) has become the </a:t>
            </a:r>
            <a:r>
              <a:rPr lang="en-US" sz="1400" b="1" dirty="0">
                <a:solidFill>
                  <a:schemeClr val="tx2"/>
                </a:solidFill>
              </a:rPr>
              <a:t>industry standard</a:t>
            </a:r>
            <a:r>
              <a:rPr lang="en-US" sz="1400" dirty="0">
                <a:solidFill>
                  <a:schemeClr val="tx2"/>
                </a:solidFill>
              </a:rPr>
              <a:t> for speech feature extraction, widely used in </a:t>
            </a:r>
            <a:r>
              <a:rPr lang="en-US" sz="1400" b="1" dirty="0">
                <a:solidFill>
                  <a:schemeClr val="tx2"/>
                </a:solidFill>
              </a:rPr>
              <a:t>research, clinical applications, and emotion recognition</a:t>
            </a:r>
            <a:r>
              <a:rPr lang="en-US" sz="1400" dirty="0">
                <a:solidFill>
                  <a:schemeClr val="tx2"/>
                </a:solidFill>
              </a:rPr>
              <a:t>. Its success is rooted in its ability to provide:</a:t>
            </a:r>
          </a:p>
          <a:p>
            <a:r>
              <a:rPr lang="en-US" sz="1400" b="1" dirty="0">
                <a:solidFill>
                  <a:schemeClr val="tx2"/>
                </a:solidFill>
              </a:rPr>
              <a:t>Reproducible results</a:t>
            </a:r>
            <a:r>
              <a:rPr lang="en-US" sz="1400" dirty="0">
                <a:solidFill>
                  <a:schemeClr val="tx2"/>
                </a:solidFill>
              </a:rPr>
              <a:t> backed by active community support and ongoing research validation.</a:t>
            </a:r>
          </a:p>
          <a:p>
            <a:r>
              <a:rPr lang="en-US" sz="1400" dirty="0">
                <a:solidFill>
                  <a:schemeClr val="tx2"/>
                </a:solidFill>
              </a:rPr>
              <a:t>Access to </a:t>
            </a:r>
            <a:r>
              <a:rPr lang="en-US" sz="1400" b="1" dirty="0">
                <a:solidFill>
                  <a:schemeClr val="tx2"/>
                </a:solidFill>
              </a:rPr>
              <a:t>extensive feature sets</a:t>
            </a:r>
            <a:r>
              <a:rPr lang="en-US" sz="1400" dirty="0">
                <a:solidFill>
                  <a:schemeClr val="tx2"/>
                </a:solidFill>
              </a:rPr>
              <a:t>, enabling both basic and advanced speech analysis.</a:t>
            </a:r>
          </a:p>
          <a:p>
            <a:r>
              <a:rPr lang="en-US" sz="1400" dirty="0">
                <a:solidFill>
                  <a:schemeClr val="tx2"/>
                </a:solidFill>
              </a:rPr>
              <a:t>Application in </a:t>
            </a:r>
            <a:r>
              <a:rPr lang="en-US" sz="1400" b="1" dirty="0">
                <a:solidFill>
                  <a:schemeClr val="tx2"/>
                </a:solidFill>
              </a:rPr>
              <a:t>clinical diagnostics</a:t>
            </a:r>
            <a:r>
              <a:rPr lang="en-US" sz="1400" dirty="0">
                <a:solidFill>
                  <a:schemeClr val="tx2"/>
                </a:solidFill>
              </a:rPr>
              <a:t>, computational </a:t>
            </a:r>
            <a:r>
              <a:rPr lang="en-US" sz="1400" dirty="0" err="1">
                <a:solidFill>
                  <a:schemeClr val="tx2"/>
                </a:solidFill>
              </a:rPr>
              <a:t>paralinguistics</a:t>
            </a:r>
            <a:r>
              <a:rPr lang="en-US" sz="1400" dirty="0">
                <a:solidFill>
                  <a:schemeClr val="tx2"/>
                </a:solidFill>
              </a:rPr>
              <a:t>, and real-time processing.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By leveraging </a:t>
            </a:r>
            <a:r>
              <a:rPr lang="en-US" sz="1400" dirty="0" err="1">
                <a:solidFill>
                  <a:schemeClr val="tx2"/>
                </a:solidFill>
              </a:rPr>
              <a:t>OpenSMILE’s</a:t>
            </a:r>
            <a:r>
              <a:rPr lang="en-US" sz="1400" dirty="0">
                <a:solidFill>
                  <a:schemeClr val="tx2"/>
                </a:solidFill>
              </a:rPr>
              <a:t> advanced toolkits, researchers can extract a wide array of </a:t>
            </a:r>
            <a:r>
              <a:rPr lang="en-US" sz="1400" b="1" dirty="0">
                <a:solidFill>
                  <a:schemeClr val="tx2"/>
                </a:solidFill>
              </a:rPr>
              <a:t>speech and voice quality parameters</a:t>
            </a:r>
            <a:r>
              <a:rPr lang="en-US" sz="1400" dirty="0">
                <a:solidFill>
                  <a:schemeClr val="tx2"/>
                </a:solidFill>
              </a:rPr>
              <a:t>, making it a versatile solution for tasks ranging from </a:t>
            </a:r>
            <a:r>
              <a:rPr lang="en-US" sz="1400" b="1" dirty="0">
                <a:solidFill>
                  <a:schemeClr val="tx2"/>
                </a:solidFill>
              </a:rPr>
              <a:t>emotion detection</a:t>
            </a:r>
            <a:r>
              <a:rPr lang="en-US" sz="1400" dirty="0">
                <a:solidFill>
                  <a:schemeClr val="tx2"/>
                </a:solidFill>
              </a:rPr>
              <a:t> to </a:t>
            </a:r>
            <a:r>
              <a:rPr lang="en-US" sz="1400" b="1" dirty="0">
                <a:solidFill>
                  <a:schemeClr val="tx2"/>
                </a:solidFill>
              </a:rPr>
              <a:t>pathology analysis</a:t>
            </a:r>
            <a:r>
              <a:rPr lang="en-US" sz="1400" dirty="0">
                <a:solidFill>
                  <a:schemeClr val="tx2"/>
                </a:solidFill>
              </a:rPr>
              <a:t>.</a:t>
            </a:r>
          </a:p>
          <a:p>
            <a:pPr marL="0"/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7" name="Graphic 146" descr="Microphone">
            <a:extLst>
              <a:ext uri="{FF2B5EF4-FFF2-40B4-BE49-F238E27FC236}">
                <a16:creationId xmlns:a16="http://schemas.microsoft.com/office/drawing/2014/main" id="{BF047C93-EA95-1E7B-F5F6-F2B22C160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7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2" name="Rectangle 16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91EC8-52B5-3CC0-ABF4-AC5249BA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49" y="22615"/>
            <a:ext cx="534371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6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Sets in </a:t>
            </a:r>
            <a:br>
              <a:rPr lang="en-IN" sz="36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3600" b="1" u="sng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OpenSMILE</a:t>
            </a:r>
            <a:endParaRPr lang="en-US" sz="3600" b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EAA8E-23AA-53B0-CB74-F220D924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537" y="1357460"/>
            <a:ext cx="5343716" cy="534499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chemeClr val="tx2"/>
                </a:solidFill>
              </a:rPr>
              <a:t>OpenSMILE</a:t>
            </a:r>
            <a:r>
              <a:rPr lang="en-US" sz="1200" dirty="0">
                <a:solidFill>
                  <a:schemeClr val="tx2"/>
                </a:solidFill>
              </a:rPr>
              <a:t> provides </a:t>
            </a:r>
            <a:r>
              <a:rPr lang="en-US" sz="1200" b="1" dirty="0">
                <a:solidFill>
                  <a:schemeClr val="tx2"/>
                </a:solidFill>
              </a:rPr>
              <a:t>flexible feature </a:t>
            </a:r>
            <a:r>
              <a:rPr lang="en-US" sz="1200" dirty="0">
                <a:solidFill>
                  <a:schemeClr val="tx2"/>
                </a:solidFill>
              </a:rPr>
              <a:t>sets tailored for diverse use cases. Key sets include: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1. ComParE_2016 (6,373 Features)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Designed for computational </a:t>
            </a:r>
            <a:r>
              <a:rPr lang="en-US" sz="1200" dirty="0" err="1">
                <a:solidFill>
                  <a:schemeClr val="tx2"/>
                </a:solidFill>
              </a:rPr>
              <a:t>paralinguistics</a:t>
            </a:r>
            <a:r>
              <a:rPr lang="en-US" sz="1200" dirty="0">
                <a:solidFill>
                  <a:schemeClr val="tx2"/>
                </a:solidFill>
              </a:rPr>
              <a:t> challenges, this set is ideal for </a:t>
            </a:r>
            <a:r>
              <a:rPr lang="en-US" sz="1200" b="1" dirty="0">
                <a:solidFill>
                  <a:schemeClr val="tx2"/>
                </a:solidFill>
              </a:rPr>
              <a:t>detailed speech analysis, emotion recognition, and research requiring extensive features.</a:t>
            </a:r>
          </a:p>
          <a:p>
            <a:r>
              <a:rPr lang="en-US" sz="1200" dirty="0">
                <a:solidFill>
                  <a:schemeClr val="tx2"/>
                </a:solidFill>
              </a:rPr>
              <a:t>Includes MFCC 1-14, voicing parameters, and spectral analysis.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2. </a:t>
            </a:r>
            <a:r>
              <a:rPr lang="en-US" sz="1200" b="1" dirty="0" err="1">
                <a:solidFill>
                  <a:schemeClr val="tx2"/>
                </a:solidFill>
              </a:rPr>
              <a:t>eGeMAPS</a:t>
            </a:r>
            <a:r>
              <a:rPr lang="en-US" sz="1200" b="1" dirty="0">
                <a:solidFill>
                  <a:schemeClr val="tx2"/>
                </a:solidFill>
              </a:rPr>
              <a:t> v01a/v01b (~88 Features)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Purpose-built for </a:t>
            </a:r>
            <a:r>
              <a:rPr lang="en-US" sz="1200" b="1" dirty="0">
                <a:solidFill>
                  <a:schemeClr val="tx2"/>
                </a:solidFill>
              </a:rPr>
              <a:t>clinical applications and voice pathology detection</a:t>
            </a:r>
            <a:r>
              <a:rPr lang="en-US" sz="1200" dirty="0">
                <a:solidFill>
                  <a:schemeClr val="tx2"/>
                </a:solidFill>
              </a:rPr>
              <a:t>. This compact set emphasizes frequency, energy, and spectral parameters.</a:t>
            </a:r>
          </a:p>
          <a:p>
            <a:r>
              <a:rPr lang="en-US" sz="1200" dirty="0">
                <a:solidFill>
                  <a:schemeClr val="tx2"/>
                </a:solidFill>
              </a:rPr>
              <a:t>v01b improves upon v01a with enhanced stability and bug fixes.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3. </a:t>
            </a:r>
            <a:r>
              <a:rPr lang="en-US" sz="1200" b="1" dirty="0" err="1">
                <a:solidFill>
                  <a:schemeClr val="tx2"/>
                </a:solidFill>
              </a:rPr>
              <a:t>GeMAPS</a:t>
            </a:r>
            <a:r>
              <a:rPr lang="en-US" sz="1200" b="1" dirty="0">
                <a:solidFill>
                  <a:schemeClr val="tx2"/>
                </a:solidFill>
              </a:rPr>
              <a:t> v01a/v01b (62 Features)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Designed for </a:t>
            </a:r>
            <a:r>
              <a:rPr lang="en-US" sz="1200" b="1" dirty="0">
                <a:solidFill>
                  <a:schemeClr val="tx2"/>
                </a:solidFill>
              </a:rPr>
              <a:t>real-time and mobile-friendly applications</a:t>
            </a:r>
            <a:r>
              <a:rPr lang="en-US" sz="1200" dirty="0">
                <a:solidFill>
                  <a:schemeClr val="tx2"/>
                </a:solidFill>
              </a:rPr>
              <a:t>, </a:t>
            </a:r>
            <a:r>
              <a:rPr lang="en-US" sz="1200" dirty="0" err="1">
                <a:solidFill>
                  <a:schemeClr val="tx2"/>
                </a:solidFill>
              </a:rPr>
              <a:t>GeMAPS</a:t>
            </a:r>
            <a:r>
              <a:rPr lang="en-US" sz="1200" dirty="0">
                <a:solidFill>
                  <a:schemeClr val="tx2"/>
                </a:solidFill>
              </a:rPr>
              <a:t> is the go-to solution for quick voice analysis in resource-constrained environments.</a:t>
            </a:r>
          </a:p>
          <a:p>
            <a:r>
              <a:rPr lang="en-US" sz="1200" dirty="0">
                <a:solidFill>
                  <a:schemeClr val="tx2"/>
                </a:solidFill>
              </a:rPr>
              <a:t>Features include essential </a:t>
            </a:r>
            <a:r>
              <a:rPr lang="en-US" sz="1200" b="1" dirty="0">
                <a:solidFill>
                  <a:schemeClr val="tx2"/>
                </a:solidFill>
              </a:rPr>
              <a:t>frequency metrics and minimal spectral descriptors.</a:t>
            </a:r>
          </a:p>
          <a:p>
            <a:endParaRPr lang="en-US" sz="1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4. </a:t>
            </a:r>
            <a:r>
              <a:rPr lang="en-US" sz="1200" b="1" dirty="0" err="1">
                <a:solidFill>
                  <a:schemeClr val="tx2"/>
                </a:solidFill>
              </a:rPr>
              <a:t>emobase</a:t>
            </a:r>
            <a:r>
              <a:rPr lang="en-US" sz="1200" b="1" dirty="0">
                <a:solidFill>
                  <a:schemeClr val="tx2"/>
                </a:solidFill>
              </a:rPr>
              <a:t> (~988 Features)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Specialized for </a:t>
            </a:r>
            <a:r>
              <a:rPr lang="en-US" sz="1200" b="1" dirty="0">
                <a:solidFill>
                  <a:schemeClr val="tx2"/>
                </a:solidFill>
              </a:rPr>
              <a:t>emotion and affect recognition</a:t>
            </a:r>
            <a:r>
              <a:rPr lang="en-US" sz="1200" dirty="0">
                <a:solidFill>
                  <a:schemeClr val="tx2"/>
                </a:solidFill>
              </a:rPr>
              <a:t>, this set includes prosodic and energy-based features for </a:t>
            </a:r>
            <a:r>
              <a:rPr lang="en-US" sz="1200" b="1" dirty="0">
                <a:solidFill>
                  <a:schemeClr val="tx2"/>
                </a:solidFill>
              </a:rPr>
              <a:t>basic emotion classification</a:t>
            </a:r>
            <a:r>
              <a:rPr lang="en-US" sz="1200" dirty="0">
                <a:solidFill>
                  <a:schemeClr val="tx2"/>
                </a:solidFill>
              </a:rPr>
              <a:t>.</a:t>
            </a:r>
          </a:p>
          <a:p>
            <a:pPr marL="0"/>
            <a:endParaRPr lang="en-US" sz="1200" dirty="0">
              <a:solidFill>
                <a:schemeClr val="tx2"/>
              </a:solidFill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7" name="Graphic 146" descr="Microphone">
            <a:extLst>
              <a:ext uri="{FF2B5EF4-FFF2-40B4-BE49-F238E27FC236}">
                <a16:creationId xmlns:a16="http://schemas.microsoft.com/office/drawing/2014/main" id="{BF047C93-EA95-1E7B-F5F6-F2B22C160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24876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2" name="Rectangle 16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91EC8-52B5-3CC0-ABF4-AC5249BA3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49" y="22615"/>
            <a:ext cx="5909422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600" b="1" u="sng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OpenSMILE</a:t>
            </a:r>
            <a:r>
              <a:rPr lang="en-IN" sz="36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IN" sz="36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3600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Processing</a:t>
            </a:r>
            <a:endParaRPr lang="en-US" sz="3600" b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EAA8E-23AA-53B0-CB74-F220D924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852" y="1819656"/>
            <a:ext cx="5081048" cy="48097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chemeClr val="tx2"/>
                </a:solidFill>
              </a:rPr>
              <a:t>OpenSMILE</a:t>
            </a:r>
            <a:r>
              <a:rPr lang="en-US" sz="1400" dirty="0">
                <a:solidFill>
                  <a:schemeClr val="tx2"/>
                </a:solidFill>
              </a:rPr>
              <a:t> processes speech features at two primary levels, enabling a balance between precision and computational efficiency.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1. Low-Level Descriptors (LLD):</a:t>
            </a:r>
          </a:p>
          <a:p>
            <a:r>
              <a:rPr lang="en-US" sz="1400" dirty="0">
                <a:solidFill>
                  <a:schemeClr val="tx2"/>
                </a:solidFill>
              </a:rPr>
              <a:t>Conducts </a:t>
            </a:r>
            <a:r>
              <a:rPr lang="en-US" sz="1400" b="1" dirty="0">
                <a:solidFill>
                  <a:schemeClr val="tx2"/>
                </a:solidFill>
              </a:rPr>
              <a:t>frame-by-frame analysis </a:t>
            </a:r>
            <a:r>
              <a:rPr lang="en-US" sz="1400" dirty="0">
                <a:solidFill>
                  <a:schemeClr val="tx2"/>
                </a:solidFill>
              </a:rPr>
              <a:t>to extract core acoustic features such as </a:t>
            </a:r>
            <a:r>
              <a:rPr lang="en-US" sz="1400" b="1" dirty="0">
                <a:solidFill>
                  <a:schemeClr val="tx2"/>
                </a:solidFill>
              </a:rPr>
              <a:t>fundamental frequency, spectral features, and voice quality.</a:t>
            </a:r>
          </a:p>
          <a:p>
            <a:r>
              <a:rPr lang="en-US" sz="1400" dirty="0">
                <a:solidFill>
                  <a:schemeClr val="tx2"/>
                </a:solidFill>
              </a:rPr>
              <a:t>Focuses on granular details </a:t>
            </a:r>
            <a:r>
              <a:rPr lang="en-US" sz="1400" b="1" dirty="0">
                <a:solidFill>
                  <a:schemeClr val="tx2"/>
                </a:solidFill>
              </a:rPr>
              <a:t>for high-resolution speech characterization.</a:t>
            </a:r>
          </a:p>
          <a:p>
            <a:endParaRPr lang="en-US" sz="14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 Functional-Level Descriptors:</a:t>
            </a:r>
          </a:p>
          <a:p>
            <a:r>
              <a:rPr lang="en-US" sz="1400" dirty="0">
                <a:solidFill>
                  <a:schemeClr val="tx2"/>
                </a:solidFill>
              </a:rPr>
              <a:t>Aggregates statistical and temporal information from LLDs to derive </a:t>
            </a:r>
            <a:r>
              <a:rPr lang="en-US" sz="1400" b="1" dirty="0">
                <a:solidFill>
                  <a:schemeClr val="tx2"/>
                </a:solidFill>
              </a:rPr>
              <a:t>global descriptors</a:t>
            </a:r>
            <a:r>
              <a:rPr lang="en-US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sz="1400" dirty="0">
                <a:solidFill>
                  <a:schemeClr val="tx2"/>
                </a:solidFill>
              </a:rPr>
              <a:t>Computes metrics such as </a:t>
            </a:r>
            <a:r>
              <a:rPr lang="en-US" sz="1400" b="1" dirty="0">
                <a:solidFill>
                  <a:schemeClr val="tx2"/>
                </a:solidFill>
              </a:rPr>
              <a:t>mean, standard deviation, contour descriptors, </a:t>
            </a:r>
            <a:r>
              <a:rPr lang="en-US" sz="1400" dirty="0">
                <a:solidFill>
                  <a:schemeClr val="tx2"/>
                </a:solidFill>
              </a:rPr>
              <a:t>and</a:t>
            </a:r>
            <a:r>
              <a:rPr lang="en-US" sz="1400" b="1" dirty="0">
                <a:solidFill>
                  <a:schemeClr val="tx2"/>
                </a:solidFill>
              </a:rPr>
              <a:t> temporal features</a:t>
            </a:r>
            <a:r>
              <a:rPr lang="en-US" sz="1400" dirty="0">
                <a:solidFill>
                  <a:schemeClr val="tx2"/>
                </a:solidFill>
              </a:rPr>
              <a:t> for a holistic analysis of speech patterns.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This layered approach ensures flexibility, catering to both </a:t>
            </a:r>
            <a:r>
              <a:rPr lang="en-US" sz="1400" b="1" dirty="0">
                <a:solidFill>
                  <a:schemeClr val="tx2"/>
                </a:solidFill>
              </a:rPr>
              <a:t>real-time applications </a:t>
            </a:r>
            <a:r>
              <a:rPr lang="en-US" sz="1400" dirty="0">
                <a:solidFill>
                  <a:schemeClr val="tx2"/>
                </a:solidFill>
              </a:rPr>
              <a:t>and </a:t>
            </a:r>
            <a:r>
              <a:rPr lang="en-US" sz="1400" b="1" dirty="0">
                <a:solidFill>
                  <a:schemeClr val="tx2"/>
                </a:solidFill>
              </a:rPr>
              <a:t>complex diagnostic tasks.</a:t>
            </a:r>
          </a:p>
          <a:p>
            <a:pPr marL="0"/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7" name="Graphic 146" descr="Microphone">
            <a:extLst>
              <a:ext uri="{FF2B5EF4-FFF2-40B4-BE49-F238E27FC236}">
                <a16:creationId xmlns:a16="http://schemas.microsoft.com/office/drawing/2014/main" id="{BF047C93-EA95-1E7B-F5F6-F2B22C160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8507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188EA31-C4B1-42B8-8377-528EDACF1586}"/>
              </a:ext>
            </a:extLst>
          </p:cNvPr>
          <p:cNvSpPr txBox="1">
            <a:spLocks/>
          </p:cNvSpPr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b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Features Affected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E8124-CB15-4F4C-B38A-9DB12ADCC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821" y="639193"/>
            <a:ext cx="8215627" cy="57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4497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A50B7-98DD-4BC6-BDC0-13115CD5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u="sng" kern="120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Literature Study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B9F32-915A-44E6-DF09-3ADE21A0F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7476" y="150829"/>
            <a:ext cx="7475456" cy="6388083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Machine learning approaches to identify Parkinson's disease using voice signal features</a:t>
            </a:r>
          </a:p>
          <a:p>
            <a:pPr marL="0"/>
            <a:endParaRPr lang="en-US" sz="1400" b="1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Parkinson’s Disease (PD):</a:t>
            </a:r>
            <a:endParaRPr lang="en-US" altLang="en-US" sz="14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Second most common age-related neurological disorder.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Early symptoms often misdiagnosed due to overlap with normal aging or other disorders like essential tremor.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400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Challenges in Diagnosis:</a:t>
            </a:r>
            <a:endParaRPr lang="en-US" altLang="en-US" sz="14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No definitive lab biomarkers or imaging techniques available.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Voice dysfunction, one of the earliest indicators, offers potential for early non-invasive detection.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400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Dataset Details:</a:t>
            </a:r>
            <a:endParaRPr lang="en-US" altLang="en-US" sz="14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195 voice recordings from 31 subjects (23 PD, 8 Healthy Controls).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Features include measures like fundamental frequency (</a:t>
            </a:r>
            <a:r>
              <a:rPr lang="en-US" altLang="en-US" sz="1400" dirty="0" err="1"/>
              <a:t>Fo</a:t>
            </a:r>
            <a:r>
              <a:rPr lang="en-US" altLang="en-US" sz="1400" dirty="0"/>
              <a:t>), jitter, shimmer, and harmonic-to-noise ratio.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400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Proposed Methodology:</a:t>
            </a:r>
            <a:endParaRPr lang="en-US" altLang="en-US" sz="14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Utilized Machine Learning (ML) and Deep Learning (DL) models: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Support Vector Machine (SVM), Random Forest (RF), K-Nearest Neighbor (KNN), Decision Tree (DT), Multi-Layer Perceptron (MLP).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Addressed data imbalance using SMOTE (Synthetic Minority Over-sampling Technique).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Enhanced model performance with hyperparameter tuning via </a:t>
            </a:r>
            <a:r>
              <a:rPr lang="en-US" altLang="en-US" sz="1400" dirty="0" err="1"/>
              <a:t>GridSearchCV</a:t>
            </a:r>
            <a:r>
              <a:rPr lang="en-US" altLang="en-US" sz="1400" dirty="0"/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400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Key Findings:</a:t>
            </a:r>
            <a:endParaRPr lang="en-US" altLang="en-US" sz="14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MLP achieved the highest accuracy (98.31%) with excellent precision, recall, and F1-score.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SVM also performed well with 95% accuracy.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Voice-based analysis proves to be a reliable, cost-effective, and non-invasive diagnostic approach.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400" dirty="0"/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/>
              <a:t>Significance:</a:t>
            </a:r>
            <a:endParaRPr lang="en-US" altLang="en-US" sz="14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Highlights voice analysis as a biomarker for early PD detection.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Suggests integration into healthcare for accessible, scalable diagnostics.</a:t>
            </a:r>
          </a:p>
          <a:p>
            <a:pPr marL="0" lvl="0" fontAlgn="base">
              <a:spcBef>
                <a:spcPct val="0"/>
              </a:spcBef>
              <a:spcAft>
                <a:spcPct val="0"/>
              </a:spcAft>
            </a:pPr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0194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188EA31-C4B1-42B8-8377-528EDACF1586}"/>
              </a:ext>
            </a:extLst>
          </p:cNvPr>
          <p:cNvSpPr txBox="1">
            <a:spLocks/>
          </p:cNvSpPr>
          <p:nvPr/>
        </p:nvSpPr>
        <p:spPr>
          <a:xfrm>
            <a:off x="723901" y="509587"/>
            <a:ext cx="7649239" cy="742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E1F9AC-76F9-4F1C-BB91-53A319F69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72" y="2386878"/>
            <a:ext cx="10768181" cy="3499659"/>
          </a:xfrm>
          <a:prstGeom prst="rect">
            <a:avLst/>
          </a:prstGeom>
        </p:spPr>
      </p:pic>
      <p:sp>
        <p:nvSpPr>
          <p:cNvPr id="18" name="Freeform: Shape 14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91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5" name="Rectangle 208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7" name="Freeform: Shape 208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CB867-D9C8-4CCF-8FC4-5811CB643D4F}"/>
              </a:ext>
            </a:extLst>
          </p:cNvPr>
          <p:cNvSpPr txBox="1"/>
          <p:nvPr/>
        </p:nvSpPr>
        <p:spPr>
          <a:xfrm>
            <a:off x="686833" y="1153572"/>
            <a:ext cx="3563619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u="sng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Adapted Methodologies</a:t>
            </a:r>
          </a:p>
        </p:txBody>
      </p:sp>
      <p:sp>
        <p:nvSpPr>
          <p:cNvPr id="2089" name="Arc 208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21" name="TextBox 4">
            <a:extLst>
              <a:ext uri="{FF2B5EF4-FFF2-40B4-BE49-F238E27FC236}">
                <a16:creationId xmlns:a16="http://schemas.microsoft.com/office/drawing/2014/main" id="{7B984A89-D095-4BD8-BB1D-0DBDEE63A9DF}"/>
              </a:ext>
            </a:extLst>
          </p:cNvPr>
          <p:cNvSpPr txBox="1"/>
          <p:nvPr/>
        </p:nvSpPr>
        <p:spPr>
          <a:xfrm>
            <a:off x="4487159" y="537328"/>
            <a:ext cx="6866640" cy="5639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1. Data Collection and Preprocessing:</a:t>
            </a: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Dataset:</a:t>
            </a:r>
            <a:endParaRPr lang="en-US" sz="1400" dirty="0"/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Utilized the Voice Samples for Patients with Parkinson’s Disease and Healthy Controls dataset containing 81 voice recordings from 81 subjects (40 with PD, 41 healthy controls).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Features extracted included measures like fundamental frequency (</a:t>
            </a:r>
            <a:r>
              <a:rPr lang="en-US" sz="1400" dirty="0" err="1"/>
              <a:t>Fo</a:t>
            </a:r>
            <a:r>
              <a:rPr lang="en-US" sz="1400" dirty="0"/>
              <a:t>), jitter, shimmer, and harmonic-to-noise ratio.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Preprocessing Steps:</a:t>
            </a:r>
            <a:endParaRPr lang="en-US" sz="1400" dirty="0"/>
          </a:p>
          <a:p>
            <a:pPr marL="228600" lvl="1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Class Balancing: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Applied </a:t>
            </a:r>
            <a:r>
              <a:rPr lang="en-US" sz="1400" b="1" dirty="0"/>
              <a:t>Synthetic Minority Over-sampling Technique (SMOTE)</a:t>
            </a:r>
            <a:r>
              <a:rPr lang="en-US" sz="1400" dirty="0"/>
              <a:t> to address data imbalance, ensuring equal representation of healthy and PD samples.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Definition:</a:t>
            </a:r>
            <a:r>
              <a:rPr lang="en-US" sz="1400" dirty="0"/>
              <a:t> SMOTE generates synthetic samples for the minority class by interpolating between nearest neighbors in the feature space.</a:t>
            </a:r>
          </a:p>
          <a:p>
            <a:pPr marL="228600" lvl="1"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Standardization: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Used </a:t>
            </a:r>
            <a:r>
              <a:rPr lang="en-US" sz="1400" dirty="0" err="1"/>
              <a:t>StandardScaler</a:t>
            </a:r>
            <a:r>
              <a:rPr lang="en-US" sz="1400" dirty="0"/>
              <a:t> to normalize features for consistent data distribution and improved model performance.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Definition:</a:t>
            </a:r>
            <a:r>
              <a:rPr lang="en-US" sz="1400" dirty="0"/>
              <a:t> </a:t>
            </a:r>
            <a:r>
              <a:rPr lang="en-US" sz="1400" dirty="0" err="1"/>
              <a:t>StandardScaler</a:t>
            </a:r>
            <a:r>
              <a:rPr lang="en-US" sz="1400" dirty="0"/>
              <a:t> standardizes features by removing the mean and scaling to unit variance.</a:t>
            </a:r>
          </a:p>
        </p:txBody>
      </p:sp>
    </p:spTree>
    <p:extLst>
      <p:ext uri="{BB962C8B-B14F-4D97-AF65-F5344CB8AC3E}">
        <p14:creationId xmlns:p14="http://schemas.microsoft.com/office/powerpoint/2010/main" val="33008232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5" name="Rectangle 208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7" name="Freeform: Shape 208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CB867-D9C8-4CCF-8FC4-5811CB643D4F}"/>
              </a:ext>
            </a:extLst>
          </p:cNvPr>
          <p:cNvSpPr txBox="1"/>
          <p:nvPr/>
        </p:nvSpPr>
        <p:spPr>
          <a:xfrm>
            <a:off x="686834" y="1153572"/>
            <a:ext cx="3555228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u="sng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Adapted Methodologies</a:t>
            </a:r>
          </a:p>
        </p:txBody>
      </p:sp>
      <p:sp>
        <p:nvSpPr>
          <p:cNvPr id="2089" name="Arc 208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84A89-D095-4BD8-BB1D-0DBDEE63A9DF}"/>
              </a:ext>
            </a:extLst>
          </p:cNvPr>
          <p:cNvSpPr txBox="1"/>
          <p:nvPr/>
        </p:nvSpPr>
        <p:spPr>
          <a:xfrm>
            <a:off x="4571484" y="1939377"/>
            <a:ext cx="6906491" cy="2708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2. Feature Selection:</a:t>
            </a:r>
            <a:endParaRPr lang="en-US" sz="14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Applied </a:t>
            </a:r>
            <a:r>
              <a:rPr lang="en-US" sz="1400" b="1" dirty="0" err="1"/>
              <a:t>SelectKBest</a:t>
            </a:r>
            <a:r>
              <a:rPr lang="en-US" sz="1400" dirty="0"/>
              <a:t> to identify the most relevant features for classification.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Definition:</a:t>
            </a:r>
            <a:r>
              <a:rPr lang="en-US" sz="1400" dirty="0"/>
              <a:t> </a:t>
            </a:r>
            <a:r>
              <a:rPr lang="en-US" sz="1400" dirty="0" err="1"/>
              <a:t>SelectKBest</a:t>
            </a:r>
            <a:r>
              <a:rPr lang="en-US" sz="1400" dirty="0"/>
              <a:t> uses statistical tests to rank features by importance, reducing dimensionality and improving model efficiency.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Top Features Selected:</a:t>
            </a:r>
            <a:r>
              <a:rPr lang="en-US" sz="1400" dirty="0"/>
              <a:t> </a:t>
            </a:r>
            <a:r>
              <a:rPr lang="en-US" sz="1400" dirty="0" err="1"/>
              <a:t>MDVP:Fo</a:t>
            </a:r>
            <a:r>
              <a:rPr lang="en-US" sz="1400" dirty="0"/>
              <a:t>(Hz), </a:t>
            </a:r>
            <a:r>
              <a:rPr lang="en-US" sz="1400" dirty="0" err="1"/>
              <a:t>MDVP:Flo</a:t>
            </a:r>
            <a:r>
              <a:rPr lang="en-US" sz="1400" dirty="0"/>
              <a:t>(Hz), </a:t>
            </a:r>
            <a:r>
              <a:rPr lang="en-US" sz="1400" dirty="0" err="1"/>
              <a:t>MDVP:Shimmer</a:t>
            </a:r>
            <a:r>
              <a:rPr lang="en-US" sz="1400" dirty="0"/>
              <a:t>, HNR, PPE, and spread1.</a:t>
            </a:r>
          </a:p>
        </p:txBody>
      </p:sp>
    </p:spTree>
    <p:extLst>
      <p:ext uri="{BB962C8B-B14F-4D97-AF65-F5344CB8AC3E}">
        <p14:creationId xmlns:p14="http://schemas.microsoft.com/office/powerpoint/2010/main" val="24704035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5" name="Rectangle 208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7" name="Freeform: Shape 208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CB867-D9C8-4CCF-8FC4-5811CB643D4F}"/>
              </a:ext>
            </a:extLst>
          </p:cNvPr>
          <p:cNvSpPr txBox="1"/>
          <p:nvPr/>
        </p:nvSpPr>
        <p:spPr>
          <a:xfrm>
            <a:off x="686834" y="1153572"/>
            <a:ext cx="3602362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u="sng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Adapted Methodologies</a:t>
            </a:r>
          </a:p>
        </p:txBody>
      </p:sp>
      <p:sp>
        <p:nvSpPr>
          <p:cNvPr id="2089" name="Arc 208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84A89-D095-4BD8-BB1D-0DBDEE63A9DF}"/>
              </a:ext>
            </a:extLst>
          </p:cNvPr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3. Machine Learning and Deep Learning Models:</a:t>
            </a: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Trained and tested various algorithms for classification: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Support Vector Machine (SVM):</a:t>
            </a:r>
            <a:endParaRPr lang="en-US" sz="1400" dirty="0"/>
          </a:p>
          <a:p>
            <a:pPr marL="11430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Separates data using a hyperplane for op</a:t>
            </a:r>
          </a:p>
          <a:p>
            <a:pPr marL="11430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timal</a:t>
            </a:r>
            <a:r>
              <a:rPr lang="en-US" sz="1400" dirty="0"/>
              <a:t> class distinction.</a:t>
            </a:r>
          </a:p>
          <a:p>
            <a:pPr marL="11430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Effective for both linear and non-linear separations using kernels.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Random Forest (RF):</a:t>
            </a:r>
            <a:endParaRPr lang="en-US" sz="1400" dirty="0"/>
          </a:p>
          <a:p>
            <a:pPr marL="11430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Combines multiple decision trees to improve accuracy and reduce overfitting.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K-Nearest Neighbor (KNN):</a:t>
            </a:r>
            <a:endParaRPr lang="en-US" sz="1400" dirty="0"/>
          </a:p>
          <a:p>
            <a:pPr marL="11430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Classifies data points based on the majority class of its nearest neighbors in feature space.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Decision Tree (DT):</a:t>
            </a:r>
            <a:endParaRPr lang="en-US" sz="1400" dirty="0"/>
          </a:p>
          <a:p>
            <a:pPr marL="11430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Splits data into branches based on decision rules from features, making it interpretable and efficient.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Multi-Layer Perceptron (MLP):</a:t>
            </a:r>
            <a:endParaRPr lang="en-US" sz="1400" dirty="0"/>
          </a:p>
          <a:p>
            <a:pPr marL="11430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 type of artificial neural network with one input layer, one or more hidden layers, and an output layer.</a:t>
            </a:r>
          </a:p>
          <a:p>
            <a:pPr marL="114300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Used for non-linear problem solving with backpropagation for weight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644387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5" name="Rectangle 208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7" name="Freeform: Shape 208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0CB867-D9C8-4CCF-8FC4-5811CB643D4F}"/>
              </a:ext>
            </a:extLst>
          </p:cNvPr>
          <p:cNvSpPr txBox="1"/>
          <p:nvPr/>
        </p:nvSpPr>
        <p:spPr>
          <a:xfrm>
            <a:off x="686833" y="1153572"/>
            <a:ext cx="3592935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u="sng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Adapted Methodologies</a:t>
            </a:r>
          </a:p>
        </p:txBody>
      </p:sp>
      <p:sp>
        <p:nvSpPr>
          <p:cNvPr id="2089" name="Arc 208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984A89-D095-4BD8-BB1D-0DBDEE63A9DF}"/>
              </a:ext>
            </a:extLst>
          </p:cNvPr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4. Hyperparameter Tuning:</a:t>
            </a:r>
            <a:endParaRPr lang="en-US" sz="14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Used </a:t>
            </a:r>
            <a:r>
              <a:rPr lang="en-US" sz="1400" b="1" dirty="0" err="1"/>
              <a:t>GridSearchCV</a:t>
            </a:r>
            <a:r>
              <a:rPr lang="en-US" sz="1400" dirty="0"/>
              <a:t> for systematic exploration of hyperparameter combinations.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Definition:</a:t>
            </a:r>
            <a:r>
              <a:rPr lang="en-US" sz="1400" dirty="0"/>
              <a:t> </a:t>
            </a:r>
            <a:r>
              <a:rPr lang="en-US" sz="1400" dirty="0" err="1"/>
              <a:t>GridSearchCV</a:t>
            </a:r>
            <a:r>
              <a:rPr lang="en-US" sz="1400" dirty="0"/>
              <a:t> performs an exhaustive search over a specified parameter grid using cross-validation to find the best-performing model configuration.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5. Performance Evaluation:</a:t>
            </a: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Evaluated model effectiveness using key metrics: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Accuracy:</a:t>
            </a:r>
            <a:r>
              <a:rPr lang="en-US" sz="1400" dirty="0"/>
              <a:t> Measures overall correctness of the model.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Precision:</a:t>
            </a:r>
            <a:r>
              <a:rPr lang="en-US" sz="1400" dirty="0"/>
              <a:t> Proportion of true positives to total predicted positives.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Recall (Sensitivity):</a:t>
            </a:r>
            <a:r>
              <a:rPr lang="en-US" sz="1400" dirty="0"/>
              <a:t> Ability to detect true positive cases.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F1-Score:</a:t>
            </a:r>
            <a:r>
              <a:rPr lang="en-US" sz="1400" dirty="0"/>
              <a:t> Harmonic mean of precision and recall, balancing the two metrics.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Confusion matrix used to analyze classification outcomes (True Positive, True Negative, False Positive, False Negative).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431746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8B972-0827-4867-A72E-561188244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381" y="2743900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Architecture Diagram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98E7F4C5-2C10-4F2B-B7AD-0A146D246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29640" y="666728"/>
            <a:ext cx="3921705" cy="5465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32505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own Arrow Callout 26"/>
          <p:cNvSpPr/>
          <p:nvPr/>
        </p:nvSpPr>
        <p:spPr>
          <a:xfrm>
            <a:off x="6405412" y="1843150"/>
            <a:ext cx="2472192" cy="4301321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Down Arrow Callout 33"/>
          <p:cNvSpPr/>
          <p:nvPr/>
        </p:nvSpPr>
        <p:spPr>
          <a:xfrm>
            <a:off x="430875" y="1825932"/>
            <a:ext cx="2472192" cy="4301321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22925" y="3424381"/>
            <a:ext cx="2369452" cy="1964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Low-Level Descriptors (LLDs)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are basic acoustic features describing the raw characteristics of the voice, such as frequency and amplitude variations.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Flowchart: Off-page Connector 40"/>
          <p:cNvSpPr/>
          <p:nvPr/>
        </p:nvSpPr>
        <p:spPr>
          <a:xfrm>
            <a:off x="1144423" y="2215419"/>
            <a:ext cx="1045100" cy="1018007"/>
          </a:xfrm>
          <a:prstGeom prst="flowChartOffpageConnector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05412" y="3429000"/>
            <a:ext cx="2258747" cy="1770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Voice Quality Features 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describe the phonatory characteristics of the voice, such as noisiness and tonal quality.</a:t>
            </a:r>
          </a:p>
          <a:p>
            <a:pPr lvl="0" algn="ctr" defTabSz="1219170">
              <a:spcBef>
                <a:spcPct val="20000"/>
              </a:spcBef>
              <a:defRPr/>
            </a:pPr>
            <a:endParaRPr 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Flowchart: Off-page Connector 42"/>
          <p:cNvSpPr/>
          <p:nvPr/>
        </p:nvSpPr>
        <p:spPr>
          <a:xfrm>
            <a:off x="7072755" y="2232637"/>
            <a:ext cx="1045100" cy="1018007"/>
          </a:xfrm>
          <a:prstGeom prst="flowChartOffpageConnector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AC2AC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Down Arrow Callout 15"/>
          <p:cNvSpPr/>
          <p:nvPr/>
        </p:nvSpPr>
        <p:spPr>
          <a:xfrm>
            <a:off x="9296883" y="1841763"/>
            <a:ext cx="2472192" cy="4301321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31502" y="3426524"/>
            <a:ext cx="2395376" cy="151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9170">
              <a:spcBef>
                <a:spcPct val="20000"/>
              </a:spcBef>
              <a:defRPr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Features </a:t>
            </a:r>
          </a:p>
          <a:p>
            <a:pPr lvl="0" algn="ctr" defTabSz="1219170">
              <a:spcBef>
                <a:spcPct val="20000"/>
              </a:spcBef>
              <a:defRPr/>
            </a:pP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 defTabSz="1219170">
              <a:spcBef>
                <a:spcPct val="20000"/>
              </a:spcBef>
              <a:defRPr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capture the timing and sequential aspects of speech, including classification</a:t>
            </a:r>
          </a:p>
          <a:p>
            <a:pPr lvl="0" algn="ctr" defTabSz="1219170">
              <a:spcBef>
                <a:spcPct val="20000"/>
              </a:spcBef>
              <a:defRPr/>
            </a:pPr>
            <a:endParaRPr 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Flowchart: Off-page Connector 17"/>
          <p:cNvSpPr/>
          <p:nvPr/>
        </p:nvSpPr>
        <p:spPr>
          <a:xfrm>
            <a:off x="9988884" y="2231251"/>
            <a:ext cx="1045100" cy="1018007"/>
          </a:xfrm>
          <a:prstGeom prst="flowChartOffpageConnector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3BC7E2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reeform 62"/>
          <p:cNvSpPr>
            <a:spLocks noChangeAspect="1" noEditPoints="1"/>
          </p:cNvSpPr>
          <p:nvPr/>
        </p:nvSpPr>
        <p:spPr bwMode="auto">
          <a:xfrm>
            <a:off x="1426138" y="2381817"/>
            <a:ext cx="481669" cy="485520"/>
          </a:xfrm>
          <a:custGeom>
            <a:avLst/>
            <a:gdLst/>
            <a:ahLst/>
            <a:cxnLst>
              <a:cxn ang="0">
                <a:pos x="58" y="33"/>
              </a:cxn>
              <a:cxn ang="0">
                <a:pos x="57" y="34"/>
              </a:cxn>
              <a:cxn ang="0">
                <a:pos x="50" y="35"/>
              </a:cxn>
              <a:cxn ang="0">
                <a:pos x="49" y="39"/>
              </a:cxn>
              <a:cxn ang="0">
                <a:pos x="53" y="44"/>
              </a:cxn>
              <a:cxn ang="0">
                <a:pos x="53" y="45"/>
              </a:cxn>
              <a:cxn ang="0">
                <a:pos x="53" y="46"/>
              </a:cxn>
              <a:cxn ang="0">
                <a:pos x="45" y="53"/>
              </a:cxn>
              <a:cxn ang="0">
                <a:pos x="44" y="52"/>
              </a:cxn>
              <a:cxn ang="0">
                <a:pos x="39" y="48"/>
              </a:cxn>
              <a:cxn ang="0">
                <a:pos x="36" y="50"/>
              </a:cxn>
              <a:cxn ang="0">
                <a:pos x="34" y="57"/>
              </a:cxn>
              <a:cxn ang="0">
                <a:pos x="33" y="58"/>
              </a:cxn>
              <a:cxn ang="0">
                <a:pos x="25" y="58"/>
              </a:cxn>
              <a:cxn ang="0">
                <a:pos x="23" y="57"/>
              </a:cxn>
              <a:cxn ang="0">
                <a:pos x="22" y="50"/>
              </a:cxn>
              <a:cxn ang="0">
                <a:pos x="19" y="48"/>
              </a:cxn>
              <a:cxn ang="0">
                <a:pos x="14" y="52"/>
              </a:cxn>
              <a:cxn ang="0">
                <a:pos x="13" y="53"/>
              </a:cxn>
              <a:cxn ang="0">
                <a:pos x="12" y="52"/>
              </a:cxn>
              <a:cxn ang="0">
                <a:pos x="5" y="46"/>
              </a:cxn>
              <a:cxn ang="0">
                <a:pos x="5" y="45"/>
              </a:cxn>
              <a:cxn ang="0">
                <a:pos x="5" y="44"/>
              </a:cxn>
              <a:cxn ang="0">
                <a:pos x="9" y="39"/>
              </a:cxn>
              <a:cxn ang="0">
                <a:pos x="8" y="35"/>
              </a:cxn>
              <a:cxn ang="0">
                <a:pos x="1" y="34"/>
              </a:cxn>
              <a:cxn ang="0">
                <a:pos x="0" y="33"/>
              </a:cxn>
              <a:cxn ang="0">
                <a:pos x="0" y="24"/>
              </a:cxn>
              <a:cxn ang="0">
                <a:pos x="1" y="23"/>
              </a:cxn>
              <a:cxn ang="0">
                <a:pos x="8" y="22"/>
              </a:cxn>
              <a:cxn ang="0">
                <a:pos x="9" y="18"/>
              </a:cxn>
              <a:cxn ang="0">
                <a:pos x="5" y="13"/>
              </a:cxn>
              <a:cxn ang="0">
                <a:pos x="5" y="12"/>
              </a:cxn>
              <a:cxn ang="0">
                <a:pos x="5" y="11"/>
              </a:cxn>
              <a:cxn ang="0">
                <a:pos x="13" y="5"/>
              </a:cxn>
              <a:cxn ang="0">
                <a:pos x="14" y="5"/>
              </a:cxn>
              <a:cxn ang="0">
                <a:pos x="19" y="9"/>
              </a:cxn>
              <a:cxn ang="0">
                <a:pos x="22" y="8"/>
              </a:cxn>
              <a:cxn ang="0">
                <a:pos x="23" y="1"/>
              </a:cxn>
              <a:cxn ang="0">
                <a:pos x="25" y="0"/>
              </a:cxn>
              <a:cxn ang="0">
                <a:pos x="33" y="0"/>
              </a:cxn>
              <a:cxn ang="0">
                <a:pos x="34" y="1"/>
              </a:cxn>
              <a:cxn ang="0">
                <a:pos x="36" y="8"/>
              </a:cxn>
              <a:cxn ang="0">
                <a:pos x="39" y="9"/>
              </a:cxn>
              <a:cxn ang="0">
                <a:pos x="44" y="5"/>
              </a:cxn>
              <a:cxn ang="0">
                <a:pos x="45" y="5"/>
              </a:cxn>
              <a:cxn ang="0">
                <a:pos x="46" y="5"/>
              </a:cxn>
              <a:cxn ang="0">
                <a:pos x="52" y="12"/>
              </a:cxn>
              <a:cxn ang="0">
                <a:pos x="53" y="12"/>
              </a:cxn>
              <a:cxn ang="0">
                <a:pos x="52" y="13"/>
              </a:cxn>
              <a:cxn ang="0">
                <a:pos x="48" y="18"/>
              </a:cxn>
              <a:cxn ang="0">
                <a:pos x="50" y="22"/>
              </a:cxn>
              <a:cxn ang="0">
                <a:pos x="57" y="23"/>
              </a:cxn>
              <a:cxn ang="0">
                <a:pos x="58" y="25"/>
              </a:cxn>
              <a:cxn ang="0">
                <a:pos x="58" y="33"/>
              </a:cxn>
              <a:cxn ang="0">
                <a:pos x="29" y="19"/>
              </a:cxn>
              <a:cxn ang="0">
                <a:pos x="19" y="29"/>
              </a:cxn>
              <a:cxn ang="0">
                <a:pos x="29" y="38"/>
              </a:cxn>
              <a:cxn ang="0">
                <a:pos x="39" y="29"/>
              </a:cxn>
              <a:cxn ang="0">
                <a:pos x="29" y="19"/>
              </a:cxn>
            </a:cxnLst>
            <a:rect l="0" t="0" r="r" b="b"/>
            <a:pathLst>
              <a:path w="58" h="58">
                <a:moveTo>
                  <a:pt x="58" y="33"/>
                </a:moveTo>
                <a:cubicBezTo>
                  <a:pt x="58" y="34"/>
                  <a:pt x="58" y="34"/>
                  <a:pt x="57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7"/>
                  <a:pt x="49" y="38"/>
                  <a:pt x="49" y="39"/>
                </a:cubicBezTo>
                <a:cubicBezTo>
                  <a:pt x="50" y="41"/>
                  <a:pt x="51" y="42"/>
                  <a:pt x="53" y="44"/>
                </a:cubicBezTo>
                <a:cubicBezTo>
                  <a:pt x="53" y="44"/>
                  <a:pt x="53" y="45"/>
                  <a:pt x="53" y="45"/>
                </a:cubicBezTo>
                <a:cubicBezTo>
                  <a:pt x="53" y="45"/>
                  <a:pt x="53" y="46"/>
                  <a:pt x="53" y="46"/>
                </a:cubicBezTo>
                <a:cubicBezTo>
                  <a:pt x="52" y="47"/>
                  <a:pt x="47" y="53"/>
                  <a:pt x="45" y="53"/>
                </a:cubicBezTo>
                <a:cubicBezTo>
                  <a:pt x="45" y="53"/>
                  <a:pt x="45" y="53"/>
                  <a:pt x="44" y="52"/>
                </a:cubicBezTo>
                <a:cubicBezTo>
                  <a:pt x="39" y="48"/>
                  <a:pt x="39" y="48"/>
                  <a:pt x="39" y="48"/>
                </a:cubicBezTo>
                <a:cubicBezTo>
                  <a:pt x="38" y="49"/>
                  <a:pt x="37" y="49"/>
                  <a:pt x="36" y="50"/>
                </a:cubicBezTo>
                <a:cubicBezTo>
                  <a:pt x="35" y="52"/>
                  <a:pt x="35" y="55"/>
                  <a:pt x="34" y="57"/>
                </a:cubicBezTo>
                <a:cubicBezTo>
                  <a:pt x="34" y="57"/>
                  <a:pt x="34" y="58"/>
                  <a:pt x="33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4" y="58"/>
                  <a:pt x="23" y="57"/>
                  <a:pt x="23" y="57"/>
                </a:cubicBezTo>
                <a:cubicBezTo>
                  <a:pt x="22" y="50"/>
                  <a:pt x="22" y="50"/>
                  <a:pt x="22" y="50"/>
                </a:cubicBezTo>
                <a:cubicBezTo>
                  <a:pt x="21" y="49"/>
                  <a:pt x="20" y="49"/>
                  <a:pt x="19" y="48"/>
                </a:cubicBezTo>
                <a:cubicBezTo>
                  <a:pt x="14" y="52"/>
                  <a:pt x="14" y="52"/>
                  <a:pt x="14" y="52"/>
                </a:cubicBezTo>
                <a:cubicBezTo>
                  <a:pt x="13" y="53"/>
                  <a:pt x="13" y="53"/>
                  <a:pt x="13" y="53"/>
                </a:cubicBezTo>
                <a:cubicBezTo>
                  <a:pt x="12" y="53"/>
                  <a:pt x="12" y="53"/>
                  <a:pt x="12" y="52"/>
                </a:cubicBezTo>
                <a:cubicBezTo>
                  <a:pt x="10" y="50"/>
                  <a:pt x="7" y="48"/>
                  <a:pt x="5" y="46"/>
                </a:cubicBezTo>
                <a:cubicBezTo>
                  <a:pt x="5" y="46"/>
                  <a:pt x="5" y="45"/>
                  <a:pt x="5" y="45"/>
                </a:cubicBezTo>
                <a:cubicBezTo>
                  <a:pt x="5" y="45"/>
                  <a:pt x="5" y="44"/>
                  <a:pt x="5" y="44"/>
                </a:cubicBezTo>
                <a:cubicBezTo>
                  <a:pt x="7" y="42"/>
                  <a:pt x="8" y="41"/>
                  <a:pt x="9" y="39"/>
                </a:cubicBezTo>
                <a:cubicBezTo>
                  <a:pt x="9" y="38"/>
                  <a:pt x="8" y="37"/>
                  <a:pt x="8" y="35"/>
                </a:cubicBezTo>
                <a:cubicBezTo>
                  <a:pt x="1" y="34"/>
                  <a:pt x="1" y="34"/>
                  <a:pt x="1" y="34"/>
                </a:cubicBezTo>
                <a:cubicBezTo>
                  <a:pt x="0" y="34"/>
                  <a:pt x="0" y="33"/>
                  <a:pt x="0" y="33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1" y="23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9" y="20"/>
                  <a:pt x="9" y="18"/>
                </a:cubicBezTo>
                <a:cubicBezTo>
                  <a:pt x="8" y="17"/>
                  <a:pt x="7" y="15"/>
                  <a:pt x="5" y="13"/>
                </a:cubicBezTo>
                <a:cubicBezTo>
                  <a:pt x="5" y="13"/>
                  <a:pt x="5" y="13"/>
                  <a:pt x="5" y="12"/>
                </a:cubicBezTo>
                <a:cubicBezTo>
                  <a:pt x="5" y="12"/>
                  <a:pt x="5" y="12"/>
                  <a:pt x="5" y="11"/>
                </a:cubicBezTo>
                <a:cubicBezTo>
                  <a:pt x="6" y="10"/>
                  <a:pt x="11" y="5"/>
                  <a:pt x="13" y="5"/>
                </a:cubicBezTo>
                <a:cubicBezTo>
                  <a:pt x="13" y="5"/>
                  <a:pt x="13" y="5"/>
                  <a:pt x="14" y="5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1" y="8"/>
                  <a:pt x="22" y="8"/>
                </a:cubicBezTo>
                <a:cubicBezTo>
                  <a:pt x="22" y="5"/>
                  <a:pt x="23" y="3"/>
                  <a:pt x="23" y="1"/>
                </a:cubicBezTo>
                <a:cubicBezTo>
                  <a:pt x="23" y="0"/>
                  <a:pt x="24" y="0"/>
                  <a:pt x="25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4" y="0"/>
                  <a:pt x="34" y="0"/>
                  <a:pt x="34" y="1"/>
                </a:cubicBezTo>
                <a:cubicBezTo>
                  <a:pt x="36" y="8"/>
                  <a:pt x="36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44" y="5"/>
                  <a:pt x="44" y="5"/>
                  <a:pt x="44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6" y="5"/>
                  <a:pt x="46" y="5"/>
                  <a:pt x="46" y="5"/>
                </a:cubicBezTo>
                <a:cubicBezTo>
                  <a:pt x="48" y="7"/>
                  <a:pt x="51" y="9"/>
                  <a:pt x="52" y="12"/>
                </a:cubicBezTo>
                <a:cubicBezTo>
                  <a:pt x="53" y="12"/>
                  <a:pt x="53" y="12"/>
                  <a:pt x="53" y="12"/>
                </a:cubicBezTo>
                <a:cubicBezTo>
                  <a:pt x="53" y="13"/>
                  <a:pt x="53" y="13"/>
                  <a:pt x="52" y="13"/>
                </a:cubicBezTo>
                <a:cubicBezTo>
                  <a:pt x="51" y="15"/>
                  <a:pt x="50" y="17"/>
                  <a:pt x="48" y="18"/>
                </a:cubicBezTo>
                <a:cubicBezTo>
                  <a:pt x="49" y="20"/>
                  <a:pt x="50" y="21"/>
                  <a:pt x="50" y="22"/>
                </a:cubicBezTo>
                <a:cubicBezTo>
                  <a:pt x="57" y="23"/>
                  <a:pt x="57" y="23"/>
                  <a:pt x="57" y="23"/>
                </a:cubicBezTo>
                <a:cubicBezTo>
                  <a:pt x="58" y="23"/>
                  <a:pt x="58" y="24"/>
                  <a:pt x="58" y="25"/>
                </a:cubicBezTo>
                <a:lnTo>
                  <a:pt x="58" y="33"/>
                </a:lnTo>
                <a:close/>
                <a:moveTo>
                  <a:pt x="29" y="19"/>
                </a:moveTo>
                <a:cubicBezTo>
                  <a:pt x="24" y="19"/>
                  <a:pt x="19" y="23"/>
                  <a:pt x="19" y="29"/>
                </a:cubicBezTo>
                <a:cubicBezTo>
                  <a:pt x="19" y="34"/>
                  <a:pt x="24" y="38"/>
                  <a:pt x="29" y="38"/>
                </a:cubicBezTo>
                <a:cubicBezTo>
                  <a:pt x="34" y="38"/>
                  <a:pt x="39" y="34"/>
                  <a:pt x="39" y="29"/>
                </a:cubicBezTo>
                <a:cubicBezTo>
                  <a:pt x="39" y="23"/>
                  <a:pt x="34" y="19"/>
                  <a:pt x="29" y="1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reeform 245"/>
          <p:cNvSpPr>
            <a:spLocks noChangeAspect="1"/>
          </p:cNvSpPr>
          <p:nvPr/>
        </p:nvSpPr>
        <p:spPr bwMode="auto">
          <a:xfrm>
            <a:off x="7360822" y="2494457"/>
            <a:ext cx="468965" cy="468965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8" y="56"/>
              </a:cxn>
              <a:cxn ang="0">
                <a:pos x="28" y="67"/>
              </a:cxn>
              <a:cxn ang="0">
                <a:pos x="26" y="68"/>
              </a:cxn>
              <a:cxn ang="0">
                <a:pos x="26" y="68"/>
              </a:cxn>
              <a:cxn ang="0">
                <a:pos x="24" y="65"/>
              </a:cxn>
              <a:cxn ang="0">
                <a:pos x="24" y="52"/>
              </a:cxn>
              <a:cxn ang="0">
                <a:pos x="57" y="12"/>
              </a:cxn>
              <a:cxn ang="0">
                <a:pos x="16" y="47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5" y="0"/>
              </a:cxn>
              <a:cxn ang="0">
                <a:pos x="67" y="0"/>
              </a:cxn>
              <a:cxn ang="0">
                <a:pos x="68" y="3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132"/>
          <p:cNvSpPr>
            <a:spLocks noChangeAspect="1" noEditPoints="1"/>
          </p:cNvSpPr>
          <p:nvPr/>
        </p:nvSpPr>
        <p:spPr bwMode="auto">
          <a:xfrm>
            <a:off x="10253297" y="2480640"/>
            <a:ext cx="516275" cy="493827"/>
          </a:xfrm>
          <a:custGeom>
            <a:avLst/>
            <a:gdLst/>
            <a:ahLst/>
            <a:cxnLst>
              <a:cxn ang="0">
                <a:pos x="62" y="31"/>
              </a:cxn>
              <a:cxn ang="0">
                <a:pos x="62" y="31"/>
              </a:cxn>
              <a:cxn ang="0">
                <a:pos x="54" y="27"/>
              </a:cxn>
              <a:cxn ang="0">
                <a:pos x="45" y="33"/>
              </a:cxn>
              <a:cxn ang="0">
                <a:pos x="44" y="35"/>
              </a:cxn>
              <a:cxn ang="0">
                <a:pos x="43" y="35"/>
              </a:cxn>
              <a:cxn ang="0">
                <a:pos x="42" y="35"/>
              </a:cxn>
              <a:cxn ang="0">
                <a:pos x="41" y="33"/>
              </a:cxn>
              <a:cxn ang="0">
                <a:pos x="32" y="27"/>
              </a:cxn>
              <a:cxn ang="0">
                <a:pos x="23" y="33"/>
              </a:cxn>
              <a:cxn ang="0">
                <a:pos x="22" y="35"/>
              </a:cxn>
              <a:cxn ang="0">
                <a:pos x="21" y="35"/>
              </a:cxn>
              <a:cxn ang="0">
                <a:pos x="20" y="35"/>
              </a:cxn>
              <a:cxn ang="0">
                <a:pos x="19" y="33"/>
              </a:cxn>
              <a:cxn ang="0">
                <a:pos x="10" y="27"/>
              </a:cxn>
              <a:cxn ang="0">
                <a:pos x="3" y="31"/>
              </a:cxn>
              <a:cxn ang="0">
                <a:pos x="2" y="31"/>
              </a:cxn>
              <a:cxn ang="0">
                <a:pos x="0" y="30"/>
              </a:cxn>
              <a:cxn ang="0">
                <a:pos x="0" y="30"/>
              </a:cxn>
              <a:cxn ang="0">
                <a:pos x="32" y="7"/>
              </a:cxn>
              <a:cxn ang="0">
                <a:pos x="64" y="30"/>
              </a:cxn>
              <a:cxn ang="0">
                <a:pos x="64" y="30"/>
              </a:cxn>
              <a:cxn ang="0">
                <a:pos x="62" y="31"/>
              </a:cxn>
              <a:cxn ang="0">
                <a:pos x="34" y="51"/>
              </a:cxn>
              <a:cxn ang="0">
                <a:pos x="25" y="61"/>
              </a:cxn>
              <a:cxn ang="0">
                <a:pos x="15" y="51"/>
              </a:cxn>
              <a:cxn ang="0">
                <a:pos x="17" y="49"/>
              </a:cxn>
              <a:cxn ang="0">
                <a:pos x="20" y="51"/>
              </a:cxn>
              <a:cxn ang="0">
                <a:pos x="25" y="56"/>
              </a:cxn>
              <a:cxn ang="0">
                <a:pos x="30" y="51"/>
              </a:cxn>
              <a:cxn ang="0">
                <a:pos x="30" y="29"/>
              </a:cxn>
              <a:cxn ang="0">
                <a:pos x="32" y="29"/>
              </a:cxn>
              <a:cxn ang="0">
                <a:pos x="34" y="29"/>
              </a:cxn>
              <a:cxn ang="0">
                <a:pos x="34" y="51"/>
              </a:cxn>
              <a:cxn ang="0">
                <a:pos x="34" y="6"/>
              </a:cxn>
              <a:cxn ang="0">
                <a:pos x="32" y="6"/>
              </a:cxn>
              <a:cxn ang="0">
                <a:pos x="30" y="6"/>
              </a:cxn>
              <a:cxn ang="0">
                <a:pos x="30" y="3"/>
              </a:cxn>
              <a:cxn ang="0">
                <a:pos x="32" y="0"/>
              </a:cxn>
              <a:cxn ang="0">
                <a:pos x="34" y="3"/>
              </a:cxn>
              <a:cxn ang="0">
                <a:pos x="34" y="6"/>
              </a:cxn>
            </a:cxnLst>
            <a:rect l="0" t="0" r="r" b="b"/>
            <a:pathLst>
              <a:path w="64" h="61">
                <a:moveTo>
                  <a:pt x="62" y="31"/>
                </a:moveTo>
                <a:cubicBezTo>
                  <a:pt x="62" y="31"/>
                  <a:pt x="62" y="31"/>
                  <a:pt x="62" y="31"/>
                </a:cubicBezTo>
                <a:cubicBezTo>
                  <a:pt x="59" y="29"/>
                  <a:pt x="57" y="27"/>
                  <a:pt x="54" y="27"/>
                </a:cubicBezTo>
                <a:cubicBezTo>
                  <a:pt x="51" y="27"/>
                  <a:pt x="47" y="30"/>
                  <a:pt x="45" y="33"/>
                </a:cubicBezTo>
                <a:cubicBezTo>
                  <a:pt x="45" y="33"/>
                  <a:pt x="45" y="34"/>
                  <a:pt x="44" y="35"/>
                </a:cubicBezTo>
                <a:cubicBezTo>
                  <a:pt x="44" y="35"/>
                  <a:pt x="44" y="35"/>
                  <a:pt x="43" y="35"/>
                </a:cubicBezTo>
                <a:cubicBezTo>
                  <a:pt x="43" y="35"/>
                  <a:pt x="42" y="35"/>
                  <a:pt x="42" y="35"/>
                </a:cubicBezTo>
                <a:cubicBezTo>
                  <a:pt x="42" y="34"/>
                  <a:pt x="41" y="33"/>
                  <a:pt x="41" y="33"/>
                </a:cubicBezTo>
                <a:cubicBezTo>
                  <a:pt x="39" y="30"/>
                  <a:pt x="36" y="27"/>
                  <a:pt x="32" y="27"/>
                </a:cubicBezTo>
                <a:cubicBezTo>
                  <a:pt x="28" y="27"/>
                  <a:pt x="25" y="30"/>
                  <a:pt x="23" y="33"/>
                </a:cubicBezTo>
                <a:cubicBezTo>
                  <a:pt x="23" y="33"/>
                  <a:pt x="22" y="34"/>
                  <a:pt x="22" y="35"/>
                </a:cubicBezTo>
                <a:cubicBezTo>
                  <a:pt x="22" y="35"/>
                  <a:pt x="22" y="35"/>
                  <a:pt x="21" y="35"/>
                </a:cubicBezTo>
                <a:cubicBezTo>
                  <a:pt x="20" y="35"/>
                  <a:pt x="20" y="35"/>
                  <a:pt x="20" y="35"/>
                </a:cubicBezTo>
                <a:cubicBezTo>
                  <a:pt x="19" y="34"/>
                  <a:pt x="19" y="33"/>
                  <a:pt x="19" y="33"/>
                </a:cubicBezTo>
                <a:cubicBezTo>
                  <a:pt x="17" y="30"/>
                  <a:pt x="14" y="27"/>
                  <a:pt x="10" y="27"/>
                </a:cubicBezTo>
                <a:cubicBezTo>
                  <a:pt x="7" y="27"/>
                  <a:pt x="5" y="29"/>
                  <a:pt x="3" y="31"/>
                </a:cubicBezTo>
                <a:cubicBezTo>
                  <a:pt x="2" y="31"/>
                  <a:pt x="2" y="31"/>
                  <a:pt x="2" y="31"/>
                </a:cubicBezTo>
                <a:cubicBezTo>
                  <a:pt x="1" y="31"/>
                  <a:pt x="0" y="31"/>
                  <a:pt x="0" y="30"/>
                </a:cubicBezTo>
                <a:cubicBezTo>
                  <a:pt x="0" y="30"/>
                  <a:pt x="0" y="30"/>
                  <a:pt x="0" y="30"/>
                </a:cubicBezTo>
                <a:cubicBezTo>
                  <a:pt x="4" y="16"/>
                  <a:pt x="18" y="7"/>
                  <a:pt x="32" y="7"/>
                </a:cubicBezTo>
                <a:cubicBezTo>
                  <a:pt x="46" y="7"/>
                  <a:pt x="60" y="16"/>
                  <a:pt x="64" y="30"/>
                </a:cubicBezTo>
                <a:cubicBezTo>
                  <a:pt x="64" y="30"/>
                  <a:pt x="64" y="30"/>
                  <a:pt x="64" y="30"/>
                </a:cubicBezTo>
                <a:cubicBezTo>
                  <a:pt x="64" y="31"/>
                  <a:pt x="63" y="31"/>
                  <a:pt x="62" y="31"/>
                </a:cubicBezTo>
                <a:close/>
                <a:moveTo>
                  <a:pt x="34" y="51"/>
                </a:moveTo>
                <a:cubicBezTo>
                  <a:pt x="34" y="56"/>
                  <a:pt x="30" y="61"/>
                  <a:pt x="25" y="61"/>
                </a:cubicBezTo>
                <a:cubicBezTo>
                  <a:pt x="19" y="61"/>
                  <a:pt x="15" y="56"/>
                  <a:pt x="15" y="51"/>
                </a:cubicBezTo>
                <a:cubicBezTo>
                  <a:pt x="15" y="50"/>
                  <a:pt x="16" y="49"/>
                  <a:pt x="17" y="49"/>
                </a:cubicBezTo>
                <a:cubicBezTo>
                  <a:pt x="19" y="49"/>
                  <a:pt x="20" y="50"/>
                  <a:pt x="20" y="51"/>
                </a:cubicBezTo>
                <a:cubicBezTo>
                  <a:pt x="20" y="54"/>
                  <a:pt x="22" y="56"/>
                  <a:pt x="25" y="56"/>
                </a:cubicBezTo>
                <a:cubicBezTo>
                  <a:pt x="27" y="56"/>
                  <a:pt x="30" y="54"/>
                  <a:pt x="30" y="51"/>
                </a:cubicBezTo>
                <a:cubicBezTo>
                  <a:pt x="30" y="29"/>
                  <a:pt x="30" y="29"/>
                  <a:pt x="30" y="29"/>
                </a:cubicBezTo>
                <a:cubicBezTo>
                  <a:pt x="30" y="29"/>
                  <a:pt x="31" y="29"/>
                  <a:pt x="32" y="29"/>
                </a:cubicBezTo>
                <a:cubicBezTo>
                  <a:pt x="33" y="29"/>
                  <a:pt x="34" y="29"/>
                  <a:pt x="34" y="29"/>
                </a:cubicBezTo>
                <a:lnTo>
                  <a:pt x="34" y="51"/>
                </a:lnTo>
                <a:close/>
                <a:moveTo>
                  <a:pt x="34" y="6"/>
                </a:moveTo>
                <a:cubicBezTo>
                  <a:pt x="34" y="6"/>
                  <a:pt x="33" y="6"/>
                  <a:pt x="32" y="6"/>
                </a:cubicBezTo>
                <a:cubicBezTo>
                  <a:pt x="31" y="6"/>
                  <a:pt x="30" y="6"/>
                  <a:pt x="30" y="6"/>
                </a:cubicBezTo>
                <a:cubicBezTo>
                  <a:pt x="30" y="3"/>
                  <a:pt x="30" y="3"/>
                  <a:pt x="30" y="3"/>
                </a:cubicBezTo>
                <a:cubicBezTo>
                  <a:pt x="30" y="1"/>
                  <a:pt x="31" y="0"/>
                  <a:pt x="32" y="0"/>
                </a:cubicBezTo>
                <a:cubicBezTo>
                  <a:pt x="33" y="0"/>
                  <a:pt x="34" y="1"/>
                  <a:pt x="34" y="3"/>
                </a:cubicBezTo>
                <a:lnTo>
                  <a:pt x="34" y="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Down Arrow Callout 33">
            <a:extLst>
              <a:ext uri="{FF2B5EF4-FFF2-40B4-BE49-F238E27FC236}">
                <a16:creationId xmlns:a16="http://schemas.microsoft.com/office/drawing/2014/main" id="{2163554B-8001-4045-80BC-75F59C765C5B}"/>
              </a:ext>
            </a:extLst>
          </p:cNvPr>
          <p:cNvSpPr/>
          <p:nvPr/>
        </p:nvSpPr>
        <p:spPr>
          <a:xfrm>
            <a:off x="3433121" y="1825932"/>
            <a:ext cx="2472192" cy="4301321"/>
          </a:xfrm>
          <a:prstGeom prst="downArrowCallout">
            <a:avLst>
              <a:gd name="adj1" fmla="val 25000"/>
              <a:gd name="adj2" fmla="val 6698"/>
              <a:gd name="adj3" fmla="val 4369"/>
              <a:gd name="adj4" fmla="val 97489"/>
            </a:avLst>
          </a:prstGeom>
          <a:solidFill>
            <a:srgbClr val="ED727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AD3F85-0358-44FF-B068-DE849705BDE6}"/>
              </a:ext>
            </a:extLst>
          </p:cNvPr>
          <p:cNvSpPr txBox="1"/>
          <p:nvPr/>
        </p:nvSpPr>
        <p:spPr>
          <a:xfrm>
            <a:off x="3507778" y="3424381"/>
            <a:ext cx="2403699" cy="1770741"/>
          </a:xfrm>
          <a:prstGeom prst="rect">
            <a:avLst/>
          </a:prstGeom>
          <a:solidFill>
            <a:srgbClr val="ED7279"/>
          </a:solidFill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Prosodic Features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relate to rhythm, intonation, and stress in speech, often indicative of voice abnormalities.</a:t>
            </a: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lowchart: Off-page Connector 24">
            <a:extLst>
              <a:ext uri="{FF2B5EF4-FFF2-40B4-BE49-F238E27FC236}">
                <a16:creationId xmlns:a16="http://schemas.microsoft.com/office/drawing/2014/main" id="{C482E318-245D-4C8E-82B0-F28D420B78F7}"/>
              </a:ext>
            </a:extLst>
          </p:cNvPr>
          <p:cNvSpPr/>
          <p:nvPr/>
        </p:nvSpPr>
        <p:spPr>
          <a:xfrm>
            <a:off x="4146668" y="2215419"/>
            <a:ext cx="1045100" cy="1018007"/>
          </a:xfrm>
          <a:prstGeom prst="flowChartOffpageConnector">
            <a:avLst/>
          </a:prstGeom>
          <a:solidFill>
            <a:srgbClr val="7F6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217">
            <a:extLst>
              <a:ext uri="{FF2B5EF4-FFF2-40B4-BE49-F238E27FC236}">
                <a16:creationId xmlns:a16="http://schemas.microsoft.com/office/drawing/2014/main" id="{335028A5-72B9-488F-BADF-27632328EECD}"/>
              </a:ext>
            </a:extLst>
          </p:cNvPr>
          <p:cNvSpPr>
            <a:spLocks noEditPoints="1"/>
          </p:cNvSpPr>
          <p:nvPr/>
        </p:nvSpPr>
        <p:spPr bwMode="auto">
          <a:xfrm>
            <a:off x="4402999" y="2439509"/>
            <a:ext cx="505173" cy="378881"/>
          </a:xfrm>
          <a:custGeom>
            <a:avLst/>
            <a:gdLst/>
            <a:ahLst/>
            <a:cxnLst>
              <a:cxn ang="0">
                <a:pos x="78" y="58"/>
              </a:cxn>
              <a:cxn ang="0">
                <a:pos x="0" y="58"/>
              </a:cxn>
              <a:cxn ang="0">
                <a:pos x="0" y="0"/>
              </a:cxn>
              <a:cxn ang="0">
                <a:pos x="5" y="0"/>
              </a:cxn>
              <a:cxn ang="0">
                <a:pos x="5" y="53"/>
              </a:cxn>
              <a:cxn ang="0">
                <a:pos x="78" y="53"/>
              </a:cxn>
              <a:cxn ang="0">
                <a:pos x="78" y="58"/>
              </a:cxn>
              <a:cxn ang="0">
                <a:pos x="73" y="22"/>
              </a:cxn>
              <a:cxn ang="0">
                <a:pos x="71" y="23"/>
              </a:cxn>
              <a:cxn ang="0">
                <a:pos x="66" y="18"/>
              </a:cxn>
              <a:cxn ang="0">
                <a:pos x="42" y="42"/>
              </a:cxn>
              <a:cxn ang="0">
                <a:pos x="40" y="42"/>
              </a:cxn>
              <a:cxn ang="0">
                <a:pos x="31" y="34"/>
              </a:cxn>
              <a:cxn ang="0">
                <a:pos x="16" y="49"/>
              </a:cxn>
              <a:cxn ang="0">
                <a:pos x="8" y="42"/>
              </a:cxn>
              <a:cxn ang="0">
                <a:pos x="30" y="20"/>
              </a:cxn>
              <a:cxn ang="0">
                <a:pos x="32" y="20"/>
              </a:cxn>
              <a:cxn ang="0">
                <a:pos x="41" y="29"/>
              </a:cxn>
              <a:cxn ang="0">
                <a:pos x="59" y="11"/>
              </a:cxn>
              <a:cxn ang="0">
                <a:pos x="54" y="6"/>
              </a:cxn>
              <a:cxn ang="0">
                <a:pos x="55" y="4"/>
              </a:cxn>
              <a:cxn ang="0">
                <a:pos x="71" y="4"/>
              </a:cxn>
              <a:cxn ang="0">
                <a:pos x="73" y="6"/>
              </a:cxn>
              <a:cxn ang="0">
                <a:pos x="73" y="22"/>
              </a:cxn>
            </a:cxnLst>
            <a:rect l="0" t="0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0CE0BC0-AC2C-470E-937E-872C35D0BEB9}"/>
              </a:ext>
            </a:extLst>
          </p:cNvPr>
          <p:cNvSpPr txBox="1">
            <a:spLocks/>
          </p:cNvSpPr>
          <p:nvPr/>
        </p:nvSpPr>
        <p:spPr>
          <a:xfrm>
            <a:off x="2680406" y="128718"/>
            <a:ext cx="6831188" cy="132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Feature Analysis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"/>
                            </p:stCondLst>
                            <p:childTnLst>
                              <p:par>
                                <p:cTn id="6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500"/>
                            </p:stCondLst>
                            <p:childTnLst>
                              <p:par>
                                <p:cTn id="75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4" grpId="0" animBg="1"/>
      <p:bldP spid="40" grpId="0"/>
      <p:bldP spid="41" grpId="0" animBg="1"/>
      <p:bldP spid="42" grpId="0"/>
      <p:bldP spid="43" grpId="0" animBg="1"/>
      <p:bldP spid="16" grpId="0" animBg="1"/>
      <p:bldP spid="17" grpId="0"/>
      <p:bldP spid="18" grpId="0" animBg="1"/>
      <p:bldP spid="15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8B972-0827-4867-A72E-561188244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443" y="2960716"/>
            <a:ext cx="2715427" cy="8576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Features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0DCB29-957F-4C0F-9E94-BF2B95C94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0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4E3EE0-B54D-41B7-BFB9-30BD8C31A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957" y="519374"/>
            <a:ext cx="7806326" cy="559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0726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5C9D962-F904-4553-A140-500CF3EF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2FE0FA2-B10C-4B9F-B9CC-E5D9AD400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314048">
            <a:off x="-271537" y="-884980"/>
            <a:ext cx="12642772" cy="6248341"/>
          </a:xfrm>
          <a:custGeom>
            <a:avLst/>
            <a:gdLst>
              <a:gd name="connsiteX0" fmla="*/ 12642772 w 12642772"/>
              <a:gd name="connsiteY0" fmla="*/ 4432052 h 6248341"/>
              <a:gd name="connsiteX1" fmla="*/ 586822 w 12642772"/>
              <a:gd name="connsiteY1" fmla="*/ 6248341 h 6248341"/>
              <a:gd name="connsiteX2" fmla="*/ 0 w 12642772"/>
              <a:gd name="connsiteY2" fmla="*/ 2394542 h 6248341"/>
              <a:gd name="connsiteX3" fmla="*/ 52893 w 12642772"/>
              <a:gd name="connsiteY3" fmla="*/ 2306669 h 6248341"/>
              <a:gd name="connsiteX4" fmla="*/ 131535 w 12642772"/>
              <a:gd name="connsiteY4" fmla="*/ 2293621 h 6248341"/>
              <a:gd name="connsiteX5" fmla="*/ 244153 w 12642772"/>
              <a:gd name="connsiteY5" fmla="*/ 2272261 h 6248341"/>
              <a:gd name="connsiteX6" fmla="*/ 324401 w 12642772"/>
              <a:gd name="connsiteY6" fmla="*/ 2233208 h 6248341"/>
              <a:gd name="connsiteX7" fmla="*/ 463569 w 12642772"/>
              <a:gd name="connsiteY7" fmla="*/ 2158308 h 6248341"/>
              <a:gd name="connsiteX8" fmla="*/ 582537 w 12642772"/>
              <a:gd name="connsiteY8" fmla="*/ 2095961 h 6248341"/>
              <a:gd name="connsiteX9" fmla="*/ 638937 w 12642772"/>
              <a:gd name="connsiteY9" fmla="*/ 2008169 h 6248341"/>
              <a:gd name="connsiteX10" fmla="*/ 749855 w 12642772"/>
              <a:gd name="connsiteY10" fmla="*/ 1936088 h 6248341"/>
              <a:gd name="connsiteX11" fmla="*/ 856553 w 12642772"/>
              <a:gd name="connsiteY11" fmla="*/ 1892728 h 6248341"/>
              <a:gd name="connsiteX12" fmla="*/ 939338 w 12642772"/>
              <a:gd name="connsiteY12" fmla="*/ 1863906 h 6248341"/>
              <a:gd name="connsiteX13" fmla="*/ 987836 w 12642772"/>
              <a:gd name="connsiteY13" fmla="*/ 1848470 h 6248341"/>
              <a:gd name="connsiteX14" fmla="*/ 1086094 w 12642772"/>
              <a:gd name="connsiteY14" fmla="*/ 1834336 h 6248341"/>
              <a:gd name="connsiteX15" fmla="*/ 1155607 w 12642772"/>
              <a:gd name="connsiteY15" fmla="*/ 1814299 h 6248341"/>
              <a:gd name="connsiteX16" fmla="*/ 1219621 w 12642772"/>
              <a:gd name="connsiteY16" fmla="*/ 1774472 h 6248341"/>
              <a:gd name="connsiteX17" fmla="*/ 1275113 w 12642772"/>
              <a:gd name="connsiteY17" fmla="*/ 1734756 h 6248341"/>
              <a:gd name="connsiteX18" fmla="*/ 1337800 w 12642772"/>
              <a:gd name="connsiteY18" fmla="*/ 1684579 h 6248341"/>
              <a:gd name="connsiteX19" fmla="*/ 1526287 w 12642772"/>
              <a:gd name="connsiteY19" fmla="*/ 1602057 h 6248341"/>
              <a:gd name="connsiteX20" fmla="*/ 1579126 w 12642772"/>
              <a:gd name="connsiteY20" fmla="*/ 1559561 h 6248341"/>
              <a:gd name="connsiteX21" fmla="*/ 1651242 w 12642772"/>
              <a:gd name="connsiteY21" fmla="*/ 1546569 h 6248341"/>
              <a:gd name="connsiteX22" fmla="*/ 1712038 w 12642772"/>
              <a:gd name="connsiteY22" fmla="*/ 1533432 h 6248341"/>
              <a:gd name="connsiteX23" fmla="*/ 1758402 w 12642772"/>
              <a:gd name="connsiteY23" fmla="*/ 1525816 h 6248341"/>
              <a:gd name="connsiteX24" fmla="*/ 1831776 w 12642772"/>
              <a:gd name="connsiteY24" fmla="*/ 1504679 h 6248341"/>
              <a:gd name="connsiteX25" fmla="*/ 1963032 w 12642772"/>
              <a:gd name="connsiteY25" fmla="*/ 1472999 h 6248341"/>
              <a:gd name="connsiteX26" fmla="*/ 2006520 w 12642772"/>
              <a:gd name="connsiteY26" fmla="*/ 1464281 h 6248341"/>
              <a:gd name="connsiteX27" fmla="*/ 2049195 w 12642772"/>
              <a:gd name="connsiteY27" fmla="*/ 1459572 h 6248341"/>
              <a:gd name="connsiteX28" fmla="*/ 2125117 w 12642772"/>
              <a:gd name="connsiteY28" fmla="*/ 1432093 h 6248341"/>
              <a:gd name="connsiteX29" fmla="*/ 2234987 w 12642772"/>
              <a:gd name="connsiteY29" fmla="*/ 1408543 h 6248341"/>
              <a:gd name="connsiteX30" fmla="*/ 2349979 w 12642772"/>
              <a:gd name="connsiteY30" fmla="*/ 1370325 h 6248341"/>
              <a:gd name="connsiteX31" fmla="*/ 2490342 w 12642772"/>
              <a:gd name="connsiteY31" fmla="*/ 1337371 h 6248341"/>
              <a:gd name="connsiteX32" fmla="*/ 2721983 w 12642772"/>
              <a:gd name="connsiteY32" fmla="*/ 1255221 h 6248341"/>
              <a:gd name="connsiteX33" fmla="*/ 2740778 w 12642772"/>
              <a:gd name="connsiteY33" fmla="*/ 1232389 h 6248341"/>
              <a:gd name="connsiteX34" fmla="*/ 2772006 w 12642772"/>
              <a:gd name="connsiteY34" fmla="*/ 1218123 h 6248341"/>
              <a:gd name="connsiteX35" fmla="*/ 2850754 w 12642772"/>
              <a:gd name="connsiteY35" fmla="*/ 1180094 h 6248341"/>
              <a:gd name="connsiteX36" fmla="*/ 2872381 w 12642772"/>
              <a:gd name="connsiteY36" fmla="*/ 1159349 h 6248341"/>
              <a:gd name="connsiteX37" fmla="*/ 2877664 w 12642772"/>
              <a:gd name="connsiteY37" fmla="*/ 1153429 h 6248341"/>
              <a:gd name="connsiteX38" fmla="*/ 2898982 w 12642772"/>
              <a:gd name="connsiteY38" fmla="*/ 1143332 h 6248341"/>
              <a:gd name="connsiteX39" fmla="*/ 2900154 w 12642772"/>
              <a:gd name="connsiteY39" fmla="*/ 1144257 h 6248341"/>
              <a:gd name="connsiteX40" fmla="*/ 2913224 w 12642772"/>
              <a:gd name="connsiteY40" fmla="*/ 1144530 h 6248341"/>
              <a:gd name="connsiteX41" fmla="*/ 2936660 w 12642772"/>
              <a:gd name="connsiteY41" fmla="*/ 1142412 h 6248341"/>
              <a:gd name="connsiteX42" fmla="*/ 2997572 w 12642772"/>
              <a:gd name="connsiteY42" fmla="*/ 1141831 h 6248341"/>
              <a:gd name="connsiteX43" fmla="*/ 3044472 w 12642772"/>
              <a:gd name="connsiteY43" fmla="*/ 1131369 h 6248341"/>
              <a:gd name="connsiteX44" fmla="*/ 3044790 w 12642772"/>
              <a:gd name="connsiteY44" fmla="*/ 1131569 h 6248341"/>
              <a:gd name="connsiteX45" fmla="*/ 3053469 w 12642772"/>
              <a:gd name="connsiteY45" fmla="*/ 1129009 h 6248341"/>
              <a:gd name="connsiteX46" fmla="*/ 3058924 w 12642772"/>
              <a:gd name="connsiteY46" fmla="*/ 1126056 h 6248341"/>
              <a:gd name="connsiteX47" fmla="*/ 3074299 w 12642772"/>
              <a:gd name="connsiteY47" fmla="*/ 1120405 h 6248341"/>
              <a:gd name="connsiteX48" fmla="*/ 3080657 w 12642772"/>
              <a:gd name="connsiteY48" fmla="*/ 1120171 h 6248341"/>
              <a:gd name="connsiteX49" fmla="*/ 3085901 w 12642772"/>
              <a:gd name="connsiteY49" fmla="*/ 1121681 h 6248341"/>
              <a:gd name="connsiteX50" fmla="*/ 3109448 w 12642772"/>
              <a:gd name="connsiteY50" fmla="*/ 1097576 h 6248341"/>
              <a:gd name="connsiteX51" fmla="*/ 3120280 w 12642772"/>
              <a:gd name="connsiteY51" fmla="*/ 1092673 h 6248341"/>
              <a:gd name="connsiteX52" fmla="*/ 3151969 w 12642772"/>
              <a:gd name="connsiteY52" fmla="*/ 1093148 h 6248341"/>
              <a:gd name="connsiteX53" fmla="*/ 3156202 w 12642772"/>
              <a:gd name="connsiteY53" fmla="*/ 1091941 h 6248341"/>
              <a:gd name="connsiteX54" fmla="*/ 3218578 w 12642772"/>
              <a:gd name="connsiteY54" fmla="*/ 1084695 h 6248341"/>
              <a:gd name="connsiteX55" fmla="*/ 3291572 w 12642772"/>
              <a:gd name="connsiteY55" fmla="*/ 1074108 h 6248341"/>
              <a:gd name="connsiteX56" fmla="*/ 3335322 w 12642772"/>
              <a:gd name="connsiteY56" fmla="*/ 1065344 h 6248341"/>
              <a:gd name="connsiteX57" fmla="*/ 3444471 w 12642772"/>
              <a:gd name="connsiteY57" fmla="*/ 1040037 h 6248341"/>
              <a:gd name="connsiteX58" fmla="*/ 3516736 w 12642772"/>
              <a:gd name="connsiteY58" fmla="*/ 1044495 h 6248341"/>
              <a:gd name="connsiteX59" fmla="*/ 3529913 w 12642772"/>
              <a:gd name="connsiteY59" fmla="*/ 1036395 h 6248341"/>
              <a:gd name="connsiteX60" fmla="*/ 3534215 w 12642772"/>
              <a:gd name="connsiteY60" fmla="*/ 1032644 h 6248341"/>
              <a:gd name="connsiteX61" fmla="*/ 3541901 w 12642772"/>
              <a:gd name="connsiteY61" fmla="*/ 1028655 h 6248341"/>
              <a:gd name="connsiteX62" fmla="*/ 3542297 w 12642772"/>
              <a:gd name="connsiteY62" fmla="*/ 1028781 h 6248341"/>
              <a:gd name="connsiteX63" fmla="*/ 3549091 w 12642772"/>
              <a:gd name="connsiteY63" fmla="*/ 1024603 h 6248341"/>
              <a:gd name="connsiteX64" fmla="*/ 3668564 w 12642772"/>
              <a:gd name="connsiteY64" fmla="*/ 992085 h 6248341"/>
              <a:gd name="connsiteX65" fmla="*/ 3681760 w 12642772"/>
              <a:gd name="connsiteY65" fmla="*/ 989897 h 6248341"/>
              <a:gd name="connsiteX66" fmla="*/ 3683298 w 12642772"/>
              <a:gd name="connsiteY66" fmla="*/ 990533 h 6248341"/>
              <a:gd name="connsiteX67" fmla="*/ 3701238 w 12642772"/>
              <a:gd name="connsiteY67" fmla="*/ 978370 h 6248341"/>
              <a:gd name="connsiteX68" fmla="*/ 3727029 w 12642772"/>
              <a:gd name="connsiteY68" fmla="*/ 982634 h 6248341"/>
              <a:gd name="connsiteX69" fmla="*/ 3827462 w 12642772"/>
              <a:gd name="connsiteY69" fmla="*/ 983777 h 6248341"/>
              <a:gd name="connsiteX70" fmla="*/ 3939255 w 12642772"/>
              <a:gd name="connsiteY70" fmla="*/ 962526 h 6248341"/>
              <a:gd name="connsiteX71" fmla="*/ 3976764 w 12642772"/>
              <a:gd name="connsiteY71" fmla="*/ 943975 h 6248341"/>
              <a:gd name="connsiteX72" fmla="*/ 4039745 w 12642772"/>
              <a:gd name="connsiteY72" fmla="*/ 913576 h 6248341"/>
              <a:gd name="connsiteX73" fmla="*/ 4081478 w 12642772"/>
              <a:gd name="connsiteY73" fmla="*/ 863744 h 6248341"/>
              <a:gd name="connsiteX74" fmla="*/ 4136255 w 12642772"/>
              <a:gd name="connsiteY74" fmla="*/ 849070 h 6248341"/>
              <a:gd name="connsiteX75" fmla="*/ 4155885 w 12642772"/>
              <a:gd name="connsiteY75" fmla="*/ 880724 h 6248341"/>
              <a:gd name="connsiteX76" fmla="*/ 4212239 w 12642772"/>
              <a:gd name="connsiteY76" fmla="*/ 853648 h 6248341"/>
              <a:gd name="connsiteX77" fmla="*/ 4296968 w 12642772"/>
              <a:gd name="connsiteY77" fmla="*/ 808725 h 6248341"/>
              <a:gd name="connsiteX78" fmla="*/ 4347619 w 12642772"/>
              <a:gd name="connsiteY78" fmla="*/ 791871 h 6248341"/>
              <a:gd name="connsiteX79" fmla="*/ 4484035 w 12642772"/>
              <a:gd name="connsiteY79" fmla="*/ 736001 h 6248341"/>
              <a:gd name="connsiteX80" fmla="*/ 4619194 w 12642772"/>
              <a:gd name="connsiteY80" fmla="*/ 672546 h 6248341"/>
              <a:gd name="connsiteX81" fmla="*/ 4648276 w 12642772"/>
              <a:gd name="connsiteY81" fmla="*/ 677255 h 6248341"/>
              <a:gd name="connsiteX82" fmla="*/ 4658535 w 12642772"/>
              <a:gd name="connsiteY82" fmla="*/ 658404 h 6248341"/>
              <a:gd name="connsiteX83" fmla="*/ 4684435 w 12642772"/>
              <a:gd name="connsiteY83" fmla="*/ 658040 h 6248341"/>
              <a:gd name="connsiteX84" fmla="*/ 4685966 w 12642772"/>
              <a:gd name="connsiteY84" fmla="*/ 659300 h 6248341"/>
              <a:gd name="connsiteX85" fmla="*/ 4773323 w 12642772"/>
              <a:gd name="connsiteY85" fmla="*/ 620033 h 6248341"/>
              <a:gd name="connsiteX86" fmla="*/ 4789881 w 12642772"/>
              <a:gd name="connsiteY86" fmla="*/ 612833 h 6248341"/>
              <a:gd name="connsiteX87" fmla="*/ 4793116 w 12642772"/>
              <a:gd name="connsiteY87" fmla="*/ 606807 h 6248341"/>
              <a:gd name="connsiteX88" fmla="*/ 4818294 w 12642772"/>
              <a:gd name="connsiteY88" fmla="*/ 598208 h 6248341"/>
              <a:gd name="connsiteX89" fmla="*/ 4889379 w 12642772"/>
              <a:gd name="connsiteY89" fmla="*/ 574856 h 6248341"/>
              <a:gd name="connsiteX90" fmla="*/ 4967000 w 12642772"/>
              <a:gd name="connsiteY90" fmla="*/ 563548 h 6248341"/>
              <a:gd name="connsiteX91" fmla="*/ 5011397 w 12642772"/>
              <a:gd name="connsiteY91" fmla="*/ 546508 h 6248341"/>
              <a:gd name="connsiteX92" fmla="*/ 5017511 w 12642772"/>
              <a:gd name="connsiteY92" fmla="*/ 542737 h 6248341"/>
              <a:gd name="connsiteX93" fmla="*/ 5022951 w 12642772"/>
              <a:gd name="connsiteY93" fmla="*/ 543578 h 6248341"/>
              <a:gd name="connsiteX94" fmla="*/ 5028686 w 12642772"/>
              <a:gd name="connsiteY94" fmla="*/ 550797 h 6248341"/>
              <a:gd name="connsiteX95" fmla="*/ 5055222 w 12642772"/>
              <a:gd name="connsiteY95" fmla="*/ 551685 h 6248341"/>
              <a:gd name="connsiteX96" fmla="*/ 5058043 w 12642772"/>
              <a:gd name="connsiteY96" fmla="*/ 549365 h 6248341"/>
              <a:gd name="connsiteX97" fmla="*/ 5080769 w 12642772"/>
              <a:gd name="connsiteY97" fmla="*/ 559110 h 6248341"/>
              <a:gd name="connsiteX98" fmla="*/ 5100831 w 12642772"/>
              <a:gd name="connsiteY98" fmla="*/ 578170 h 6248341"/>
              <a:gd name="connsiteX99" fmla="*/ 5323302 w 12642772"/>
              <a:gd name="connsiteY99" fmla="*/ 551607 h 6248341"/>
              <a:gd name="connsiteX100" fmla="*/ 5524173 w 12642772"/>
              <a:gd name="connsiteY100" fmla="*/ 623428 h 6248341"/>
              <a:gd name="connsiteX101" fmla="*/ 5644692 w 12642772"/>
              <a:gd name="connsiteY101" fmla="*/ 606574 h 6248341"/>
              <a:gd name="connsiteX102" fmla="*/ 5984259 w 12642772"/>
              <a:gd name="connsiteY102" fmla="*/ 559264 h 6248341"/>
              <a:gd name="connsiteX103" fmla="*/ 6059790 w 12642772"/>
              <a:gd name="connsiteY103" fmla="*/ 538457 h 6248341"/>
              <a:gd name="connsiteX104" fmla="*/ 6130495 w 12642772"/>
              <a:gd name="connsiteY104" fmla="*/ 565308 h 6248341"/>
              <a:gd name="connsiteX105" fmla="*/ 6157089 w 12642772"/>
              <a:gd name="connsiteY105" fmla="*/ 547229 h 6248341"/>
              <a:gd name="connsiteX106" fmla="*/ 6161628 w 12642772"/>
              <a:gd name="connsiteY106" fmla="*/ 543616 h 6248341"/>
              <a:gd name="connsiteX107" fmla="*/ 6180804 w 12642772"/>
              <a:gd name="connsiteY107" fmla="*/ 539939 h 6248341"/>
              <a:gd name="connsiteX108" fmla="*/ 6184951 w 12642772"/>
              <a:gd name="connsiteY108" fmla="*/ 525424 h 6248341"/>
              <a:gd name="connsiteX109" fmla="*/ 6212909 w 12642772"/>
              <a:gd name="connsiteY109" fmla="*/ 510232 h 6248341"/>
              <a:gd name="connsiteX110" fmla="*/ 6248556 w 12642772"/>
              <a:gd name="connsiteY110" fmla="*/ 507226 h 6248341"/>
              <a:gd name="connsiteX111" fmla="*/ 6419167 w 12642772"/>
              <a:gd name="connsiteY111" fmla="*/ 508015 h 6248341"/>
              <a:gd name="connsiteX112" fmla="*/ 6520553 w 12642772"/>
              <a:gd name="connsiteY112" fmla="*/ 499890 h 6248341"/>
              <a:gd name="connsiteX113" fmla="*/ 6557985 w 12642772"/>
              <a:gd name="connsiteY113" fmla="*/ 483298 h 6248341"/>
              <a:gd name="connsiteX114" fmla="*/ 6610986 w 12642772"/>
              <a:gd name="connsiteY114" fmla="*/ 469207 h 6248341"/>
              <a:gd name="connsiteX115" fmla="*/ 6703685 w 12642772"/>
              <a:gd name="connsiteY115" fmla="*/ 433885 h 6248341"/>
              <a:gd name="connsiteX116" fmla="*/ 6829686 w 12642772"/>
              <a:gd name="connsiteY116" fmla="*/ 404609 h 6248341"/>
              <a:gd name="connsiteX117" fmla="*/ 6926071 w 12642772"/>
              <a:gd name="connsiteY117" fmla="*/ 440952 h 6248341"/>
              <a:gd name="connsiteX118" fmla="*/ 6933459 w 12642772"/>
              <a:gd name="connsiteY118" fmla="*/ 430117 h 6248341"/>
              <a:gd name="connsiteX119" fmla="*/ 6997730 w 12642772"/>
              <a:gd name="connsiteY119" fmla="*/ 427075 h 6248341"/>
              <a:gd name="connsiteX120" fmla="*/ 7228068 w 12642772"/>
              <a:gd name="connsiteY120" fmla="*/ 485987 h 6248341"/>
              <a:gd name="connsiteX121" fmla="*/ 7353524 w 12642772"/>
              <a:gd name="connsiteY121" fmla="*/ 478122 h 6248341"/>
              <a:gd name="connsiteX122" fmla="*/ 7397216 w 12642772"/>
              <a:gd name="connsiteY122" fmla="*/ 464113 h 6248341"/>
              <a:gd name="connsiteX123" fmla="*/ 7470470 w 12642772"/>
              <a:gd name="connsiteY123" fmla="*/ 441338 h 6248341"/>
              <a:gd name="connsiteX124" fmla="*/ 7523162 w 12642772"/>
              <a:gd name="connsiteY124" fmla="*/ 396692 h 6248341"/>
              <a:gd name="connsiteX125" fmla="*/ 7585229 w 12642772"/>
              <a:gd name="connsiteY125" fmla="*/ 388596 h 6248341"/>
              <a:gd name="connsiteX126" fmla="*/ 7602312 w 12642772"/>
              <a:gd name="connsiteY126" fmla="*/ 422441 h 6248341"/>
              <a:gd name="connsiteX127" fmla="*/ 7667842 w 12642772"/>
              <a:gd name="connsiteY127" fmla="*/ 402184 h 6248341"/>
              <a:gd name="connsiteX128" fmla="*/ 7766955 w 12642772"/>
              <a:gd name="connsiteY128" fmla="*/ 367538 h 6248341"/>
              <a:gd name="connsiteX129" fmla="*/ 7824808 w 12642772"/>
              <a:gd name="connsiteY129" fmla="*/ 356782 h 6248341"/>
              <a:gd name="connsiteX130" fmla="*/ 7982082 w 12642772"/>
              <a:gd name="connsiteY130" fmla="*/ 317381 h 6248341"/>
              <a:gd name="connsiteX131" fmla="*/ 8139042 w 12642772"/>
              <a:gd name="connsiteY131" fmla="*/ 270278 h 6248341"/>
              <a:gd name="connsiteX132" fmla="*/ 8188479 w 12642772"/>
              <a:gd name="connsiteY132" fmla="*/ 250893 h 6248341"/>
              <a:gd name="connsiteX133" fmla="*/ 8197460 w 12642772"/>
              <a:gd name="connsiteY133" fmla="*/ 227412 h 6248341"/>
              <a:gd name="connsiteX134" fmla="*/ 8236543 w 12642772"/>
              <a:gd name="connsiteY134" fmla="*/ 231896 h 6248341"/>
              <a:gd name="connsiteX135" fmla="*/ 8288656 w 12642772"/>
              <a:gd name="connsiteY135" fmla="*/ 233518 h 6248341"/>
              <a:gd name="connsiteX136" fmla="*/ 8365194 w 12642772"/>
              <a:gd name="connsiteY136" fmla="*/ 255354 h 6248341"/>
              <a:gd name="connsiteX137" fmla="*/ 8371093 w 12642772"/>
              <a:gd name="connsiteY137" fmla="*/ 253056 h 6248341"/>
              <a:gd name="connsiteX138" fmla="*/ 8380079 w 12642772"/>
              <a:gd name="connsiteY138" fmla="*/ 251533 h 6248341"/>
              <a:gd name="connsiteX139" fmla="*/ 8380352 w 12642772"/>
              <a:gd name="connsiteY139" fmla="*/ 251771 h 6248341"/>
              <a:gd name="connsiteX140" fmla="*/ 8388670 w 12642772"/>
              <a:gd name="connsiteY140" fmla="*/ 249803 h 6248341"/>
              <a:gd name="connsiteX141" fmla="*/ 8439400 w 12642772"/>
              <a:gd name="connsiteY141" fmla="*/ 252189 h 6248341"/>
              <a:gd name="connsiteX142" fmla="*/ 8502127 w 12642772"/>
              <a:gd name="connsiteY142" fmla="*/ 246524 h 6248341"/>
              <a:gd name="connsiteX143" fmla="*/ 8575600 w 12642772"/>
              <a:gd name="connsiteY143" fmla="*/ 247912 h 6248341"/>
              <a:gd name="connsiteX144" fmla="*/ 8609423 w 12642772"/>
              <a:gd name="connsiteY144" fmla="*/ 225288 h 6248341"/>
              <a:gd name="connsiteX145" fmla="*/ 8628794 w 12642772"/>
              <a:gd name="connsiteY145" fmla="*/ 220632 h 6248341"/>
              <a:gd name="connsiteX146" fmla="*/ 8631243 w 12642772"/>
              <a:gd name="connsiteY146" fmla="*/ 221270 h 6248341"/>
              <a:gd name="connsiteX147" fmla="*/ 8708752 w 12642772"/>
              <a:gd name="connsiteY147" fmla="*/ 203517 h 6248341"/>
              <a:gd name="connsiteX148" fmla="*/ 8825952 w 12642772"/>
              <a:gd name="connsiteY148" fmla="*/ 177822 h 6248341"/>
              <a:gd name="connsiteX149" fmla="*/ 8862166 w 12642772"/>
              <a:gd name="connsiteY149" fmla="*/ 170735 h 6248341"/>
              <a:gd name="connsiteX150" fmla="*/ 8884490 w 12642772"/>
              <a:gd name="connsiteY150" fmla="*/ 165616 h 6248341"/>
              <a:gd name="connsiteX151" fmla="*/ 8918298 w 12642772"/>
              <a:gd name="connsiteY151" fmla="*/ 194546 h 6248341"/>
              <a:gd name="connsiteX152" fmla="*/ 8948572 w 12642772"/>
              <a:gd name="connsiteY152" fmla="*/ 207940 h 6248341"/>
              <a:gd name="connsiteX153" fmla="*/ 9104724 w 12642772"/>
              <a:gd name="connsiteY153" fmla="*/ 178319 h 6248341"/>
              <a:gd name="connsiteX154" fmla="*/ 9198328 w 12642772"/>
              <a:gd name="connsiteY154" fmla="*/ 159122 h 6248341"/>
              <a:gd name="connsiteX155" fmla="*/ 9339412 w 12642772"/>
              <a:gd name="connsiteY155" fmla="*/ 203422 h 6248341"/>
              <a:gd name="connsiteX156" fmla="*/ 9409165 w 12642772"/>
              <a:gd name="connsiteY156" fmla="*/ 216989 h 6248341"/>
              <a:gd name="connsiteX157" fmla="*/ 9516379 w 12642772"/>
              <a:gd name="connsiteY157" fmla="*/ 220757 h 6248341"/>
              <a:gd name="connsiteX158" fmla="*/ 9615958 w 12642772"/>
              <a:gd name="connsiteY158" fmla="*/ 196389 h 6248341"/>
              <a:gd name="connsiteX159" fmla="*/ 9860346 w 12642772"/>
              <a:gd name="connsiteY159" fmla="*/ 177067 h 6248341"/>
              <a:gd name="connsiteX160" fmla="*/ 10071193 w 12642772"/>
              <a:gd name="connsiteY160" fmla="*/ 142345 h 6248341"/>
              <a:gd name="connsiteX161" fmla="*/ 10270876 w 12642772"/>
              <a:gd name="connsiteY161" fmla="*/ 164464 h 6248341"/>
              <a:gd name="connsiteX162" fmla="*/ 10338607 w 12642772"/>
              <a:gd name="connsiteY162" fmla="*/ 202846 h 6248341"/>
              <a:gd name="connsiteX163" fmla="*/ 10370927 w 12642772"/>
              <a:gd name="connsiteY163" fmla="*/ 198630 h 6248341"/>
              <a:gd name="connsiteX164" fmla="*/ 10423650 w 12642772"/>
              <a:gd name="connsiteY164" fmla="*/ 187033 h 6248341"/>
              <a:gd name="connsiteX165" fmla="*/ 10507238 w 12642772"/>
              <a:gd name="connsiteY165" fmla="*/ 199359 h 6248341"/>
              <a:gd name="connsiteX166" fmla="*/ 10712234 w 12642772"/>
              <a:gd name="connsiteY166" fmla="*/ 202150 h 6248341"/>
              <a:gd name="connsiteX167" fmla="*/ 10955598 w 12642772"/>
              <a:gd name="connsiteY167" fmla="*/ 236823 h 6248341"/>
              <a:gd name="connsiteX168" fmla="*/ 11210395 w 12642772"/>
              <a:gd name="connsiteY168" fmla="*/ 197924 h 6248341"/>
              <a:gd name="connsiteX169" fmla="*/ 11355556 w 12642772"/>
              <a:gd name="connsiteY169" fmla="*/ 131371 h 6248341"/>
              <a:gd name="connsiteX170" fmla="*/ 11531644 w 12642772"/>
              <a:gd name="connsiteY170" fmla="*/ 99364 h 6248341"/>
              <a:gd name="connsiteX171" fmla="*/ 11719114 w 12642772"/>
              <a:gd name="connsiteY171" fmla="*/ 62439 h 6248341"/>
              <a:gd name="connsiteX172" fmla="*/ 11814686 w 12642772"/>
              <a:gd name="connsiteY172" fmla="*/ 38458 h 6248341"/>
              <a:gd name="connsiteX173" fmla="*/ 11865687 w 12642772"/>
              <a:gd name="connsiteY173" fmla="*/ 10088 h 6248341"/>
              <a:gd name="connsiteX174" fmla="*/ 11957454 w 12642772"/>
              <a:gd name="connsiteY174" fmla="*/ 4020 h 6248341"/>
              <a:gd name="connsiteX175" fmla="*/ 11975060 w 12642772"/>
              <a:gd name="connsiteY175" fmla="*/ 0 h 6248341"/>
              <a:gd name="connsiteX176" fmla="*/ 12006839 w 12642772"/>
              <a:gd name="connsiteY176" fmla="*/ 210943 h 6248341"/>
              <a:gd name="connsiteX177" fmla="*/ 12642772 w 12642772"/>
              <a:gd name="connsiteY177" fmla="*/ 4432052 h 624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642772" h="6248341">
                <a:moveTo>
                  <a:pt x="12642772" y="4432052"/>
                </a:moveTo>
                <a:lnTo>
                  <a:pt x="586822" y="6248341"/>
                </a:lnTo>
                <a:cubicBezTo>
                  <a:pt x="413471" y="5111477"/>
                  <a:pt x="173350" y="3531407"/>
                  <a:pt x="0" y="2394542"/>
                </a:cubicBezTo>
                <a:lnTo>
                  <a:pt x="52893" y="2306669"/>
                </a:lnTo>
                <a:cubicBezTo>
                  <a:pt x="67266" y="2306793"/>
                  <a:pt x="118504" y="2297204"/>
                  <a:pt x="131535" y="2293621"/>
                </a:cubicBezTo>
                <a:cubicBezTo>
                  <a:pt x="235982" y="2302858"/>
                  <a:pt x="197087" y="2291745"/>
                  <a:pt x="244153" y="2272261"/>
                </a:cubicBezTo>
                <a:cubicBezTo>
                  <a:pt x="288465" y="2263813"/>
                  <a:pt x="287831" y="2252199"/>
                  <a:pt x="324401" y="2233208"/>
                </a:cubicBezTo>
                <a:lnTo>
                  <a:pt x="463569" y="2158308"/>
                </a:lnTo>
                <a:cubicBezTo>
                  <a:pt x="506591" y="2135434"/>
                  <a:pt x="546976" y="2145326"/>
                  <a:pt x="582537" y="2095961"/>
                </a:cubicBezTo>
                <a:lnTo>
                  <a:pt x="638937" y="2008169"/>
                </a:lnTo>
                <a:cubicBezTo>
                  <a:pt x="686285" y="1999141"/>
                  <a:pt x="708248" y="1959382"/>
                  <a:pt x="749855" y="1936088"/>
                </a:cubicBezTo>
                <a:cubicBezTo>
                  <a:pt x="791527" y="1909991"/>
                  <a:pt x="819909" y="1906478"/>
                  <a:pt x="856553" y="1892728"/>
                </a:cubicBezTo>
                <a:cubicBezTo>
                  <a:pt x="872688" y="1896553"/>
                  <a:pt x="926797" y="1876988"/>
                  <a:pt x="939338" y="1863906"/>
                </a:cubicBezTo>
                <a:cubicBezTo>
                  <a:pt x="981108" y="1859053"/>
                  <a:pt x="963180" y="1865189"/>
                  <a:pt x="987836" y="1848470"/>
                </a:cubicBezTo>
                <a:cubicBezTo>
                  <a:pt x="1023003" y="1873965"/>
                  <a:pt x="1058671" y="1841751"/>
                  <a:pt x="1086094" y="1834336"/>
                </a:cubicBezTo>
                <a:cubicBezTo>
                  <a:pt x="1102835" y="1828051"/>
                  <a:pt x="1139360" y="1818268"/>
                  <a:pt x="1155607" y="1814299"/>
                </a:cubicBezTo>
                <a:cubicBezTo>
                  <a:pt x="1183758" y="1810365"/>
                  <a:pt x="1218373" y="1759163"/>
                  <a:pt x="1219621" y="1774472"/>
                </a:cubicBezTo>
                <a:cubicBezTo>
                  <a:pt x="1242899" y="1773567"/>
                  <a:pt x="1244829" y="1741322"/>
                  <a:pt x="1275113" y="1734756"/>
                </a:cubicBezTo>
                <a:cubicBezTo>
                  <a:pt x="1334421" y="1687737"/>
                  <a:pt x="1295937" y="1706696"/>
                  <a:pt x="1337800" y="1684579"/>
                </a:cubicBezTo>
                <a:cubicBezTo>
                  <a:pt x="1379663" y="1662462"/>
                  <a:pt x="1466954" y="1627202"/>
                  <a:pt x="1526287" y="1602057"/>
                </a:cubicBezTo>
                <a:cubicBezTo>
                  <a:pt x="1553390" y="1592996"/>
                  <a:pt x="1540999" y="1570289"/>
                  <a:pt x="1579126" y="1559561"/>
                </a:cubicBezTo>
                <a:cubicBezTo>
                  <a:pt x="1602892" y="1557552"/>
                  <a:pt x="1622220" y="1540740"/>
                  <a:pt x="1651242" y="1546569"/>
                </a:cubicBezTo>
                <a:cubicBezTo>
                  <a:pt x="1661191" y="1549244"/>
                  <a:pt x="1688001" y="1544372"/>
                  <a:pt x="1712038" y="1533432"/>
                </a:cubicBezTo>
                <a:cubicBezTo>
                  <a:pt x="1722220" y="1540383"/>
                  <a:pt x="1747544" y="1527611"/>
                  <a:pt x="1758402" y="1525816"/>
                </a:cubicBezTo>
                <a:cubicBezTo>
                  <a:pt x="1772533" y="1530625"/>
                  <a:pt x="1819420" y="1514186"/>
                  <a:pt x="1831776" y="1504679"/>
                </a:cubicBezTo>
                <a:lnTo>
                  <a:pt x="1963032" y="1472999"/>
                </a:lnTo>
                <a:lnTo>
                  <a:pt x="2006520" y="1464281"/>
                </a:lnTo>
                <a:cubicBezTo>
                  <a:pt x="2014344" y="1465241"/>
                  <a:pt x="2041522" y="1459774"/>
                  <a:pt x="2049195" y="1459572"/>
                </a:cubicBezTo>
                <a:cubicBezTo>
                  <a:pt x="2087954" y="1443290"/>
                  <a:pt x="2101777" y="1440700"/>
                  <a:pt x="2125117" y="1432093"/>
                </a:cubicBezTo>
                <a:cubicBezTo>
                  <a:pt x="2165647" y="1425840"/>
                  <a:pt x="2196015" y="1424572"/>
                  <a:pt x="2234987" y="1408543"/>
                </a:cubicBezTo>
                <a:lnTo>
                  <a:pt x="2349979" y="1370325"/>
                </a:lnTo>
                <a:cubicBezTo>
                  <a:pt x="2404061" y="1372089"/>
                  <a:pt x="2474940" y="1352732"/>
                  <a:pt x="2490342" y="1337371"/>
                </a:cubicBezTo>
                <a:cubicBezTo>
                  <a:pt x="2552946" y="1313179"/>
                  <a:pt x="2651266" y="1271354"/>
                  <a:pt x="2721983" y="1255221"/>
                </a:cubicBezTo>
                <a:lnTo>
                  <a:pt x="2740778" y="1232389"/>
                </a:lnTo>
                <a:lnTo>
                  <a:pt x="2772006" y="1218123"/>
                </a:lnTo>
                <a:cubicBezTo>
                  <a:pt x="2798565" y="1204582"/>
                  <a:pt x="2824316" y="1189775"/>
                  <a:pt x="2850754" y="1180094"/>
                </a:cubicBezTo>
                <a:cubicBezTo>
                  <a:pt x="2858486" y="1174495"/>
                  <a:pt x="2865479" y="1167162"/>
                  <a:pt x="2872381" y="1159349"/>
                </a:cubicBezTo>
                <a:lnTo>
                  <a:pt x="2877664" y="1153429"/>
                </a:lnTo>
                <a:lnTo>
                  <a:pt x="2898982" y="1143332"/>
                </a:lnTo>
                <a:lnTo>
                  <a:pt x="2900154" y="1144257"/>
                </a:lnTo>
                <a:cubicBezTo>
                  <a:pt x="2903604" y="1145940"/>
                  <a:pt x="2907687" y="1146454"/>
                  <a:pt x="2913224" y="1144530"/>
                </a:cubicBezTo>
                <a:cubicBezTo>
                  <a:pt x="2914663" y="1164458"/>
                  <a:pt x="2920456" y="1149846"/>
                  <a:pt x="2936660" y="1142412"/>
                </a:cubicBezTo>
                <a:cubicBezTo>
                  <a:pt x="2942509" y="1171704"/>
                  <a:pt x="2981016" y="1130300"/>
                  <a:pt x="2997572" y="1141831"/>
                </a:cubicBezTo>
                <a:lnTo>
                  <a:pt x="3044472" y="1131369"/>
                </a:lnTo>
                <a:lnTo>
                  <a:pt x="3044790" y="1131569"/>
                </a:lnTo>
                <a:cubicBezTo>
                  <a:pt x="3046855" y="1131486"/>
                  <a:pt x="3049590" y="1130734"/>
                  <a:pt x="3053469" y="1129009"/>
                </a:cubicBezTo>
                <a:lnTo>
                  <a:pt x="3058924" y="1126056"/>
                </a:lnTo>
                <a:lnTo>
                  <a:pt x="3074299" y="1120405"/>
                </a:lnTo>
                <a:lnTo>
                  <a:pt x="3080657" y="1120171"/>
                </a:lnTo>
                <a:lnTo>
                  <a:pt x="3085901" y="1121681"/>
                </a:lnTo>
                <a:cubicBezTo>
                  <a:pt x="3089424" y="1117040"/>
                  <a:pt x="3098046" y="1105705"/>
                  <a:pt x="3109448" y="1097576"/>
                </a:cubicBezTo>
                <a:lnTo>
                  <a:pt x="3120280" y="1092673"/>
                </a:lnTo>
                <a:lnTo>
                  <a:pt x="3151969" y="1093148"/>
                </a:lnTo>
                <a:lnTo>
                  <a:pt x="3156202" y="1091941"/>
                </a:lnTo>
                <a:lnTo>
                  <a:pt x="3218578" y="1084695"/>
                </a:lnTo>
                <a:cubicBezTo>
                  <a:pt x="3245764" y="1081888"/>
                  <a:pt x="3273631" y="1078650"/>
                  <a:pt x="3291572" y="1074108"/>
                </a:cubicBezTo>
                <a:cubicBezTo>
                  <a:pt x="3322176" y="1058413"/>
                  <a:pt x="3296217" y="1076449"/>
                  <a:pt x="3335322" y="1065344"/>
                </a:cubicBezTo>
                <a:cubicBezTo>
                  <a:pt x="3368156" y="1040199"/>
                  <a:pt x="3402741" y="1051987"/>
                  <a:pt x="3444471" y="1040037"/>
                </a:cubicBezTo>
                <a:lnTo>
                  <a:pt x="3516736" y="1044495"/>
                </a:lnTo>
                <a:lnTo>
                  <a:pt x="3529913" y="1036395"/>
                </a:lnTo>
                <a:lnTo>
                  <a:pt x="3534215" y="1032644"/>
                </a:lnTo>
                <a:cubicBezTo>
                  <a:pt x="3537422" y="1030324"/>
                  <a:pt x="3539868" y="1029116"/>
                  <a:pt x="3541901" y="1028655"/>
                </a:cubicBezTo>
                <a:lnTo>
                  <a:pt x="3542297" y="1028781"/>
                </a:lnTo>
                <a:lnTo>
                  <a:pt x="3549091" y="1024603"/>
                </a:lnTo>
                <a:lnTo>
                  <a:pt x="3668564" y="992085"/>
                </a:lnTo>
                <a:cubicBezTo>
                  <a:pt x="3673354" y="989271"/>
                  <a:pt x="3677647" y="988983"/>
                  <a:pt x="3681760" y="989897"/>
                </a:cubicBezTo>
                <a:lnTo>
                  <a:pt x="3683298" y="990533"/>
                </a:lnTo>
                <a:lnTo>
                  <a:pt x="3701238" y="978370"/>
                </a:lnTo>
                <a:lnTo>
                  <a:pt x="3727029" y="982634"/>
                </a:lnTo>
                <a:cubicBezTo>
                  <a:pt x="3762166" y="985324"/>
                  <a:pt x="3795029" y="982802"/>
                  <a:pt x="3827462" y="983777"/>
                </a:cubicBezTo>
                <a:cubicBezTo>
                  <a:pt x="3899741" y="979875"/>
                  <a:pt x="3841175" y="923865"/>
                  <a:pt x="3939255" y="962526"/>
                </a:cubicBezTo>
                <a:cubicBezTo>
                  <a:pt x="3944820" y="939198"/>
                  <a:pt x="3955882" y="936428"/>
                  <a:pt x="3976764" y="943975"/>
                </a:cubicBezTo>
                <a:cubicBezTo>
                  <a:pt x="4011587" y="940445"/>
                  <a:pt x="3998825" y="885884"/>
                  <a:pt x="4039745" y="913576"/>
                </a:cubicBezTo>
                <a:cubicBezTo>
                  <a:pt x="4028069" y="885008"/>
                  <a:pt x="4103064" y="891976"/>
                  <a:pt x="4081478" y="863744"/>
                </a:cubicBezTo>
                <a:cubicBezTo>
                  <a:pt x="4098995" y="833348"/>
                  <a:pt x="4118253" y="875924"/>
                  <a:pt x="4136255" y="849070"/>
                </a:cubicBezTo>
                <a:cubicBezTo>
                  <a:pt x="4160412" y="839702"/>
                  <a:pt x="4127630" y="882883"/>
                  <a:pt x="4155885" y="880724"/>
                </a:cubicBezTo>
                <a:cubicBezTo>
                  <a:pt x="4189159" y="872776"/>
                  <a:pt x="4199073" y="926940"/>
                  <a:pt x="4212239" y="853648"/>
                </a:cubicBezTo>
                <a:cubicBezTo>
                  <a:pt x="4250628" y="864621"/>
                  <a:pt x="4251711" y="832443"/>
                  <a:pt x="4296968" y="808725"/>
                </a:cubicBezTo>
                <a:cubicBezTo>
                  <a:pt x="4320354" y="822560"/>
                  <a:pt x="4334944" y="811306"/>
                  <a:pt x="4347619" y="791871"/>
                </a:cubicBezTo>
                <a:cubicBezTo>
                  <a:pt x="4395320" y="788176"/>
                  <a:pt x="4433289" y="755394"/>
                  <a:pt x="4484035" y="736001"/>
                </a:cubicBezTo>
                <a:cubicBezTo>
                  <a:pt x="4544675" y="745654"/>
                  <a:pt x="4564925" y="693074"/>
                  <a:pt x="4619194" y="672546"/>
                </a:cubicBezTo>
                <a:cubicBezTo>
                  <a:pt x="4633191" y="680042"/>
                  <a:pt x="4642217" y="680768"/>
                  <a:pt x="4648276" y="677255"/>
                </a:cubicBezTo>
                <a:lnTo>
                  <a:pt x="4658535" y="658404"/>
                </a:lnTo>
                <a:lnTo>
                  <a:pt x="4684435" y="658040"/>
                </a:lnTo>
                <a:lnTo>
                  <a:pt x="4685966" y="659300"/>
                </a:lnTo>
                <a:lnTo>
                  <a:pt x="4773323" y="620033"/>
                </a:lnTo>
                <a:lnTo>
                  <a:pt x="4789881" y="612833"/>
                </a:lnTo>
                <a:lnTo>
                  <a:pt x="4793116" y="606807"/>
                </a:lnTo>
                <a:cubicBezTo>
                  <a:pt x="4797413" y="602517"/>
                  <a:pt x="4804603" y="599222"/>
                  <a:pt x="4818294" y="598208"/>
                </a:cubicBezTo>
                <a:lnTo>
                  <a:pt x="4889379" y="574856"/>
                </a:lnTo>
                <a:cubicBezTo>
                  <a:pt x="4924646" y="568531"/>
                  <a:pt x="4935327" y="565911"/>
                  <a:pt x="4967000" y="563548"/>
                </a:cubicBezTo>
                <a:cubicBezTo>
                  <a:pt x="4986586" y="557770"/>
                  <a:pt x="5000668" y="551967"/>
                  <a:pt x="5011397" y="546508"/>
                </a:cubicBezTo>
                <a:lnTo>
                  <a:pt x="5017511" y="542737"/>
                </a:lnTo>
                <a:lnTo>
                  <a:pt x="5022951" y="543578"/>
                </a:lnTo>
                <a:lnTo>
                  <a:pt x="5028686" y="550797"/>
                </a:lnTo>
                <a:cubicBezTo>
                  <a:pt x="5034551" y="555023"/>
                  <a:pt x="5042525" y="556487"/>
                  <a:pt x="5055222" y="551685"/>
                </a:cubicBezTo>
                <a:lnTo>
                  <a:pt x="5058043" y="549365"/>
                </a:lnTo>
                <a:lnTo>
                  <a:pt x="5080769" y="559110"/>
                </a:lnTo>
                <a:cubicBezTo>
                  <a:pt x="5088231" y="563815"/>
                  <a:pt x="5095030" y="569979"/>
                  <a:pt x="5100831" y="578170"/>
                </a:cubicBezTo>
                <a:cubicBezTo>
                  <a:pt x="5170380" y="527737"/>
                  <a:pt x="5243922" y="564793"/>
                  <a:pt x="5323302" y="551607"/>
                </a:cubicBezTo>
                <a:cubicBezTo>
                  <a:pt x="5351315" y="478451"/>
                  <a:pt x="5497865" y="556036"/>
                  <a:pt x="5524173" y="623428"/>
                </a:cubicBezTo>
                <a:cubicBezTo>
                  <a:pt x="5517268" y="543117"/>
                  <a:pt x="5711665" y="703794"/>
                  <a:pt x="5644692" y="606574"/>
                </a:cubicBezTo>
                <a:lnTo>
                  <a:pt x="5984259" y="559264"/>
                </a:lnTo>
                <a:cubicBezTo>
                  <a:pt x="6030154" y="495862"/>
                  <a:pt x="6007425" y="553220"/>
                  <a:pt x="6059790" y="538457"/>
                </a:cubicBezTo>
                <a:cubicBezTo>
                  <a:pt x="6050344" y="594649"/>
                  <a:pt x="6121744" y="503179"/>
                  <a:pt x="6130495" y="565308"/>
                </a:cubicBezTo>
                <a:cubicBezTo>
                  <a:pt x="6139748" y="560655"/>
                  <a:pt x="6148435" y="554186"/>
                  <a:pt x="6157089" y="547229"/>
                </a:cubicBezTo>
                <a:lnTo>
                  <a:pt x="6161628" y="543616"/>
                </a:lnTo>
                <a:lnTo>
                  <a:pt x="6180804" y="539939"/>
                </a:lnTo>
                <a:lnTo>
                  <a:pt x="6184951" y="525424"/>
                </a:lnTo>
                <a:lnTo>
                  <a:pt x="6212909" y="510232"/>
                </a:lnTo>
                <a:cubicBezTo>
                  <a:pt x="6223574" y="506625"/>
                  <a:pt x="6235279" y="505181"/>
                  <a:pt x="6248556" y="507226"/>
                </a:cubicBezTo>
                <a:cubicBezTo>
                  <a:pt x="6294288" y="537334"/>
                  <a:pt x="6362573" y="467613"/>
                  <a:pt x="6419167" y="508015"/>
                </a:cubicBezTo>
                <a:cubicBezTo>
                  <a:pt x="6440234" y="517921"/>
                  <a:pt x="6506991" y="518278"/>
                  <a:pt x="6520553" y="499890"/>
                </a:cubicBezTo>
                <a:cubicBezTo>
                  <a:pt x="6534665" y="496161"/>
                  <a:pt x="6550555" y="503153"/>
                  <a:pt x="6557985" y="483298"/>
                </a:cubicBezTo>
                <a:cubicBezTo>
                  <a:pt x="6569810" y="459469"/>
                  <a:pt x="6616472" y="497766"/>
                  <a:pt x="6610986" y="469207"/>
                </a:cubicBezTo>
                <a:cubicBezTo>
                  <a:pt x="6644167" y="495476"/>
                  <a:pt x="6674091" y="445680"/>
                  <a:pt x="6703685" y="433885"/>
                </a:cubicBezTo>
                <a:cubicBezTo>
                  <a:pt x="6729555" y="459786"/>
                  <a:pt x="6766135" y="409500"/>
                  <a:pt x="6829686" y="404609"/>
                </a:cubicBezTo>
                <a:cubicBezTo>
                  <a:pt x="6858065" y="434525"/>
                  <a:pt x="6872501" y="400914"/>
                  <a:pt x="6926071" y="440952"/>
                </a:cubicBezTo>
                <a:cubicBezTo>
                  <a:pt x="6928018" y="437011"/>
                  <a:pt x="6930506" y="433362"/>
                  <a:pt x="6933459" y="430117"/>
                </a:cubicBezTo>
                <a:cubicBezTo>
                  <a:pt x="6950612" y="411270"/>
                  <a:pt x="6979388" y="409908"/>
                  <a:pt x="6997730" y="427075"/>
                </a:cubicBezTo>
                <a:cubicBezTo>
                  <a:pt x="7082631" y="480403"/>
                  <a:pt x="7157271" y="476334"/>
                  <a:pt x="7228068" y="485987"/>
                </a:cubicBezTo>
                <a:cubicBezTo>
                  <a:pt x="7307806" y="490694"/>
                  <a:pt x="7251469" y="427974"/>
                  <a:pt x="7353524" y="478122"/>
                </a:cubicBezTo>
                <a:cubicBezTo>
                  <a:pt x="7362883" y="455559"/>
                  <a:pt x="7375392" y="454116"/>
                  <a:pt x="7397216" y="464113"/>
                </a:cubicBezTo>
                <a:cubicBezTo>
                  <a:pt x="7435863" y="464738"/>
                  <a:pt x="7429507" y="408907"/>
                  <a:pt x="7470470" y="441338"/>
                </a:cubicBezTo>
                <a:cubicBezTo>
                  <a:pt x="7461672" y="411511"/>
                  <a:pt x="7542865" y="427363"/>
                  <a:pt x="7523162" y="396692"/>
                </a:cubicBezTo>
                <a:cubicBezTo>
                  <a:pt x="7546603" y="368516"/>
                  <a:pt x="7561752" y="413189"/>
                  <a:pt x="7585229" y="388596"/>
                </a:cubicBezTo>
                <a:cubicBezTo>
                  <a:pt x="7613007" y="382141"/>
                  <a:pt x="7571052" y="421230"/>
                  <a:pt x="7602312" y="422441"/>
                </a:cubicBezTo>
                <a:cubicBezTo>
                  <a:pt x="7639880" y="418484"/>
                  <a:pt x="7643170" y="473582"/>
                  <a:pt x="7667842" y="402184"/>
                </a:cubicBezTo>
                <a:cubicBezTo>
                  <a:pt x="7708368" y="417673"/>
                  <a:pt x="7714055" y="385770"/>
                  <a:pt x="7766955" y="367538"/>
                </a:cubicBezTo>
                <a:cubicBezTo>
                  <a:pt x="7790642" y="384091"/>
                  <a:pt x="7808202" y="374622"/>
                  <a:pt x="7824808" y="356782"/>
                </a:cubicBezTo>
                <a:cubicBezTo>
                  <a:pt x="7877588" y="358773"/>
                  <a:pt x="7923771" y="330652"/>
                  <a:pt x="7982082" y="317381"/>
                </a:cubicBezTo>
                <a:cubicBezTo>
                  <a:pt x="8047173" y="334199"/>
                  <a:pt x="8076711" y="284263"/>
                  <a:pt x="8139042" y="270278"/>
                </a:cubicBezTo>
                <a:cubicBezTo>
                  <a:pt x="8171699" y="291139"/>
                  <a:pt x="8180849" y="273703"/>
                  <a:pt x="8188479" y="250893"/>
                </a:cubicBezTo>
                <a:lnTo>
                  <a:pt x="8197460" y="227412"/>
                </a:lnTo>
                <a:lnTo>
                  <a:pt x="8236543" y="231896"/>
                </a:lnTo>
                <a:cubicBezTo>
                  <a:pt x="8252245" y="232878"/>
                  <a:pt x="8267047" y="233030"/>
                  <a:pt x="8288656" y="233518"/>
                </a:cubicBezTo>
                <a:lnTo>
                  <a:pt x="8365194" y="255354"/>
                </a:lnTo>
                <a:lnTo>
                  <a:pt x="8371093" y="253056"/>
                </a:lnTo>
                <a:cubicBezTo>
                  <a:pt x="8375220" y="251794"/>
                  <a:pt x="8378040" y="251369"/>
                  <a:pt x="8380079" y="251533"/>
                </a:cubicBezTo>
                <a:lnTo>
                  <a:pt x="8380352" y="251771"/>
                </a:lnTo>
                <a:lnTo>
                  <a:pt x="8388670" y="249803"/>
                </a:lnTo>
                <a:cubicBezTo>
                  <a:pt x="8402579" y="245856"/>
                  <a:pt x="8426713" y="256901"/>
                  <a:pt x="8439400" y="252189"/>
                </a:cubicBezTo>
                <a:cubicBezTo>
                  <a:pt x="8461985" y="253229"/>
                  <a:pt x="8486049" y="243125"/>
                  <a:pt x="8502127" y="246524"/>
                </a:cubicBezTo>
                <a:lnTo>
                  <a:pt x="8575600" y="247912"/>
                </a:lnTo>
                <a:lnTo>
                  <a:pt x="8609423" y="225288"/>
                </a:lnTo>
                <a:cubicBezTo>
                  <a:pt x="8613054" y="222366"/>
                  <a:pt x="8618682" y="220403"/>
                  <a:pt x="8628794" y="220632"/>
                </a:cubicBezTo>
                <a:lnTo>
                  <a:pt x="8631243" y="221270"/>
                </a:lnTo>
                <a:cubicBezTo>
                  <a:pt x="8636121" y="217981"/>
                  <a:pt x="8676301" y="210759"/>
                  <a:pt x="8708752" y="203517"/>
                </a:cubicBezTo>
                <a:cubicBezTo>
                  <a:pt x="8760405" y="193315"/>
                  <a:pt x="8765450" y="184312"/>
                  <a:pt x="8825952" y="177822"/>
                </a:cubicBezTo>
                <a:cubicBezTo>
                  <a:pt x="8840694" y="175283"/>
                  <a:pt x="8852337" y="172902"/>
                  <a:pt x="8862166" y="170735"/>
                </a:cubicBezTo>
                <a:lnTo>
                  <a:pt x="8884490" y="165616"/>
                </a:lnTo>
                <a:lnTo>
                  <a:pt x="8918298" y="194546"/>
                </a:lnTo>
                <a:cubicBezTo>
                  <a:pt x="8929331" y="203143"/>
                  <a:pt x="8939711" y="209096"/>
                  <a:pt x="8948572" y="207940"/>
                </a:cubicBezTo>
                <a:cubicBezTo>
                  <a:pt x="9007398" y="191013"/>
                  <a:pt x="9066382" y="123071"/>
                  <a:pt x="9104724" y="178319"/>
                </a:cubicBezTo>
                <a:cubicBezTo>
                  <a:pt x="9146350" y="170182"/>
                  <a:pt x="9159213" y="154939"/>
                  <a:pt x="9198328" y="159122"/>
                </a:cubicBezTo>
                <a:cubicBezTo>
                  <a:pt x="9243361" y="178179"/>
                  <a:pt x="9337410" y="133426"/>
                  <a:pt x="9339412" y="203422"/>
                </a:cubicBezTo>
                <a:cubicBezTo>
                  <a:pt x="9356193" y="242785"/>
                  <a:pt x="9404145" y="172882"/>
                  <a:pt x="9409165" y="216989"/>
                </a:cubicBezTo>
                <a:cubicBezTo>
                  <a:pt x="9430000" y="185563"/>
                  <a:pt x="9477391" y="226977"/>
                  <a:pt x="9516379" y="220757"/>
                </a:cubicBezTo>
                <a:cubicBezTo>
                  <a:pt x="9525989" y="239713"/>
                  <a:pt x="9601557" y="209033"/>
                  <a:pt x="9615958" y="196389"/>
                </a:cubicBezTo>
                <a:cubicBezTo>
                  <a:pt x="9740300" y="170539"/>
                  <a:pt x="9758977" y="138949"/>
                  <a:pt x="9860346" y="177067"/>
                </a:cubicBezTo>
                <a:cubicBezTo>
                  <a:pt x="9889677" y="171165"/>
                  <a:pt x="10006630" y="193672"/>
                  <a:pt x="10071193" y="142345"/>
                </a:cubicBezTo>
                <a:cubicBezTo>
                  <a:pt x="10108399" y="184331"/>
                  <a:pt x="10235527" y="166620"/>
                  <a:pt x="10270876" y="164464"/>
                </a:cubicBezTo>
                <a:cubicBezTo>
                  <a:pt x="10282938" y="193487"/>
                  <a:pt x="10335459" y="157175"/>
                  <a:pt x="10338607" y="202846"/>
                </a:cubicBezTo>
                <a:cubicBezTo>
                  <a:pt x="10349171" y="220353"/>
                  <a:pt x="10366124" y="217011"/>
                  <a:pt x="10370927" y="198630"/>
                </a:cubicBezTo>
                <a:cubicBezTo>
                  <a:pt x="10391994" y="198716"/>
                  <a:pt x="10408613" y="218644"/>
                  <a:pt x="10423650" y="187033"/>
                </a:cubicBezTo>
                <a:cubicBezTo>
                  <a:pt x="10452431" y="186111"/>
                  <a:pt x="10492877" y="246749"/>
                  <a:pt x="10507238" y="199359"/>
                </a:cubicBezTo>
                <a:cubicBezTo>
                  <a:pt x="10543427" y="261875"/>
                  <a:pt x="10653987" y="201249"/>
                  <a:pt x="10712234" y="202150"/>
                </a:cubicBezTo>
                <a:cubicBezTo>
                  <a:pt x="10824446" y="218073"/>
                  <a:pt x="10878410" y="233516"/>
                  <a:pt x="10955598" y="236823"/>
                </a:cubicBezTo>
                <a:cubicBezTo>
                  <a:pt x="11045848" y="210188"/>
                  <a:pt x="11132536" y="208078"/>
                  <a:pt x="11210395" y="197924"/>
                </a:cubicBezTo>
                <a:cubicBezTo>
                  <a:pt x="11248542" y="205602"/>
                  <a:pt x="11317163" y="98606"/>
                  <a:pt x="11355556" y="131371"/>
                </a:cubicBezTo>
                <a:cubicBezTo>
                  <a:pt x="11409097" y="114944"/>
                  <a:pt x="11452001" y="121965"/>
                  <a:pt x="11531644" y="99364"/>
                </a:cubicBezTo>
                <a:cubicBezTo>
                  <a:pt x="11597142" y="88300"/>
                  <a:pt x="11671940" y="72591"/>
                  <a:pt x="11719114" y="62439"/>
                </a:cubicBezTo>
                <a:cubicBezTo>
                  <a:pt x="11727434" y="40579"/>
                  <a:pt x="11796069" y="38621"/>
                  <a:pt x="11814686" y="38458"/>
                </a:cubicBezTo>
                <a:cubicBezTo>
                  <a:pt x="11821248" y="1152"/>
                  <a:pt x="11853228" y="33244"/>
                  <a:pt x="11865687" y="10088"/>
                </a:cubicBezTo>
                <a:cubicBezTo>
                  <a:pt x="11893768" y="15302"/>
                  <a:pt x="11926464" y="10706"/>
                  <a:pt x="11957454" y="4020"/>
                </a:cubicBezTo>
                <a:lnTo>
                  <a:pt x="11975060" y="0"/>
                </a:lnTo>
                <a:lnTo>
                  <a:pt x="12006839" y="210943"/>
                </a:lnTo>
                <a:cubicBezTo>
                  <a:pt x="12204146" y="1520595"/>
                  <a:pt x="12452801" y="3171091"/>
                  <a:pt x="12642772" y="4432052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8B972-0827-4867-A72E-561188244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744" y="442551"/>
            <a:ext cx="9859618" cy="7133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Feature set after extraction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379" y="1764254"/>
            <a:ext cx="10937021" cy="445557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5E1B9-82AE-4056-AABE-009AA5205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97" y="1909483"/>
            <a:ext cx="10289925" cy="414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5725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8FFA-F4AF-4125-8C47-71F96E9F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Comparison:</a:t>
            </a: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D54C8C-5F4E-4002-B8E3-A64E1E1E8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9058" y="2164179"/>
            <a:ext cx="5431536" cy="406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A8226F-58D6-4EBA-B398-CCC6E18A5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392978"/>
            <a:ext cx="5431536" cy="1592446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1CBE0897-80F0-48D9-A0F0-DBC8AC8744A5}"/>
              </a:ext>
            </a:extLst>
          </p:cNvPr>
          <p:cNvSpPr/>
          <p:nvPr/>
        </p:nvSpPr>
        <p:spPr>
          <a:xfrm>
            <a:off x="8396172" y="4412701"/>
            <a:ext cx="823965" cy="35169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7230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6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6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A50B7-98DD-4BC6-BDC0-13115CD5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832"/>
            <a:ext cx="4768645" cy="1238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u="sng" kern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Literature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B9F32-915A-44E6-DF09-3ADE21A0F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248697"/>
            <a:ext cx="5523900" cy="559951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machine learning method to process voice samples for identification of Parkinson’s disease</a:t>
            </a:r>
          </a:p>
          <a:p>
            <a:pPr marL="0"/>
            <a:endParaRPr lang="en-US" sz="12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Objective: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</a:p>
          <a:p>
            <a:r>
              <a:rPr lang="en-US" sz="1400" dirty="0">
                <a:solidFill>
                  <a:schemeClr val="tx2"/>
                </a:solidFill>
              </a:rPr>
              <a:t>Explore the reliability of low-quality voice recordings collected via telephone for identifying Parkinson’s Disease (PD) using machine learning (ML) and deep learning (DL) approaches.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Innovations:</a:t>
            </a:r>
          </a:p>
          <a:p>
            <a:r>
              <a:rPr lang="en-US" sz="1400" dirty="0">
                <a:solidFill>
                  <a:schemeClr val="tx2"/>
                </a:solidFill>
              </a:rPr>
              <a:t>Novel use of Inception V3 CNN with transfer learning for spectrogram classification.</a:t>
            </a:r>
          </a:p>
          <a:p>
            <a:r>
              <a:rPr lang="en-US" sz="1400" dirty="0">
                <a:solidFill>
                  <a:schemeClr val="tx2"/>
                </a:solidFill>
              </a:rPr>
              <a:t>Analysis of spectrogram images retains temporal and frequency energy distribution of the sustained vowel sound (/a/).</a:t>
            </a:r>
          </a:p>
          <a:p>
            <a:r>
              <a:rPr lang="en-US" sz="1400" dirty="0">
                <a:solidFill>
                  <a:schemeClr val="tx2"/>
                </a:solidFill>
              </a:rPr>
              <a:t>Comparison of deep learning results with traditional statistical classifiers (Random Forest, Logistic Regression).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Key Results:</a:t>
            </a:r>
          </a:p>
          <a:p>
            <a:r>
              <a:rPr lang="en-US" sz="1400" dirty="0">
                <a:solidFill>
                  <a:schemeClr val="tx2"/>
                </a:solidFill>
              </a:rPr>
              <a:t>CNN-based spectrogram analysis achieved </a:t>
            </a:r>
            <a:r>
              <a:rPr lang="en-US" sz="1400" b="1" dirty="0">
                <a:solidFill>
                  <a:schemeClr val="tx2"/>
                </a:solidFill>
              </a:rPr>
              <a:t>AUC = 0.97</a:t>
            </a:r>
            <a:r>
              <a:rPr lang="en-US" sz="1400" dirty="0">
                <a:solidFill>
                  <a:schemeClr val="tx2"/>
                </a:solidFill>
              </a:rPr>
              <a:t> for colored spectrograms and </a:t>
            </a:r>
            <a:r>
              <a:rPr lang="en-US" sz="1400" b="1" dirty="0">
                <a:solidFill>
                  <a:schemeClr val="tx2"/>
                </a:solidFill>
              </a:rPr>
              <a:t>AUC = 0.96</a:t>
            </a:r>
            <a:r>
              <a:rPr lang="en-US" sz="1400" dirty="0">
                <a:solidFill>
                  <a:schemeClr val="tx2"/>
                </a:solidFill>
              </a:rPr>
              <a:t> for grayscale spectrograms, outperforming traditional methods.</a:t>
            </a:r>
          </a:p>
          <a:p>
            <a:r>
              <a:rPr lang="en-US" sz="1400" dirty="0">
                <a:solidFill>
                  <a:schemeClr val="tx2"/>
                </a:solidFill>
              </a:rPr>
              <a:t>Demonstrated feasibility of using low-quality recordings (8 kHz) for PD detection, supporting clinical applications in resource-limited areas.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Impact: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</a:p>
          <a:p>
            <a:r>
              <a:rPr lang="en-US" sz="1400" dirty="0">
                <a:solidFill>
                  <a:schemeClr val="tx2"/>
                </a:solidFill>
              </a:rPr>
              <a:t>Simplifies PD diagnosis via non-invasive, accessible, and remote voice-based screening, enabling earlier detection and rural inclusivity.</a:t>
            </a:r>
          </a:p>
          <a:p>
            <a:pPr marL="0" lvl="0" fontAlgn="base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tx2"/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Graphic 11" descr="Radio microphone">
            <a:extLst>
              <a:ext uri="{FF2B5EF4-FFF2-40B4-BE49-F238E27FC236}">
                <a16:creationId xmlns:a16="http://schemas.microsoft.com/office/drawing/2014/main" id="{C9F66694-ECFB-4500-86EE-5A1F8CFD5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210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6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6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A50B7-98DD-4BC6-BDC0-13115CD5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832"/>
            <a:ext cx="5627803" cy="12388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u="sng" kern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Adapted Methodologies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B9F32-915A-44E6-DF09-3ADE21A0F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1248697"/>
            <a:ext cx="5523900" cy="55995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chemeClr val="tx2"/>
                </a:solidFill>
              </a:rPr>
              <a:t>1) Data Collection and </a:t>
            </a:r>
            <a:r>
              <a:rPr lang="en-IN" sz="1400" b="1" dirty="0" err="1">
                <a:solidFill>
                  <a:schemeClr val="tx2"/>
                </a:solidFill>
              </a:rPr>
              <a:t>Preprocessing</a:t>
            </a:r>
            <a:r>
              <a:rPr lang="en-IN" sz="1400" b="1" dirty="0">
                <a:solidFill>
                  <a:schemeClr val="tx2"/>
                </a:solidFill>
              </a:rPr>
              <a:t>:</a:t>
            </a:r>
          </a:p>
          <a:p>
            <a:r>
              <a:rPr lang="en-IN" sz="1400" dirty="0">
                <a:solidFill>
                  <a:schemeClr val="tx2"/>
                </a:solidFill>
              </a:rPr>
              <a:t>Voice recordings were collected via telephone voicemail at an 8 kHz sampling rate.</a:t>
            </a:r>
          </a:p>
          <a:p>
            <a:r>
              <a:rPr lang="en-IN" sz="1400" dirty="0">
                <a:solidFill>
                  <a:schemeClr val="tx2"/>
                </a:solidFill>
              </a:rPr>
              <a:t>Background noise removal using decibel-based filters (75–300 dB for males, 100–600 dB for females).</a:t>
            </a:r>
          </a:p>
          <a:p>
            <a:r>
              <a:rPr lang="en-IN" sz="1400" dirty="0">
                <a:solidFill>
                  <a:schemeClr val="tx2"/>
                </a:solidFill>
              </a:rPr>
              <a:t>Trimmed silent segments using short-time energy thresholds.</a:t>
            </a:r>
          </a:p>
          <a:p>
            <a:r>
              <a:rPr lang="en-IN" sz="1400" dirty="0">
                <a:solidFill>
                  <a:schemeClr val="tx2"/>
                </a:solidFill>
              </a:rPr>
              <a:t>Result: Processed 1.5-second sustained vowel /a/ samples.</a:t>
            </a:r>
          </a:p>
          <a:p>
            <a:pPr marL="742950" lvl="1" indent="-285750"/>
            <a:endParaRPr lang="en-IN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2"/>
                </a:solidFill>
              </a:rPr>
              <a:t>2) Acoustic Signal Features Extraction:</a:t>
            </a:r>
          </a:p>
          <a:p>
            <a:r>
              <a:rPr lang="en-IN" sz="1400" dirty="0">
                <a:solidFill>
                  <a:schemeClr val="tx2"/>
                </a:solidFill>
              </a:rPr>
              <a:t>Used </a:t>
            </a:r>
            <a:r>
              <a:rPr lang="en-IN" sz="1400" dirty="0" err="1">
                <a:solidFill>
                  <a:schemeClr val="tx2"/>
                </a:solidFill>
              </a:rPr>
              <a:t>Opensmile</a:t>
            </a:r>
            <a:r>
              <a:rPr lang="en-IN" sz="1400" dirty="0">
                <a:solidFill>
                  <a:schemeClr val="tx2"/>
                </a:solidFill>
              </a:rPr>
              <a:t> (Python) interface.</a:t>
            </a:r>
          </a:p>
          <a:p>
            <a:pPr marL="0" indent="0">
              <a:buNone/>
            </a:pPr>
            <a:r>
              <a:rPr lang="en-IN" sz="1400" b="1" dirty="0">
                <a:solidFill>
                  <a:schemeClr val="tx2"/>
                </a:solidFill>
              </a:rPr>
              <a:t>Extracted 23 features:</a:t>
            </a:r>
          </a:p>
          <a:p>
            <a:pPr marL="228600" lvl="1">
              <a:spcBef>
                <a:spcPts val="1000"/>
              </a:spcBef>
            </a:pPr>
            <a:r>
              <a:rPr lang="en-IN" sz="1400" dirty="0">
                <a:solidFill>
                  <a:schemeClr val="tx2"/>
                </a:solidFill>
              </a:rPr>
              <a:t>Fundamental frequency (F0) – mean and standard deviation.</a:t>
            </a:r>
          </a:p>
          <a:p>
            <a:pPr marL="228600" lvl="1">
              <a:spcBef>
                <a:spcPts val="1000"/>
              </a:spcBef>
            </a:pPr>
            <a:r>
              <a:rPr lang="en-IN" sz="1400" dirty="0">
                <a:solidFill>
                  <a:schemeClr val="tx2"/>
                </a:solidFill>
              </a:rPr>
              <a:t>Harmonics-to-noise ratio (HNR).</a:t>
            </a:r>
          </a:p>
          <a:p>
            <a:pPr marL="228600" lvl="1">
              <a:spcBef>
                <a:spcPts val="1000"/>
              </a:spcBef>
            </a:pPr>
            <a:r>
              <a:rPr lang="en-IN" sz="1400" dirty="0">
                <a:solidFill>
                  <a:schemeClr val="tx2"/>
                </a:solidFill>
              </a:rPr>
              <a:t>Jitter (frequency variations) and shimmer (amplitude variations).</a:t>
            </a:r>
          </a:p>
          <a:p>
            <a:pPr marL="228600" lvl="1">
              <a:spcBef>
                <a:spcPts val="1000"/>
              </a:spcBef>
            </a:pPr>
            <a:r>
              <a:rPr lang="en-IN" sz="1400" dirty="0">
                <a:solidFill>
                  <a:schemeClr val="tx2"/>
                </a:solidFill>
              </a:rPr>
              <a:t>Formant frequencies (F1–F4).</a:t>
            </a:r>
          </a:p>
          <a:p>
            <a:pPr marL="0" indent="0">
              <a:buNone/>
            </a:pPr>
            <a:r>
              <a:rPr lang="en-IN" sz="1400" b="1" dirty="0">
                <a:solidFill>
                  <a:schemeClr val="tx2"/>
                </a:solidFill>
              </a:rPr>
              <a:t>Classified using Random Forest and Logistic Regression.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solidFill>
                <a:schemeClr val="tx2"/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Graphic 11" descr="Radio microphone">
            <a:extLst>
              <a:ext uri="{FF2B5EF4-FFF2-40B4-BE49-F238E27FC236}">
                <a16:creationId xmlns:a16="http://schemas.microsoft.com/office/drawing/2014/main" id="{D33FBB1E-F698-4E0A-B7D1-5F2A86AC7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319829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6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6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DA50B7-98DD-4BC6-BDC0-13115CD5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832"/>
            <a:ext cx="5818240" cy="12388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u="sng" kern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Adapted Methodologies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B9F32-915A-44E6-DF09-3ADE21A0F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34" y="957149"/>
            <a:ext cx="5865274" cy="590085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chemeClr val="tx2"/>
                </a:solidFill>
              </a:rPr>
              <a:t>3. </a:t>
            </a:r>
            <a:r>
              <a:rPr lang="en-US" sz="1400" b="1" dirty="0">
                <a:solidFill>
                  <a:schemeClr val="tx2"/>
                </a:solidFill>
              </a:rPr>
              <a:t>Spectrogram Creation:</a:t>
            </a:r>
          </a:p>
          <a:p>
            <a:r>
              <a:rPr lang="en-US" sz="1400" dirty="0">
                <a:solidFill>
                  <a:schemeClr val="tx2"/>
                </a:solidFill>
              </a:rPr>
              <a:t>Spectrograms generated using Fast Fourier Transform (FFT) with:</a:t>
            </a:r>
          </a:p>
          <a:p>
            <a:pPr marL="742950" lvl="1" indent="-285750">
              <a:spcBef>
                <a:spcPts val="1000"/>
              </a:spcBef>
            </a:pPr>
            <a:r>
              <a:rPr lang="en-US" sz="1400" dirty="0">
                <a:solidFill>
                  <a:schemeClr val="tx2"/>
                </a:solidFill>
              </a:rPr>
              <a:t>32 </a:t>
            </a:r>
            <a:r>
              <a:rPr lang="en-US" sz="1400" dirty="0" err="1">
                <a:solidFill>
                  <a:schemeClr val="tx2"/>
                </a:solidFill>
              </a:rPr>
              <a:t>ms</a:t>
            </a:r>
            <a:r>
              <a:rPr lang="en-US" sz="1400" dirty="0">
                <a:solidFill>
                  <a:schemeClr val="tx2"/>
                </a:solidFill>
              </a:rPr>
              <a:t> sliding window, 50% overlap, 1024 FFT size.</a:t>
            </a:r>
          </a:p>
          <a:p>
            <a:pPr marL="742950" lvl="1" indent="-285750">
              <a:spcBef>
                <a:spcPts val="1000"/>
              </a:spcBef>
            </a:pPr>
            <a:r>
              <a:rPr lang="en-US" sz="1400" dirty="0">
                <a:solidFill>
                  <a:schemeClr val="tx2"/>
                </a:solidFill>
              </a:rPr>
              <a:t>Represented signal energy across time and frequency axes.</a:t>
            </a:r>
          </a:p>
          <a:p>
            <a:r>
              <a:rPr lang="en-US" sz="1400" dirty="0">
                <a:solidFill>
                  <a:schemeClr val="tx2"/>
                </a:solidFill>
              </a:rPr>
              <a:t>Grayscale and colored spectrograms were created and normalized.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4. Convolutional Neural Network (CNN):</a:t>
            </a:r>
          </a:p>
          <a:p>
            <a:r>
              <a:rPr lang="en-US" sz="1400" dirty="0">
                <a:solidFill>
                  <a:schemeClr val="tx2"/>
                </a:solidFill>
              </a:rPr>
              <a:t>Pre-trained Inception V3 CNN architecture (transfer learning):</a:t>
            </a:r>
          </a:p>
          <a:p>
            <a:pPr lvl="1">
              <a:spcBef>
                <a:spcPts val="1000"/>
              </a:spcBef>
            </a:pPr>
            <a:r>
              <a:rPr lang="en-US" sz="1400" dirty="0">
                <a:solidFill>
                  <a:schemeClr val="tx2"/>
                </a:solidFill>
              </a:rPr>
              <a:t>Trained on ImageNet database; adapted to classify spectrograms into HC and </a:t>
            </a:r>
            <a:r>
              <a:rPr lang="en-US" sz="1400" dirty="0" err="1">
                <a:solidFill>
                  <a:schemeClr val="tx2"/>
                </a:solidFill>
              </a:rPr>
              <a:t>PwPD</a:t>
            </a:r>
            <a:r>
              <a:rPr lang="en-US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sz="1400" dirty="0">
                <a:solidFill>
                  <a:schemeClr val="tx2"/>
                </a:solidFill>
              </a:rPr>
              <a:t>Fine-tuned with 4 additional layers:</a:t>
            </a:r>
          </a:p>
          <a:p>
            <a:pPr lvl="1">
              <a:spcBef>
                <a:spcPts val="1000"/>
              </a:spcBef>
            </a:pPr>
            <a:r>
              <a:rPr lang="en-US" sz="1400" dirty="0">
                <a:solidFill>
                  <a:schemeClr val="tx2"/>
                </a:solidFill>
              </a:rPr>
              <a:t>Batch normalization, Dense, Dropout, and Final Dense layers.</a:t>
            </a:r>
          </a:p>
          <a:p>
            <a:r>
              <a:rPr lang="en-US" sz="1400" dirty="0">
                <a:solidFill>
                  <a:schemeClr val="tx2"/>
                </a:solidFill>
              </a:rPr>
              <a:t>Trained with Adam optimizer, 0.001 learning rate, 10 epochs, batch size = 4.</a:t>
            </a:r>
          </a:p>
          <a:p>
            <a:r>
              <a:rPr lang="en-US" sz="1400" dirty="0">
                <a:solidFill>
                  <a:schemeClr val="tx2"/>
                </a:solidFill>
              </a:rPr>
              <a:t>Achieved superior classification with AUC = 0.80 for color spectrograms.</a:t>
            </a:r>
          </a:p>
          <a:p>
            <a:pPr marL="228600" lvl="1">
              <a:spcBef>
                <a:spcPts val="1000"/>
              </a:spcBef>
            </a:pPr>
            <a:endParaRPr lang="en-IN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1400" b="1" dirty="0">
                <a:solidFill>
                  <a:schemeClr val="tx2"/>
                </a:solidFill>
              </a:rPr>
              <a:t>5. </a:t>
            </a:r>
            <a:r>
              <a:rPr lang="en-US" sz="1400" b="1" dirty="0">
                <a:solidFill>
                  <a:schemeClr val="tx2"/>
                </a:solidFill>
              </a:rPr>
              <a:t>Validation and Comparison:</a:t>
            </a:r>
          </a:p>
          <a:p>
            <a:r>
              <a:rPr lang="en-US" sz="1400" dirty="0">
                <a:solidFill>
                  <a:schemeClr val="tx2"/>
                </a:solidFill>
              </a:rPr>
              <a:t>Cross-validation with 70% training and 30% testing in 100 random splits.</a:t>
            </a:r>
          </a:p>
          <a:p>
            <a:r>
              <a:rPr lang="en-US" sz="1400" dirty="0">
                <a:solidFill>
                  <a:schemeClr val="tx2"/>
                </a:solidFill>
              </a:rPr>
              <a:t>Comparison with RF and LR classifiers using acoustic and spectral features.</a:t>
            </a:r>
          </a:p>
          <a:p>
            <a:r>
              <a:rPr lang="en-US" sz="1400" dirty="0">
                <a:solidFill>
                  <a:schemeClr val="tx2"/>
                </a:solidFill>
              </a:rPr>
              <a:t>CNN showed better robustness and smaller variability across iterations.</a:t>
            </a:r>
          </a:p>
          <a:p>
            <a:pPr marL="742950" lvl="1" indent="-285750"/>
            <a:endParaRPr lang="en-IN" sz="1400" dirty="0">
              <a:solidFill>
                <a:schemeClr val="tx2"/>
              </a:solidFill>
            </a:endParaRP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solidFill>
                <a:schemeClr val="tx2"/>
              </a:solidFill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Graphic 13" descr="Radio microphone">
            <a:extLst>
              <a:ext uri="{FF2B5EF4-FFF2-40B4-BE49-F238E27FC236}">
                <a16:creationId xmlns:a16="http://schemas.microsoft.com/office/drawing/2014/main" id="{5D221E1E-46E2-4A31-992C-F05A0A075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6004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8B972-0827-4867-A72E-561188244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2345" y="2041442"/>
            <a:ext cx="3050732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Spectrogram Analysis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8174A-B164-459D-B234-CACE050A5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143945"/>
            <a:ext cx="7608304" cy="4641065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3155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8B972-0827-4867-A72E-561188244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Analysis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478C9-C00B-476E-A54D-433D626E2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2484909"/>
            <a:ext cx="7608304" cy="195913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405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8">
            <a:extLst>
              <a:ext uri="{FF2B5EF4-FFF2-40B4-BE49-F238E27FC236}">
                <a16:creationId xmlns:a16="http://schemas.microsoft.com/office/drawing/2014/main" id="{AE47195D-EC06-4298-8805-0F0D65997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8B972-0827-4867-A72E-561188244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2498" y="2023110"/>
            <a:ext cx="3048970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Performance</a:t>
            </a:r>
            <a:endParaRPr lang="en-US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88AO9evWyuhQRcQIasyMiIiIuTWFHREREXJrG7IiI01Hvu4jkhVp2RERExKUp7IiIiIhLU9gRERERl6awIyIiIi5NYUdERERcmsKOiIiIuDSFHREREXFpCjsiIiLi0v4fktAdHlRVpyAAAAAASUVORK5CYII= (571×432)">
            <a:extLst>
              <a:ext uri="{FF2B5EF4-FFF2-40B4-BE49-F238E27FC236}">
                <a16:creationId xmlns:a16="http://schemas.microsoft.com/office/drawing/2014/main" id="{036F2CEE-B920-48CA-81E1-8035A1E07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42081" y="2105407"/>
            <a:ext cx="3685032" cy="2791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F937B8-CBF8-47C2-877F-3F6ABB836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6680" y="2105407"/>
            <a:ext cx="3685032" cy="276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5" name="Rectangle 105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B4AF6059-F531-4E07-A576-819A76F34372}"/>
              </a:ext>
            </a:extLst>
          </p:cNvPr>
          <p:cNvSpPr txBox="1">
            <a:spLocks/>
          </p:cNvSpPr>
          <p:nvPr/>
        </p:nvSpPr>
        <p:spPr>
          <a:xfrm>
            <a:off x="2387753" y="4011295"/>
            <a:ext cx="5216103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Achieved 80% Accuracy</a:t>
            </a:r>
            <a:endParaRPr lang="en-US" sz="3400" i="1" dirty="0"/>
          </a:p>
        </p:txBody>
      </p:sp>
    </p:spTree>
    <p:extLst>
      <p:ext uri="{BB962C8B-B14F-4D97-AF65-F5344CB8AC3E}">
        <p14:creationId xmlns:p14="http://schemas.microsoft.com/office/powerpoint/2010/main" val="245675627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Our Methodology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345" y="2282931"/>
            <a:ext cx="1231106" cy="28732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 defTabSz="1375467"/>
            <a:r>
              <a:rPr lang="en-US" sz="1867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Audio Input </a:t>
            </a:r>
          </a:p>
        </p:txBody>
      </p:sp>
      <p:sp>
        <p:nvSpPr>
          <p:cNvPr id="25" name="Oval 24"/>
          <p:cNvSpPr/>
          <p:nvPr/>
        </p:nvSpPr>
        <p:spPr>
          <a:xfrm>
            <a:off x="4617778" y="1959788"/>
            <a:ext cx="965063" cy="93743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1375467"/>
            <a:endParaRPr lang="en-US" sz="3733" b="1" dirty="0">
              <a:solidFill>
                <a:srgbClr val="FFC000">
                  <a:lumMod val="5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6530" y="3563630"/>
            <a:ext cx="3302921" cy="28732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 defTabSz="1375467"/>
            <a:r>
              <a:rPr lang="en-US" sz="1867" b="1" dirty="0">
                <a:solidFill>
                  <a:srgbClr val="FF3F5F"/>
                </a:solidFill>
                <a:latin typeface="Roboto Condensed"/>
              </a:rPr>
              <a:t>Feature Normalization</a:t>
            </a:r>
          </a:p>
        </p:txBody>
      </p:sp>
      <p:sp>
        <p:nvSpPr>
          <p:cNvPr id="31" name="Oval 30"/>
          <p:cNvSpPr/>
          <p:nvPr/>
        </p:nvSpPr>
        <p:spPr>
          <a:xfrm>
            <a:off x="4617778" y="3302039"/>
            <a:ext cx="965063" cy="9374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3733" dirty="0">
              <a:solidFill>
                <a:srgbClr val="2AC2AC">
                  <a:lumMod val="5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18936" y="4972891"/>
            <a:ext cx="2168414" cy="28732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 defTabSz="1375467"/>
            <a:r>
              <a:rPr lang="en-US" sz="1867" b="1" dirty="0">
                <a:solidFill>
                  <a:srgbClr val="2AC2A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Models</a:t>
            </a:r>
          </a:p>
        </p:txBody>
      </p:sp>
      <p:sp>
        <p:nvSpPr>
          <p:cNvPr id="36" name="Oval 35"/>
          <p:cNvSpPr/>
          <p:nvPr/>
        </p:nvSpPr>
        <p:spPr>
          <a:xfrm>
            <a:off x="4617778" y="4646202"/>
            <a:ext cx="965063" cy="9374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4267" dirty="0">
              <a:solidFill>
                <a:srgbClr val="2993FF">
                  <a:lumMod val="5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751863" y="2256142"/>
            <a:ext cx="1876219" cy="28732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1375467"/>
            <a:r>
              <a:rPr lang="en-US" sz="1867" b="1" dirty="0">
                <a:solidFill>
                  <a:srgbClr val="3BC7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Extraction </a:t>
            </a:r>
          </a:p>
        </p:txBody>
      </p:sp>
      <p:sp>
        <p:nvSpPr>
          <p:cNvPr id="59" name="Oval 58"/>
          <p:cNvSpPr/>
          <p:nvPr/>
        </p:nvSpPr>
        <p:spPr>
          <a:xfrm>
            <a:off x="6556857" y="1957875"/>
            <a:ext cx="965063" cy="9374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3200" b="1" dirty="0">
              <a:solidFill>
                <a:srgbClr val="FF3F5F">
                  <a:lumMod val="5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51863" y="3603452"/>
            <a:ext cx="2982548" cy="28732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1375467"/>
            <a:r>
              <a:rPr lang="en-US" sz="1867" b="1" dirty="0">
                <a:solidFill>
                  <a:srgbClr val="2993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Reduction Techniques</a:t>
            </a:r>
          </a:p>
        </p:txBody>
      </p:sp>
      <p:sp>
        <p:nvSpPr>
          <p:cNvPr id="63" name="Oval 62"/>
          <p:cNvSpPr/>
          <p:nvPr/>
        </p:nvSpPr>
        <p:spPr>
          <a:xfrm>
            <a:off x="6556857" y="3302041"/>
            <a:ext cx="965063" cy="9374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3733" dirty="0">
              <a:solidFill>
                <a:srgbClr val="3BC7E2">
                  <a:lumMod val="5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751863" y="4988485"/>
            <a:ext cx="1862689" cy="28732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defTabSz="1375467"/>
            <a:r>
              <a:rPr lang="en-US" sz="1867" b="1" dirty="0">
                <a:solidFill>
                  <a:srgbClr val="7F73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Ensemble Decision</a:t>
            </a:r>
          </a:p>
        </p:txBody>
      </p:sp>
      <p:sp>
        <p:nvSpPr>
          <p:cNvPr id="67" name="Oval 66"/>
          <p:cNvSpPr/>
          <p:nvPr/>
        </p:nvSpPr>
        <p:spPr>
          <a:xfrm>
            <a:off x="6556857" y="4646202"/>
            <a:ext cx="965063" cy="93743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5467"/>
            <a:endParaRPr lang="en-US" sz="3200" dirty="0">
              <a:solidFill>
                <a:srgbClr val="7F739A">
                  <a:lumMod val="50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8" name="Straight Connector 67"/>
          <p:cNvCxnSpPr>
            <a:cxnSpLocks/>
          </p:cNvCxnSpPr>
          <p:nvPr/>
        </p:nvCxnSpPr>
        <p:spPr>
          <a:xfrm flipV="1">
            <a:off x="6096000" y="1892814"/>
            <a:ext cx="0" cy="366154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 56"/>
          <p:cNvSpPr>
            <a:spLocks noEditPoints="1"/>
          </p:cNvSpPr>
          <p:nvPr/>
        </p:nvSpPr>
        <p:spPr bwMode="auto">
          <a:xfrm>
            <a:off x="6808959" y="3540329"/>
            <a:ext cx="460856" cy="460856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Freeform 5"/>
          <p:cNvSpPr>
            <a:spLocks noEditPoints="1"/>
          </p:cNvSpPr>
          <p:nvPr/>
        </p:nvSpPr>
        <p:spPr bwMode="auto">
          <a:xfrm>
            <a:off x="4853395" y="2181589"/>
            <a:ext cx="493827" cy="493827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55" y="135"/>
              </a:cxn>
              <a:cxn ang="0">
                <a:pos x="277" y="122"/>
              </a:cxn>
              <a:cxn ang="0">
                <a:pos x="303" y="116"/>
              </a:cxn>
              <a:cxn ang="0">
                <a:pos x="296" y="105"/>
              </a:cxn>
              <a:cxn ang="0">
                <a:pos x="278" y="89"/>
              </a:cxn>
              <a:cxn ang="0">
                <a:pos x="265" y="90"/>
              </a:cxn>
              <a:cxn ang="0">
                <a:pos x="256" y="82"/>
              </a:cxn>
              <a:cxn ang="0">
                <a:pos x="231" y="73"/>
              </a:cxn>
              <a:cxn ang="0">
                <a:pos x="234" y="98"/>
              </a:cxn>
              <a:cxn ang="0">
                <a:pos x="224" y="118"/>
              </a:cxn>
              <a:cxn ang="0">
                <a:pos x="205" y="103"/>
              </a:cxn>
              <a:cxn ang="0">
                <a:pos x="175" y="89"/>
              </a:cxn>
              <a:cxn ang="0">
                <a:pos x="183" y="68"/>
              </a:cxn>
              <a:cxn ang="0">
                <a:pos x="212" y="58"/>
              </a:cxn>
              <a:cxn ang="0">
                <a:pos x="207" y="47"/>
              </a:cxn>
              <a:cxn ang="0">
                <a:pos x="188" y="50"/>
              </a:cxn>
              <a:cxn ang="0">
                <a:pos x="168" y="37"/>
              </a:cxn>
              <a:cxn ang="0">
                <a:pos x="171" y="52"/>
              </a:cxn>
              <a:cxn ang="0">
                <a:pos x="157" y="52"/>
              </a:cxn>
              <a:cxn ang="0">
                <a:pos x="141" y="40"/>
              </a:cxn>
              <a:cxn ang="0">
                <a:pos x="126" y="47"/>
              </a:cxn>
              <a:cxn ang="0">
                <a:pos x="143" y="51"/>
              </a:cxn>
              <a:cxn ang="0">
                <a:pos x="131" y="58"/>
              </a:cxn>
              <a:cxn ang="0">
                <a:pos x="56" y="107"/>
              </a:cxn>
              <a:cxn ang="0">
                <a:pos x="65" y="118"/>
              </a:cxn>
              <a:cxn ang="0">
                <a:pos x="79" y="135"/>
              </a:cxn>
              <a:cxn ang="0">
                <a:pos x="74" y="158"/>
              </a:cxn>
              <a:cxn ang="0">
                <a:pos x="88" y="185"/>
              </a:cxn>
              <a:cxn ang="0">
                <a:pos x="108" y="214"/>
              </a:cxn>
              <a:cxn ang="0">
                <a:pos x="118" y="227"/>
              </a:cxn>
              <a:cxn ang="0">
                <a:pos x="105" y="197"/>
              </a:cxn>
              <a:cxn ang="0">
                <a:pos x="125" y="225"/>
              </a:cxn>
              <a:cxn ang="0">
                <a:pos x="150" y="255"/>
              </a:cxn>
              <a:cxn ang="0">
                <a:pos x="184" y="269"/>
              </a:cxn>
              <a:cxn ang="0">
                <a:pos x="213" y="290"/>
              </a:cxn>
              <a:cxn ang="0">
                <a:pos x="224" y="288"/>
              </a:cxn>
              <a:cxn ang="0">
                <a:pos x="212" y="268"/>
              </a:cxn>
              <a:cxn ang="0">
                <a:pos x="197" y="262"/>
              </a:cxn>
              <a:cxn ang="0">
                <a:pos x="194" y="239"/>
              </a:cxn>
              <a:cxn ang="0">
                <a:pos x="171" y="250"/>
              </a:cxn>
              <a:cxn ang="0">
                <a:pos x="168" y="210"/>
              </a:cxn>
              <a:cxn ang="0">
                <a:pos x="184" y="206"/>
              </a:cxn>
              <a:cxn ang="0">
                <a:pos x="196" y="202"/>
              </a:cxn>
              <a:cxn ang="0">
                <a:pos x="214" y="211"/>
              </a:cxn>
              <a:cxn ang="0">
                <a:pos x="221" y="205"/>
              </a:cxn>
              <a:cxn ang="0">
                <a:pos x="234" y="179"/>
              </a:cxn>
              <a:cxn ang="0">
                <a:pos x="233" y="171"/>
              </a:cxn>
              <a:cxn ang="0">
                <a:pos x="252" y="157"/>
              </a:cxn>
              <a:cxn ang="0">
                <a:pos x="266" y="143"/>
              </a:cxn>
              <a:cxn ang="0">
                <a:pos x="273" y="131"/>
              </a:cxn>
              <a:cxn ang="0">
                <a:pos x="255" y="135"/>
              </a:cxn>
              <a:cxn ang="0">
                <a:pos x="295" y="298"/>
              </a:cxn>
              <a:cxn ang="0">
                <a:pos x="272" y="288"/>
              </a:cxn>
              <a:cxn ang="0">
                <a:pos x="251" y="288"/>
              </a:cxn>
              <a:cxn ang="0">
                <a:pos x="236" y="286"/>
              </a:cxn>
              <a:cxn ang="0">
                <a:pos x="230" y="307"/>
              </a:cxn>
              <a:cxn ang="0">
                <a:pos x="223" y="335"/>
              </a:cxn>
              <a:cxn ang="0">
                <a:pos x="308" y="302"/>
              </a:cxn>
            </a:cxnLst>
            <a:rect l="0" t="0" r="r" b="b"/>
            <a:pathLst>
              <a:path w="384" h="384">
                <a:moveTo>
                  <a:pt x="384" y="192"/>
                </a:moveTo>
                <a:cubicBezTo>
                  <a:pt x="384" y="298"/>
                  <a:pt x="298" y="384"/>
                  <a:pt x="192" y="384"/>
                </a:cubicBezTo>
                <a:cubicBezTo>
                  <a:pt x="86" y="384"/>
                  <a:pt x="0" y="298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298" y="0"/>
                  <a:pt x="384" y="86"/>
                  <a:pt x="384" y="192"/>
                </a:cubicBezTo>
                <a:close/>
                <a:moveTo>
                  <a:pt x="255" y="135"/>
                </a:moveTo>
                <a:cubicBezTo>
                  <a:pt x="256" y="135"/>
                  <a:pt x="257" y="130"/>
                  <a:pt x="258" y="129"/>
                </a:cubicBezTo>
                <a:cubicBezTo>
                  <a:pt x="260" y="127"/>
                  <a:pt x="262" y="126"/>
                  <a:pt x="264" y="125"/>
                </a:cubicBezTo>
                <a:cubicBezTo>
                  <a:pt x="268" y="124"/>
                  <a:pt x="272" y="123"/>
                  <a:pt x="277" y="122"/>
                </a:cubicBezTo>
                <a:cubicBezTo>
                  <a:pt x="281" y="121"/>
                  <a:pt x="286" y="121"/>
                  <a:pt x="289" y="125"/>
                </a:cubicBezTo>
                <a:cubicBezTo>
                  <a:pt x="289" y="124"/>
                  <a:pt x="295" y="119"/>
                  <a:pt x="295" y="119"/>
                </a:cubicBezTo>
                <a:cubicBezTo>
                  <a:pt x="298" y="118"/>
                  <a:pt x="301" y="118"/>
                  <a:pt x="303" y="116"/>
                </a:cubicBezTo>
                <a:cubicBezTo>
                  <a:pt x="303" y="115"/>
                  <a:pt x="303" y="110"/>
                  <a:pt x="303" y="110"/>
                </a:cubicBezTo>
                <a:cubicBezTo>
                  <a:pt x="299" y="111"/>
                  <a:pt x="298" y="107"/>
                  <a:pt x="297" y="103"/>
                </a:cubicBezTo>
                <a:cubicBezTo>
                  <a:pt x="297" y="104"/>
                  <a:pt x="297" y="104"/>
                  <a:pt x="296" y="105"/>
                </a:cubicBezTo>
                <a:cubicBezTo>
                  <a:pt x="296" y="102"/>
                  <a:pt x="291" y="104"/>
                  <a:pt x="290" y="104"/>
                </a:cubicBezTo>
                <a:cubicBezTo>
                  <a:pt x="284" y="102"/>
                  <a:pt x="285" y="98"/>
                  <a:pt x="283" y="94"/>
                </a:cubicBezTo>
                <a:cubicBezTo>
                  <a:pt x="282" y="92"/>
                  <a:pt x="279" y="91"/>
                  <a:pt x="278" y="89"/>
                </a:cubicBezTo>
                <a:cubicBezTo>
                  <a:pt x="277" y="87"/>
                  <a:pt x="277" y="84"/>
                  <a:pt x="274" y="84"/>
                </a:cubicBezTo>
                <a:cubicBezTo>
                  <a:pt x="273" y="84"/>
                  <a:pt x="270" y="89"/>
                  <a:pt x="270" y="89"/>
                </a:cubicBezTo>
                <a:cubicBezTo>
                  <a:pt x="267" y="88"/>
                  <a:pt x="266" y="89"/>
                  <a:pt x="265" y="90"/>
                </a:cubicBezTo>
                <a:cubicBezTo>
                  <a:pt x="263" y="91"/>
                  <a:pt x="262" y="91"/>
                  <a:pt x="260" y="92"/>
                </a:cubicBezTo>
                <a:cubicBezTo>
                  <a:pt x="265" y="90"/>
                  <a:pt x="258" y="88"/>
                  <a:pt x="256" y="88"/>
                </a:cubicBezTo>
                <a:cubicBezTo>
                  <a:pt x="260" y="87"/>
                  <a:pt x="258" y="83"/>
                  <a:pt x="256" y="82"/>
                </a:cubicBezTo>
                <a:cubicBezTo>
                  <a:pt x="256" y="82"/>
                  <a:pt x="257" y="82"/>
                  <a:pt x="257" y="82"/>
                </a:cubicBezTo>
                <a:cubicBezTo>
                  <a:pt x="257" y="79"/>
                  <a:pt x="250" y="77"/>
                  <a:pt x="247" y="76"/>
                </a:cubicBezTo>
                <a:cubicBezTo>
                  <a:pt x="245" y="74"/>
                  <a:pt x="233" y="72"/>
                  <a:pt x="231" y="73"/>
                </a:cubicBezTo>
                <a:cubicBezTo>
                  <a:pt x="228" y="75"/>
                  <a:pt x="231" y="80"/>
                  <a:pt x="231" y="83"/>
                </a:cubicBezTo>
                <a:cubicBezTo>
                  <a:pt x="232" y="86"/>
                  <a:pt x="228" y="86"/>
                  <a:pt x="228" y="89"/>
                </a:cubicBezTo>
                <a:cubicBezTo>
                  <a:pt x="228" y="93"/>
                  <a:pt x="236" y="92"/>
                  <a:pt x="234" y="98"/>
                </a:cubicBezTo>
                <a:cubicBezTo>
                  <a:pt x="233" y="102"/>
                  <a:pt x="228" y="102"/>
                  <a:pt x="226" y="105"/>
                </a:cubicBezTo>
                <a:cubicBezTo>
                  <a:pt x="224" y="108"/>
                  <a:pt x="227" y="112"/>
                  <a:pt x="229" y="114"/>
                </a:cubicBezTo>
                <a:cubicBezTo>
                  <a:pt x="231" y="115"/>
                  <a:pt x="225" y="118"/>
                  <a:pt x="224" y="118"/>
                </a:cubicBezTo>
                <a:cubicBezTo>
                  <a:pt x="220" y="120"/>
                  <a:pt x="217" y="114"/>
                  <a:pt x="216" y="110"/>
                </a:cubicBezTo>
                <a:cubicBezTo>
                  <a:pt x="215" y="108"/>
                  <a:pt x="215" y="104"/>
                  <a:pt x="212" y="103"/>
                </a:cubicBezTo>
                <a:cubicBezTo>
                  <a:pt x="210" y="102"/>
                  <a:pt x="206" y="102"/>
                  <a:pt x="205" y="103"/>
                </a:cubicBezTo>
                <a:cubicBezTo>
                  <a:pt x="203" y="99"/>
                  <a:pt x="198" y="98"/>
                  <a:pt x="194" y="97"/>
                </a:cubicBezTo>
                <a:cubicBezTo>
                  <a:pt x="189" y="95"/>
                  <a:pt x="185" y="95"/>
                  <a:pt x="180" y="96"/>
                </a:cubicBezTo>
                <a:cubicBezTo>
                  <a:pt x="181" y="95"/>
                  <a:pt x="179" y="88"/>
                  <a:pt x="175" y="89"/>
                </a:cubicBezTo>
                <a:cubicBezTo>
                  <a:pt x="176" y="86"/>
                  <a:pt x="176" y="84"/>
                  <a:pt x="176" y="81"/>
                </a:cubicBezTo>
                <a:cubicBezTo>
                  <a:pt x="177" y="79"/>
                  <a:pt x="178" y="77"/>
                  <a:pt x="179" y="75"/>
                </a:cubicBezTo>
                <a:cubicBezTo>
                  <a:pt x="180" y="74"/>
                  <a:pt x="185" y="69"/>
                  <a:pt x="183" y="68"/>
                </a:cubicBezTo>
                <a:cubicBezTo>
                  <a:pt x="188" y="69"/>
                  <a:pt x="193" y="69"/>
                  <a:pt x="196" y="66"/>
                </a:cubicBezTo>
                <a:cubicBezTo>
                  <a:pt x="198" y="63"/>
                  <a:pt x="199" y="60"/>
                  <a:pt x="202" y="57"/>
                </a:cubicBezTo>
                <a:cubicBezTo>
                  <a:pt x="205" y="53"/>
                  <a:pt x="209" y="58"/>
                  <a:pt x="212" y="58"/>
                </a:cubicBezTo>
                <a:cubicBezTo>
                  <a:pt x="217" y="59"/>
                  <a:pt x="217" y="53"/>
                  <a:pt x="214" y="51"/>
                </a:cubicBezTo>
                <a:cubicBezTo>
                  <a:pt x="218" y="51"/>
                  <a:pt x="215" y="45"/>
                  <a:pt x="213" y="44"/>
                </a:cubicBezTo>
                <a:cubicBezTo>
                  <a:pt x="211" y="43"/>
                  <a:pt x="202" y="46"/>
                  <a:pt x="207" y="47"/>
                </a:cubicBezTo>
                <a:cubicBezTo>
                  <a:pt x="206" y="47"/>
                  <a:pt x="200" y="59"/>
                  <a:pt x="196" y="53"/>
                </a:cubicBezTo>
                <a:cubicBezTo>
                  <a:pt x="195" y="52"/>
                  <a:pt x="195" y="47"/>
                  <a:pt x="193" y="46"/>
                </a:cubicBezTo>
                <a:cubicBezTo>
                  <a:pt x="190" y="46"/>
                  <a:pt x="189" y="49"/>
                  <a:pt x="188" y="50"/>
                </a:cubicBezTo>
                <a:cubicBezTo>
                  <a:pt x="190" y="47"/>
                  <a:pt x="181" y="45"/>
                  <a:pt x="180" y="44"/>
                </a:cubicBezTo>
                <a:cubicBezTo>
                  <a:pt x="183" y="42"/>
                  <a:pt x="180" y="39"/>
                  <a:pt x="178" y="38"/>
                </a:cubicBezTo>
                <a:cubicBezTo>
                  <a:pt x="176" y="36"/>
                  <a:pt x="169" y="35"/>
                  <a:pt x="168" y="37"/>
                </a:cubicBezTo>
                <a:cubicBezTo>
                  <a:pt x="163" y="43"/>
                  <a:pt x="173" y="44"/>
                  <a:pt x="175" y="45"/>
                </a:cubicBezTo>
                <a:cubicBezTo>
                  <a:pt x="176" y="46"/>
                  <a:pt x="179" y="48"/>
                  <a:pt x="177" y="49"/>
                </a:cubicBezTo>
                <a:cubicBezTo>
                  <a:pt x="176" y="50"/>
                  <a:pt x="171" y="51"/>
                  <a:pt x="171" y="52"/>
                </a:cubicBezTo>
                <a:cubicBezTo>
                  <a:pt x="169" y="54"/>
                  <a:pt x="172" y="57"/>
                  <a:pt x="170" y="59"/>
                </a:cubicBezTo>
                <a:cubicBezTo>
                  <a:pt x="168" y="57"/>
                  <a:pt x="168" y="53"/>
                  <a:pt x="166" y="50"/>
                </a:cubicBezTo>
                <a:cubicBezTo>
                  <a:pt x="168" y="53"/>
                  <a:pt x="157" y="52"/>
                  <a:pt x="157" y="52"/>
                </a:cubicBezTo>
                <a:cubicBezTo>
                  <a:pt x="154" y="52"/>
                  <a:pt x="148" y="54"/>
                  <a:pt x="145" y="50"/>
                </a:cubicBezTo>
                <a:cubicBezTo>
                  <a:pt x="144" y="49"/>
                  <a:pt x="144" y="44"/>
                  <a:pt x="146" y="45"/>
                </a:cubicBezTo>
                <a:cubicBezTo>
                  <a:pt x="144" y="43"/>
                  <a:pt x="142" y="41"/>
                  <a:pt x="141" y="40"/>
                </a:cubicBezTo>
                <a:cubicBezTo>
                  <a:pt x="132" y="43"/>
                  <a:pt x="125" y="47"/>
                  <a:pt x="117" y="51"/>
                </a:cubicBezTo>
                <a:cubicBezTo>
                  <a:pt x="118" y="51"/>
                  <a:pt x="119" y="51"/>
                  <a:pt x="120" y="50"/>
                </a:cubicBezTo>
                <a:cubicBezTo>
                  <a:pt x="122" y="50"/>
                  <a:pt x="124" y="48"/>
                  <a:pt x="126" y="47"/>
                </a:cubicBezTo>
                <a:cubicBezTo>
                  <a:pt x="128" y="46"/>
                  <a:pt x="134" y="43"/>
                  <a:pt x="136" y="46"/>
                </a:cubicBezTo>
                <a:cubicBezTo>
                  <a:pt x="137" y="45"/>
                  <a:pt x="137" y="45"/>
                  <a:pt x="138" y="44"/>
                </a:cubicBezTo>
                <a:cubicBezTo>
                  <a:pt x="139" y="46"/>
                  <a:pt x="141" y="48"/>
                  <a:pt x="143" y="51"/>
                </a:cubicBezTo>
                <a:cubicBezTo>
                  <a:pt x="141" y="50"/>
                  <a:pt x="137" y="50"/>
                  <a:pt x="135" y="50"/>
                </a:cubicBezTo>
                <a:cubicBezTo>
                  <a:pt x="133" y="51"/>
                  <a:pt x="130" y="51"/>
                  <a:pt x="130" y="53"/>
                </a:cubicBezTo>
                <a:cubicBezTo>
                  <a:pt x="130" y="55"/>
                  <a:pt x="131" y="57"/>
                  <a:pt x="131" y="58"/>
                </a:cubicBezTo>
                <a:cubicBezTo>
                  <a:pt x="128" y="56"/>
                  <a:pt x="125" y="52"/>
                  <a:pt x="121" y="51"/>
                </a:cubicBezTo>
                <a:cubicBezTo>
                  <a:pt x="119" y="51"/>
                  <a:pt x="117" y="51"/>
                  <a:pt x="115" y="52"/>
                </a:cubicBezTo>
                <a:cubicBezTo>
                  <a:pt x="91" y="65"/>
                  <a:pt x="71" y="84"/>
                  <a:pt x="56" y="107"/>
                </a:cubicBezTo>
                <a:cubicBezTo>
                  <a:pt x="57" y="108"/>
                  <a:pt x="58" y="109"/>
                  <a:pt x="59" y="109"/>
                </a:cubicBezTo>
                <a:cubicBezTo>
                  <a:pt x="62" y="110"/>
                  <a:pt x="59" y="117"/>
                  <a:pt x="64" y="113"/>
                </a:cubicBezTo>
                <a:cubicBezTo>
                  <a:pt x="66" y="115"/>
                  <a:pt x="66" y="116"/>
                  <a:pt x="65" y="118"/>
                </a:cubicBezTo>
                <a:cubicBezTo>
                  <a:pt x="65" y="118"/>
                  <a:pt x="75" y="124"/>
                  <a:pt x="76" y="125"/>
                </a:cubicBezTo>
                <a:cubicBezTo>
                  <a:pt x="78" y="126"/>
                  <a:pt x="80" y="128"/>
                  <a:pt x="81" y="130"/>
                </a:cubicBezTo>
                <a:cubicBezTo>
                  <a:pt x="82" y="132"/>
                  <a:pt x="80" y="134"/>
                  <a:pt x="79" y="135"/>
                </a:cubicBezTo>
                <a:cubicBezTo>
                  <a:pt x="78" y="134"/>
                  <a:pt x="75" y="130"/>
                  <a:pt x="74" y="131"/>
                </a:cubicBezTo>
                <a:cubicBezTo>
                  <a:pt x="73" y="133"/>
                  <a:pt x="74" y="139"/>
                  <a:pt x="77" y="139"/>
                </a:cubicBezTo>
                <a:cubicBezTo>
                  <a:pt x="73" y="139"/>
                  <a:pt x="75" y="155"/>
                  <a:pt x="74" y="158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3" y="161"/>
                  <a:pt x="76" y="173"/>
                  <a:pt x="81" y="172"/>
                </a:cubicBezTo>
                <a:cubicBezTo>
                  <a:pt x="78" y="172"/>
                  <a:pt x="87" y="184"/>
                  <a:pt x="88" y="185"/>
                </a:cubicBezTo>
                <a:cubicBezTo>
                  <a:pt x="91" y="187"/>
                  <a:pt x="95" y="188"/>
                  <a:pt x="97" y="192"/>
                </a:cubicBezTo>
                <a:cubicBezTo>
                  <a:pt x="100" y="195"/>
                  <a:pt x="100" y="201"/>
                  <a:pt x="103" y="203"/>
                </a:cubicBezTo>
                <a:cubicBezTo>
                  <a:pt x="102" y="206"/>
                  <a:pt x="108" y="210"/>
                  <a:pt x="108" y="214"/>
                </a:cubicBezTo>
                <a:cubicBezTo>
                  <a:pt x="108" y="214"/>
                  <a:pt x="107" y="214"/>
                  <a:pt x="107" y="215"/>
                </a:cubicBezTo>
                <a:cubicBezTo>
                  <a:pt x="108" y="218"/>
                  <a:pt x="113" y="218"/>
                  <a:pt x="115" y="221"/>
                </a:cubicBezTo>
                <a:cubicBezTo>
                  <a:pt x="116" y="223"/>
                  <a:pt x="115" y="228"/>
                  <a:pt x="118" y="227"/>
                </a:cubicBezTo>
                <a:cubicBezTo>
                  <a:pt x="118" y="222"/>
                  <a:pt x="115" y="216"/>
                  <a:pt x="112" y="212"/>
                </a:cubicBezTo>
                <a:cubicBezTo>
                  <a:pt x="110" y="209"/>
                  <a:pt x="109" y="207"/>
                  <a:pt x="108" y="204"/>
                </a:cubicBezTo>
                <a:cubicBezTo>
                  <a:pt x="106" y="202"/>
                  <a:pt x="106" y="199"/>
                  <a:pt x="105" y="197"/>
                </a:cubicBezTo>
                <a:cubicBezTo>
                  <a:pt x="106" y="197"/>
                  <a:pt x="112" y="199"/>
                  <a:pt x="111" y="200"/>
                </a:cubicBezTo>
                <a:cubicBezTo>
                  <a:pt x="109" y="205"/>
                  <a:pt x="119" y="214"/>
                  <a:pt x="122" y="217"/>
                </a:cubicBezTo>
                <a:cubicBezTo>
                  <a:pt x="123" y="218"/>
                  <a:pt x="128" y="225"/>
                  <a:pt x="125" y="225"/>
                </a:cubicBezTo>
                <a:cubicBezTo>
                  <a:pt x="129" y="225"/>
                  <a:pt x="133" y="230"/>
                  <a:pt x="135" y="233"/>
                </a:cubicBezTo>
                <a:cubicBezTo>
                  <a:pt x="137" y="236"/>
                  <a:pt x="136" y="241"/>
                  <a:pt x="138" y="245"/>
                </a:cubicBezTo>
                <a:cubicBezTo>
                  <a:pt x="139" y="250"/>
                  <a:pt x="146" y="252"/>
                  <a:pt x="150" y="255"/>
                </a:cubicBezTo>
                <a:cubicBezTo>
                  <a:pt x="154" y="256"/>
                  <a:pt x="157" y="259"/>
                  <a:pt x="160" y="260"/>
                </a:cubicBezTo>
                <a:cubicBezTo>
                  <a:pt x="166" y="262"/>
                  <a:pt x="167" y="260"/>
                  <a:pt x="171" y="260"/>
                </a:cubicBezTo>
                <a:cubicBezTo>
                  <a:pt x="178" y="259"/>
                  <a:pt x="179" y="266"/>
                  <a:pt x="184" y="269"/>
                </a:cubicBezTo>
                <a:cubicBezTo>
                  <a:pt x="187" y="270"/>
                  <a:pt x="194" y="273"/>
                  <a:pt x="198" y="271"/>
                </a:cubicBezTo>
                <a:cubicBezTo>
                  <a:pt x="196" y="272"/>
                  <a:pt x="203" y="282"/>
                  <a:pt x="204" y="283"/>
                </a:cubicBezTo>
                <a:cubicBezTo>
                  <a:pt x="206" y="286"/>
                  <a:pt x="210" y="287"/>
                  <a:pt x="213" y="290"/>
                </a:cubicBezTo>
                <a:cubicBezTo>
                  <a:pt x="213" y="290"/>
                  <a:pt x="214" y="289"/>
                  <a:pt x="214" y="288"/>
                </a:cubicBezTo>
                <a:cubicBezTo>
                  <a:pt x="213" y="291"/>
                  <a:pt x="218" y="296"/>
                  <a:pt x="221" y="296"/>
                </a:cubicBezTo>
                <a:cubicBezTo>
                  <a:pt x="223" y="295"/>
                  <a:pt x="224" y="290"/>
                  <a:pt x="224" y="288"/>
                </a:cubicBezTo>
                <a:cubicBezTo>
                  <a:pt x="219" y="290"/>
                  <a:pt x="215" y="288"/>
                  <a:pt x="212" y="283"/>
                </a:cubicBezTo>
                <a:cubicBezTo>
                  <a:pt x="211" y="282"/>
                  <a:pt x="207" y="275"/>
                  <a:pt x="211" y="275"/>
                </a:cubicBezTo>
                <a:cubicBezTo>
                  <a:pt x="216" y="275"/>
                  <a:pt x="212" y="271"/>
                  <a:pt x="212" y="268"/>
                </a:cubicBezTo>
                <a:cubicBezTo>
                  <a:pt x="211" y="264"/>
                  <a:pt x="208" y="262"/>
                  <a:pt x="206" y="259"/>
                </a:cubicBezTo>
                <a:cubicBezTo>
                  <a:pt x="205" y="262"/>
                  <a:pt x="200" y="261"/>
                  <a:pt x="198" y="259"/>
                </a:cubicBezTo>
                <a:cubicBezTo>
                  <a:pt x="198" y="259"/>
                  <a:pt x="197" y="261"/>
                  <a:pt x="197" y="262"/>
                </a:cubicBezTo>
                <a:cubicBezTo>
                  <a:pt x="196" y="262"/>
                  <a:pt x="195" y="262"/>
                  <a:pt x="194" y="261"/>
                </a:cubicBezTo>
                <a:cubicBezTo>
                  <a:pt x="194" y="258"/>
                  <a:pt x="194" y="255"/>
                  <a:pt x="195" y="251"/>
                </a:cubicBezTo>
                <a:cubicBezTo>
                  <a:pt x="196" y="247"/>
                  <a:pt x="205" y="238"/>
                  <a:pt x="194" y="239"/>
                </a:cubicBezTo>
                <a:cubicBezTo>
                  <a:pt x="190" y="239"/>
                  <a:pt x="188" y="240"/>
                  <a:pt x="187" y="244"/>
                </a:cubicBezTo>
                <a:cubicBezTo>
                  <a:pt x="186" y="247"/>
                  <a:pt x="186" y="249"/>
                  <a:pt x="183" y="251"/>
                </a:cubicBezTo>
                <a:cubicBezTo>
                  <a:pt x="181" y="252"/>
                  <a:pt x="173" y="251"/>
                  <a:pt x="171" y="250"/>
                </a:cubicBezTo>
                <a:cubicBezTo>
                  <a:pt x="166" y="247"/>
                  <a:pt x="163" y="239"/>
                  <a:pt x="163" y="234"/>
                </a:cubicBezTo>
                <a:cubicBezTo>
                  <a:pt x="163" y="227"/>
                  <a:pt x="166" y="221"/>
                  <a:pt x="163" y="215"/>
                </a:cubicBezTo>
                <a:cubicBezTo>
                  <a:pt x="164" y="213"/>
                  <a:pt x="166" y="211"/>
                  <a:pt x="168" y="210"/>
                </a:cubicBezTo>
                <a:cubicBezTo>
                  <a:pt x="169" y="209"/>
                  <a:pt x="171" y="210"/>
                  <a:pt x="172" y="207"/>
                </a:cubicBezTo>
                <a:cubicBezTo>
                  <a:pt x="171" y="207"/>
                  <a:pt x="170" y="206"/>
                  <a:pt x="170" y="206"/>
                </a:cubicBezTo>
                <a:cubicBezTo>
                  <a:pt x="173" y="208"/>
                  <a:pt x="180" y="203"/>
                  <a:pt x="184" y="206"/>
                </a:cubicBezTo>
                <a:cubicBezTo>
                  <a:pt x="186" y="207"/>
                  <a:pt x="188" y="208"/>
                  <a:pt x="189" y="205"/>
                </a:cubicBezTo>
                <a:cubicBezTo>
                  <a:pt x="189" y="205"/>
                  <a:pt x="187" y="202"/>
                  <a:pt x="188" y="200"/>
                </a:cubicBezTo>
                <a:cubicBezTo>
                  <a:pt x="189" y="204"/>
                  <a:pt x="192" y="205"/>
                  <a:pt x="196" y="202"/>
                </a:cubicBezTo>
                <a:cubicBezTo>
                  <a:pt x="197" y="203"/>
                  <a:pt x="201" y="203"/>
                  <a:pt x="204" y="204"/>
                </a:cubicBezTo>
                <a:cubicBezTo>
                  <a:pt x="207" y="206"/>
                  <a:pt x="207" y="209"/>
                  <a:pt x="211" y="205"/>
                </a:cubicBezTo>
                <a:cubicBezTo>
                  <a:pt x="213" y="208"/>
                  <a:pt x="213" y="208"/>
                  <a:pt x="214" y="211"/>
                </a:cubicBezTo>
                <a:cubicBezTo>
                  <a:pt x="214" y="214"/>
                  <a:pt x="216" y="221"/>
                  <a:pt x="218" y="222"/>
                </a:cubicBezTo>
                <a:cubicBezTo>
                  <a:pt x="224" y="225"/>
                  <a:pt x="222" y="217"/>
                  <a:pt x="222" y="214"/>
                </a:cubicBezTo>
                <a:cubicBezTo>
                  <a:pt x="222" y="213"/>
                  <a:pt x="222" y="205"/>
                  <a:pt x="221" y="205"/>
                </a:cubicBezTo>
                <a:cubicBezTo>
                  <a:pt x="213" y="203"/>
                  <a:pt x="216" y="197"/>
                  <a:pt x="221" y="193"/>
                </a:cubicBezTo>
                <a:cubicBezTo>
                  <a:pt x="222" y="192"/>
                  <a:pt x="227" y="190"/>
                  <a:pt x="230" y="188"/>
                </a:cubicBezTo>
                <a:cubicBezTo>
                  <a:pt x="232" y="186"/>
                  <a:pt x="235" y="183"/>
                  <a:pt x="234" y="179"/>
                </a:cubicBezTo>
                <a:cubicBezTo>
                  <a:pt x="235" y="179"/>
                  <a:pt x="236" y="178"/>
                  <a:pt x="236" y="177"/>
                </a:cubicBezTo>
                <a:cubicBezTo>
                  <a:pt x="236" y="177"/>
                  <a:pt x="233" y="174"/>
                  <a:pt x="232" y="175"/>
                </a:cubicBezTo>
                <a:cubicBezTo>
                  <a:pt x="234" y="174"/>
                  <a:pt x="234" y="172"/>
                  <a:pt x="233" y="171"/>
                </a:cubicBezTo>
                <a:cubicBezTo>
                  <a:pt x="235" y="169"/>
                  <a:pt x="234" y="166"/>
                  <a:pt x="236" y="165"/>
                </a:cubicBezTo>
                <a:cubicBezTo>
                  <a:pt x="239" y="169"/>
                  <a:pt x="245" y="165"/>
                  <a:pt x="242" y="162"/>
                </a:cubicBezTo>
                <a:cubicBezTo>
                  <a:pt x="244" y="158"/>
                  <a:pt x="250" y="160"/>
                  <a:pt x="252" y="157"/>
                </a:cubicBezTo>
                <a:cubicBezTo>
                  <a:pt x="255" y="158"/>
                  <a:pt x="253" y="153"/>
                  <a:pt x="255" y="150"/>
                </a:cubicBezTo>
                <a:cubicBezTo>
                  <a:pt x="256" y="148"/>
                  <a:pt x="259" y="148"/>
                  <a:pt x="262" y="147"/>
                </a:cubicBezTo>
                <a:cubicBezTo>
                  <a:pt x="262" y="147"/>
                  <a:pt x="268" y="143"/>
                  <a:pt x="266" y="143"/>
                </a:cubicBezTo>
                <a:cubicBezTo>
                  <a:pt x="270" y="144"/>
                  <a:pt x="279" y="139"/>
                  <a:pt x="272" y="135"/>
                </a:cubicBezTo>
                <a:cubicBezTo>
                  <a:pt x="273" y="133"/>
                  <a:pt x="270" y="132"/>
                  <a:pt x="268" y="132"/>
                </a:cubicBezTo>
                <a:cubicBezTo>
                  <a:pt x="269" y="131"/>
                  <a:pt x="272" y="132"/>
                  <a:pt x="273" y="131"/>
                </a:cubicBezTo>
                <a:cubicBezTo>
                  <a:pt x="276" y="129"/>
                  <a:pt x="274" y="128"/>
                  <a:pt x="271" y="127"/>
                </a:cubicBezTo>
                <a:cubicBezTo>
                  <a:pt x="268" y="126"/>
                  <a:pt x="263" y="128"/>
                  <a:pt x="261" y="130"/>
                </a:cubicBezTo>
                <a:cubicBezTo>
                  <a:pt x="259" y="132"/>
                  <a:pt x="257" y="134"/>
                  <a:pt x="255" y="135"/>
                </a:cubicBezTo>
                <a:close/>
                <a:moveTo>
                  <a:pt x="308" y="302"/>
                </a:moveTo>
                <a:cubicBezTo>
                  <a:pt x="306" y="301"/>
                  <a:pt x="303" y="301"/>
                  <a:pt x="301" y="300"/>
                </a:cubicBezTo>
                <a:cubicBezTo>
                  <a:pt x="299" y="300"/>
                  <a:pt x="298" y="299"/>
                  <a:pt x="295" y="298"/>
                </a:cubicBezTo>
                <a:cubicBezTo>
                  <a:pt x="296" y="293"/>
                  <a:pt x="290" y="292"/>
                  <a:pt x="287" y="289"/>
                </a:cubicBezTo>
                <a:cubicBezTo>
                  <a:pt x="284" y="287"/>
                  <a:pt x="282" y="284"/>
                  <a:pt x="277" y="285"/>
                </a:cubicBezTo>
                <a:cubicBezTo>
                  <a:pt x="276" y="285"/>
                  <a:pt x="271" y="287"/>
                  <a:pt x="272" y="288"/>
                </a:cubicBezTo>
                <a:cubicBezTo>
                  <a:pt x="269" y="285"/>
                  <a:pt x="268" y="284"/>
                  <a:pt x="263" y="282"/>
                </a:cubicBezTo>
                <a:cubicBezTo>
                  <a:pt x="259" y="281"/>
                  <a:pt x="257" y="276"/>
                  <a:pt x="253" y="281"/>
                </a:cubicBezTo>
                <a:cubicBezTo>
                  <a:pt x="251" y="283"/>
                  <a:pt x="252" y="286"/>
                  <a:pt x="251" y="288"/>
                </a:cubicBezTo>
                <a:cubicBezTo>
                  <a:pt x="247" y="285"/>
                  <a:pt x="254" y="282"/>
                  <a:pt x="251" y="279"/>
                </a:cubicBezTo>
                <a:cubicBezTo>
                  <a:pt x="248" y="275"/>
                  <a:pt x="243" y="281"/>
                  <a:pt x="240" y="282"/>
                </a:cubicBezTo>
                <a:cubicBezTo>
                  <a:pt x="239" y="284"/>
                  <a:pt x="237" y="284"/>
                  <a:pt x="236" y="286"/>
                </a:cubicBezTo>
                <a:cubicBezTo>
                  <a:pt x="235" y="287"/>
                  <a:pt x="234" y="290"/>
                  <a:pt x="233" y="291"/>
                </a:cubicBezTo>
                <a:cubicBezTo>
                  <a:pt x="233" y="289"/>
                  <a:pt x="228" y="290"/>
                  <a:pt x="228" y="288"/>
                </a:cubicBezTo>
                <a:cubicBezTo>
                  <a:pt x="229" y="294"/>
                  <a:pt x="229" y="301"/>
                  <a:pt x="230" y="307"/>
                </a:cubicBezTo>
                <a:cubicBezTo>
                  <a:pt x="231" y="310"/>
                  <a:pt x="230" y="316"/>
                  <a:pt x="227" y="319"/>
                </a:cubicBezTo>
                <a:cubicBezTo>
                  <a:pt x="224" y="321"/>
                  <a:pt x="221" y="324"/>
                  <a:pt x="220" y="329"/>
                </a:cubicBezTo>
                <a:cubicBezTo>
                  <a:pt x="220" y="332"/>
                  <a:pt x="220" y="334"/>
                  <a:pt x="223" y="335"/>
                </a:cubicBezTo>
                <a:cubicBezTo>
                  <a:pt x="223" y="339"/>
                  <a:pt x="219" y="342"/>
                  <a:pt x="219" y="346"/>
                </a:cubicBezTo>
                <a:cubicBezTo>
                  <a:pt x="219" y="346"/>
                  <a:pt x="220" y="348"/>
                  <a:pt x="220" y="350"/>
                </a:cubicBezTo>
                <a:cubicBezTo>
                  <a:pt x="254" y="344"/>
                  <a:pt x="285" y="327"/>
                  <a:pt x="308" y="302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Freeform 245"/>
          <p:cNvSpPr>
            <a:spLocks/>
          </p:cNvSpPr>
          <p:nvPr/>
        </p:nvSpPr>
        <p:spPr bwMode="auto">
          <a:xfrm>
            <a:off x="4879234" y="3549682"/>
            <a:ext cx="442149" cy="442149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8" y="56"/>
              </a:cxn>
              <a:cxn ang="0">
                <a:pos x="28" y="67"/>
              </a:cxn>
              <a:cxn ang="0">
                <a:pos x="26" y="68"/>
              </a:cxn>
              <a:cxn ang="0">
                <a:pos x="26" y="68"/>
              </a:cxn>
              <a:cxn ang="0">
                <a:pos x="24" y="65"/>
              </a:cxn>
              <a:cxn ang="0">
                <a:pos x="24" y="52"/>
              </a:cxn>
              <a:cxn ang="0">
                <a:pos x="57" y="12"/>
              </a:cxn>
              <a:cxn ang="0">
                <a:pos x="16" y="47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5" y="0"/>
              </a:cxn>
              <a:cxn ang="0">
                <a:pos x="67" y="0"/>
              </a:cxn>
              <a:cxn ang="0">
                <a:pos x="68" y="3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4"/>
          <p:cNvSpPr>
            <a:spLocks noEditPoints="1"/>
          </p:cNvSpPr>
          <p:nvPr/>
        </p:nvSpPr>
        <p:spPr bwMode="auto">
          <a:xfrm>
            <a:off x="4902548" y="4826003"/>
            <a:ext cx="395520" cy="577832"/>
          </a:xfrm>
          <a:custGeom>
            <a:avLst/>
            <a:gdLst/>
            <a:ahLst/>
            <a:cxnLst>
              <a:cxn ang="0">
                <a:pos x="35" y="0"/>
              </a:cxn>
              <a:cxn ang="0">
                <a:pos x="0" y="35"/>
              </a:cxn>
              <a:cxn ang="0">
                <a:pos x="16" y="74"/>
              </a:cxn>
              <a:cxn ang="0">
                <a:pos x="35" y="102"/>
              </a:cxn>
              <a:cxn ang="0">
                <a:pos x="54" y="74"/>
              </a:cxn>
              <a:cxn ang="0">
                <a:pos x="70" y="35"/>
              </a:cxn>
              <a:cxn ang="0">
                <a:pos x="35" y="0"/>
              </a:cxn>
              <a:cxn ang="0">
                <a:pos x="43" y="87"/>
              </a:cxn>
              <a:cxn ang="0">
                <a:pos x="27" y="89"/>
              </a:cxn>
              <a:cxn ang="0">
                <a:pos x="26" y="83"/>
              </a:cxn>
              <a:cxn ang="0">
                <a:pos x="26" y="83"/>
              </a:cxn>
              <a:cxn ang="0">
                <a:pos x="45" y="80"/>
              </a:cxn>
              <a:cxn ang="0">
                <a:pos x="44" y="83"/>
              </a:cxn>
              <a:cxn ang="0">
                <a:pos x="43" y="87"/>
              </a:cxn>
              <a:cxn ang="0">
                <a:pos x="25" y="79"/>
              </a:cxn>
              <a:cxn ang="0">
                <a:pos x="23" y="73"/>
              </a:cxn>
              <a:cxn ang="0">
                <a:pos x="47" y="73"/>
              </a:cxn>
              <a:cxn ang="0">
                <a:pos x="46" y="77"/>
              </a:cxn>
              <a:cxn ang="0">
                <a:pos x="25" y="79"/>
              </a:cxn>
              <a:cxn ang="0">
                <a:pos x="35" y="96"/>
              </a:cxn>
              <a:cxn ang="0">
                <a:pos x="29" y="92"/>
              </a:cxn>
              <a:cxn ang="0">
                <a:pos x="42" y="90"/>
              </a:cxn>
              <a:cxn ang="0">
                <a:pos x="35" y="96"/>
              </a:cxn>
              <a:cxn ang="0">
                <a:pos x="50" y="67"/>
              </a:cxn>
              <a:cxn ang="0">
                <a:pos x="20" y="67"/>
              </a:cxn>
              <a:cxn ang="0">
                <a:pos x="15" y="57"/>
              </a:cxn>
              <a:cxn ang="0">
                <a:pos x="6" y="35"/>
              </a:cxn>
              <a:cxn ang="0">
                <a:pos x="35" y="6"/>
              </a:cxn>
              <a:cxn ang="0">
                <a:pos x="64" y="35"/>
              </a:cxn>
              <a:cxn ang="0">
                <a:pos x="55" y="57"/>
              </a:cxn>
              <a:cxn ang="0">
                <a:pos x="50" y="67"/>
              </a:cxn>
              <a:cxn ang="0">
                <a:pos x="50" y="67"/>
              </a:cxn>
              <a:cxn ang="0">
                <a:pos x="50" y="67"/>
              </a:cxn>
            </a:cxnLst>
            <a:rect l="0" t="0" r="r" b="b"/>
            <a:pathLst>
              <a:path w="70" h="102">
                <a:moveTo>
                  <a:pt x="35" y="0"/>
                </a:moveTo>
                <a:cubicBezTo>
                  <a:pt x="16" y="0"/>
                  <a:pt x="0" y="16"/>
                  <a:pt x="0" y="35"/>
                </a:cubicBezTo>
                <a:cubicBezTo>
                  <a:pt x="0" y="48"/>
                  <a:pt x="12" y="62"/>
                  <a:pt x="16" y="74"/>
                </a:cubicBezTo>
                <a:cubicBezTo>
                  <a:pt x="22" y="91"/>
                  <a:pt x="22" y="102"/>
                  <a:pt x="35" y="102"/>
                </a:cubicBezTo>
                <a:cubicBezTo>
                  <a:pt x="49" y="102"/>
                  <a:pt x="48" y="92"/>
                  <a:pt x="54" y="74"/>
                </a:cubicBezTo>
                <a:cubicBezTo>
                  <a:pt x="58" y="62"/>
                  <a:pt x="70" y="48"/>
                  <a:pt x="70" y="35"/>
                </a:cubicBezTo>
                <a:cubicBezTo>
                  <a:pt x="70" y="16"/>
                  <a:pt x="54" y="0"/>
                  <a:pt x="35" y="0"/>
                </a:cubicBezTo>
                <a:close/>
                <a:moveTo>
                  <a:pt x="43" y="87"/>
                </a:moveTo>
                <a:cubicBezTo>
                  <a:pt x="27" y="89"/>
                  <a:pt x="27" y="89"/>
                  <a:pt x="27" y="89"/>
                </a:cubicBezTo>
                <a:cubicBezTo>
                  <a:pt x="27" y="87"/>
                  <a:pt x="26" y="85"/>
                  <a:pt x="26" y="83"/>
                </a:cubicBezTo>
                <a:cubicBezTo>
                  <a:pt x="26" y="83"/>
                  <a:pt x="26" y="83"/>
                  <a:pt x="26" y="83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81"/>
                  <a:pt x="45" y="82"/>
                  <a:pt x="44" y="83"/>
                </a:cubicBezTo>
                <a:cubicBezTo>
                  <a:pt x="44" y="84"/>
                  <a:pt x="44" y="86"/>
                  <a:pt x="43" y="87"/>
                </a:cubicBezTo>
                <a:close/>
                <a:moveTo>
                  <a:pt x="25" y="79"/>
                </a:moveTo>
                <a:cubicBezTo>
                  <a:pt x="24" y="78"/>
                  <a:pt x="23" y="76"/>
                  <a:pt x="23" y="73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5"/>
                  <a:pt x="47" y="76"/>
                  <a:pt x="46" y="77"/>
                </a:cubicBezTo>
                <a:lnTo>
                  <a:pt x="25" y="79"/>
                </a:lnTo>
                <a:close/>
                <a:moveTo>
                  <a:pt x="35" y="96"/>
                </a:moveTo>
                <a:cubicBezTo>
                  <a:pt x="32" y="96"/>
                  <a:pt x="30" y="95"/>
                  <a:pt x="29" y="92"/>
                </a:cubicBezTo>
                <a:cubicBezTo>
                  <a:pt x="42" y="90"/>
                  <a:pt x="42" y="90"/>
                  <a:pt x="42" y="90"/>
                </a:cubicBezTo>
                <a:cubicBezTo>
                  <a:pt x="40" y="95"/>
                  <a:pt x="39" y="96"/>
                  <a:pt x="35" y="96"/>
                </a:cubicBezTo>
                <a:close/>
                <a:moveTo>
                  <a:pt x="50" y="67"/>
                </a:moveTo>
                <a:cubicBezTo>
                  <a:pt x="20" y="67"/>
                  <a:pt x="20" y="67"/>
                  <a:pt x="20" y="67"/>
                </a:cubicBezTo>
                <a:cubicBezTo>
                  <a:pt x="19" y="64"/>
                  <a:pt x="17" y="60"/>
                  <a:pt x="15" y="57"/>
                </a:cubicBezTo>
                <a:cubicBezTo>
                  <a:pt x="11" y="49"/>
                  <a:pt x="6" y="41"/>
                  <a:pt x="6" y="35"/>
                </a:cubicBezTo>
                <a:cubicBezTo>
                  <a:pt x="6" y="19"/>
                  <a:pt x="19" y="6"/>
                  <a:pt x="35" y="6"/>
                </a:cubicBezTo>
                <a:cubicBezTo>
                  <a:pt x="51" y="6"/>
                  <a:pt x="64" y="19"/>
                  <a:pt x="64" y="35"/>
                </a:cubicBezTo>
                <a:cubicBezTo>
                  <a:pt x="64" y="41"/>
                  <a:pt x="60" y="49"/>
                  <a:pt x="55" y="57"/>
                </a:cubicBezTo>
                <a:cubicBezTo>
                  <a:pt x="53" y="60"/>
                  <a:pt x="52" y="64"/>
                  <a:pt x="50" y="67"/>
                </a:cubicBezTo>
                <a:close/>
                <a:moveTo>
                  <a:pt x="50" y="67"/>
                </a:moveTo>
                <a:cubicBezTo>
                  <a:pt x="50" y="67"/>
                  <a:pt x="50" y="67"/>
                  <a:pt x="50" y="67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Freeform 217"/>
          <p:cNvSpPr>
            <a:spLocks noEditPoints="1"/>
          </p:cNvSpPr>
          <p:nvPr/>
        </p:nvSpPr>
        <p:spPr bwMode="auto">
          <a:xfrm>
            <a:off x="6786800" y="2237153"/>
            <a:ext cx="505173" cy="378881"/>
          </a:xfrm>
          <a:custGeom>
            <a:avLst/>
            <a:gdLst/>
            <a:ahLst/>
            <a:cxnLst>
              <a:cxn ang="0">
                <a:pos x="78" y="58"/>
              </a:cxn>
              <a:cxn ang="0">
                <a:pos x="0" y="58"/>
              </a:cxn>
              <a:cxn ang="0">
                <a:pos x="0" y="0"/>
              </a:cxn>
              <a:cxn ang="0">
                <a:pos x="5" y="0"/>
              </a:cxn>
              <a:cxn ang="0">
                <a:pos x="5" y="53"/>
              </a:cxn>
              <a:cxn ang="0">
                <a:pos x="78" y="53"/>
              </a:cxn>
              <a:cxn ang="0">
                <a:pos x="78" y="58"/>
              </a:cxn>
              <a:cxn ang="0">
                <a:pos x="73" y="22"/>
              </a:cxn>
              <a:cxn ang="0">
                <a:pos x="71" y="23"/>
              </a:cxn>
              <a:cxn ang="0">
                <a:pos x="66" y="18"/>
              </a:cxn>
              <a:cxn ang="0">
                <a:pos x="42" y="42"/>
              </a:cxn>
              <a:cxn ang="0">
                <a:pos x="40" y="42"/>
              </a:cxn>
              <a:cxn ang="0">
                <a:pos x="31" y="34"/>
              </a:cxn>
              <a:cxn ang="0">
                <a:pos x="16" y="49"/>
              </a:cxn>
              <a:cxn ang="0">
                <a:pos x="8" y="42"/>
              </a:cxn>
              <a:cxn ang="0">
                <a:pos x="30" y="20"/>
              </a:cxn>
              <a:cxn ang="0">
                <a:pos x="32" y="20"/>
              </a:cxn>
              <a:cxn ang="0">
                <a:pos x="41" y="29"/>
              </a:cxn>
              <a:cxn ang="0">
                <a:pos x="59" y="11"/>
              </a:cxn>
              <a:cxn ang="0">
                <a:pos x="54" y="6"/>
              </a:cxn>
              <a:cxn ang="0">
                <a:pos x="55" y="4"/>
              </a:cxn>
              <a:cxn ang="0">
                <a:pos x="71" y="4"/>
              </a:cxn>
              <a:cxn ang="0">
                <a:pos x="73" y="6"/>
              </a:cxn>
              <a:cxn ang="0">
                <a:pos x="73" y="22"/>
              </a:cxn>
            </a:cxnLst>
            <a:rect l="0" t="0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Freeform 135"/>
          <p:cNvSpPr>
            <a:spLocks noEditPoints="1"/>
          </p:cNvSpPr>
          <p:nvPr/>
        </p:nvSpPr>
        <p:spPr bwMode="auto">
          <a:xfrm>
            <a:off x="6837148" y="4925481"/>
            <a:ext cx="404481" cy="378881"/>
          </a:xfrm>
          <a:custGeom>
            <a:avLst/>
            <a:gdLst/>
            <a:ahLst/>
            <a:cxnLst>
              <a:cxn ang="0">
                <a:pos x="13" y="39"/>
              </a:cxn>
              <a:cxn ang="0">
                <a:pos x="8" y="39"/>
              </a:cxn>
              <a:cxn ang="0">
                <a:pos x="0" y="33"/>
              </a:cxn>
              <a:cxn ang="0">
                <a:pos x="5" y="19"/>
              </a:cxn>
              <a:cxn ang="0">
                <a:pos x="15" y="22"/>
              </a:cxn>
              <a:cxn ang="0">
                <a:pos x="20" y="21"/>
              </a:cxn>
              <a:cxn ang="0">
                <a:pos x="20" y="24"/>
              </a:cxn>
              <a:cxn ang="0">
                <a:pos x="23" y="34"/>
              </a:cxn>
              <a:cxn ang="0">
                <a:pos x="13" y="39"/>
              </a:cxn>
              <a:cxn ang="0">
                <a:pos x="15" y="19"/>
              </a:cxn>
              <a:cxn ang="0">
                <a:pos x="5" y="9"/>
              </a:cxn>
              <a:cxn ang="0">
                <a:pos x="15" y="0"/>
              </a:cxn>
              <a:cxn ang="0">
                <a:pos x="25" y="9"/>
              </a:cxn>
              <a:cxn ang="0">
                <a:pos x="15" y="19"/>
              </a:cxn>
              <a:cxn ang="0">
                <a:pos x="53" y="68"/>
              </a:cxn>
              <a:cxn ang="0">
                <a:pos x="20" y="68"/>
              </a:cxn>
              <a:cxn ang="0">
                <a:pos x="10" y="58"/>
              </a:cxn>
              <a:cxn ang="0">
                <a:pos x="23" y="36"/>
              </a:cxn>
              <a:cxn ang="0">
                <a:pos x="37" y="41"/>
              </a:cxn>
              <a:cxn ang="0">
                <a:pos x="50" y="36"/>
              </a:cxn>
              <a:cxn ang="0">
                <a:pos x="64" y="58"/>
              </a:cxn>
              <a:cxn ang="0">
                <a:pos x="53" y="68"/>
              </a:cxn>
              <a:cxn ang="0">
                <a:pos x="37" y="39"/>
              </a:cxn>
              <a:cxn ang="0">
                <a:pos x="22" y="24"/>
              </a:cxn>
              <a:cxn ang="0">
                <a:pos x="37" y="9"/>
              </a:cxn>
              <a:cxn ang="0">
                <a:pos x="51" y="24"/>
              </a:cxn>
              <a:cxn ang="0">
                <a:pos x="37" y="39"/>
              </a:cxn>
              <a:cxn ang="0">
                <a:pos x="59" y="19"/>
              </a:cxn>
              <a:cxn ang="0">
                <a:pos x="49" y="9"/>
              </a:cxn>
              <a:cxn ang="0">
                <a:pos x="59" y="0"/>
              </a:cxn>
              <a:cxn ang="0">
                <a:pos x="68" y="9"/>
              </a:cxn>
              <a:cxn ang="0">
                <a:pos x="59" y="19"/>
              </a:cxn>
              <a:cxn ang="0">
                <a:pos x="66" y="39"/>
              </a:cxn>
              <a:cxn ang="0">
                <a:pos x="61" y="39"/>
              </a:cxn>
              <a:cxn ang="0">
                <a:pos x="51" y="34"/>
              </a:cxn>
              <a:cxn ang="0">
                <a:pos x="54" y="24"/>
              </a:cxn>
              <a:cxn ang="0">
                <a:pos x="54" y="21"/>
              </a:cxn>
              <a:cxn ang="0">
                <a:pos x="59" y="22"/>
              </a:cxn>
              <a:cxn ang="0">
                <a:pos x="69" y="19"/>
              </a:cxn>
              <a:cxn ang="0">
                <a:pos x="73" y="33"/>
              </a:cxn>
              <a:cxn ang="0">
                <a:pos x="66" y="39"/>
              </a:cxn>
            </a:cxnLst>
            <a:rect l="0" t="0" r="r" b="b"/>
            <a:pathLst>
              <a:path w="73" h="68">
                <a:moveTo>
                  <a:pt x="13" y="39"/>
                </a:moveTo>
                <a:cubicBezTo>
                  <a:pt x="8" y="39"/>
                  <a:pt x="8" y="39"/>
                  <a:pt x="8" y="39"/>
                </a:cubicBezTo>
                <a:cubicBezTo>
                  <a:pt x="4" y="39"/>
                  <a:pt x="0" y="37"/>
                  <a:pt x="0" y="33"/>
                </a:cubicBezTo>
                <a:cubicBezTo>
                  <a:pt x="0" y="29"/>
                  <a:pt x="0" y="19"/>
                  <a:pt x="5" y="19"/>
                </a:cubicBezTo>
                <a:cubicBezTo>
                  <a:pt x="6" y="19"/>
                  <a:pt x="10" y="22"/>
                  <a:pt x="15" y="22"/>
                </a:cubicBezTo>
                <a:cubicBezTo>
                  <a:pt x="17" y="22"/>
                  <a:pt x="18" y="22"/>
                  <a:pt x="20" y="21"/>
                </a:cubicBezTo>
                <a:cubicBezTo>
                  <a:pt x="20" y="22"/>
                  <a:pt x="20" y="23"/>
                  <a:pt x="20" y="24"/>
                </a:cubicBezTo>
                <a:cubicBezTo>
                  <a:pt x="20" y="27"/>
                  <a:pt x="21" y="31"/>
                  <a:pt x="23" y="34"/>
                </a:cubicBezTo>
                <a:cubicBezTo>
                  <a:pt x="19" y="34"/>
                  <a:pt x="15" y="36"/>
                  <a:pt x="13" y="39"/>
                </a:cubicBezTo>
                <a:close/>
                <a:moveTo>
                  <a:pt x="15" y="19"/>
                </a:moveTo>
                <a:cubicBezTo>
                  <a:pt x="10" y="19"/>
                  <a:pt x="5" y="15"/>
                  <a:pt x="5" y="9"/>
                </a:cubicBezTo>
                <a:cubicBezTo>
                  <a:pt x="5" y="4"/>
                  <a:pt x="10" y="0"/>
                  <a:pt x="15" y="0"/>
                </a:cubicBezTo>
                <a:cubicBezTo>
                  <a:pt x="20" y="0"/>
                  <a:pt x="25" y="4"/>
                  <a:pt x="25" y="9"/>
                </a:cubicBezTo>
                <a:cubicBezTo>
                  <a:pt x="25" y="15"/>
                  <a:pt x="20" y="19"/>
                  <a:pt x="15" y="19"/>
                </a:cubicBezTo>
                <a:close/>
                <a:moveTo>
                  <a:pt x="53" y="68"/>
                </a:moveTo>
                <a:cubicBezTo>
                  <a:pt x="20" y="68"/>
                  <a:pt x="20" y="68"/>
                  <a:pt x="20" y="68"/>
                </a:cubicBezTo>
                <a:cubicBezTo>
                  <a:pt x="14" y="68"/>
                  <a:pt x="10" y="64"/>
                  <a:pt x="10" y="58"/>
                </a:cubicBezTo>
                <a:cubicBezTo>
                  <a:pt x="10" y="49"/>
                  <a:pt x="12" y="36"/>
                  <a:pt x="23" y="36"/>
                </a:cubicBezTo>
                <a:cubicBezTo>
                  <a:pt x="25" y="36"/>
                  <a:pt x="29" y="41"/>
                  <a:pt x="37" y="41"/>
                </a:cubicBezTo>
                <a:cubicBezTo>
                  <a:pt x="44" y="41"/>
                  <a:pt x="49" y="36"/>
                  <a:pt x="50" y="36"/>
                </a:cubicBezTo>
                <a:cubicBezTo>
                  <a:pt x="62" y="36"/>
                  <a:pt x="64" y="49"/>
                  <a:pt x="64" y="58"/>
                </a:cubicBezTo>
                <a:cubicBezTo>
                  <a:pt x="64" y="64"/>
                  <a:pt x="60" y="68"/>
                  <a:pt x="53" y="68"/>
                </a:cubicBezTo>
                <a:close/>
                <a:moveTo>
                  <a:pt x="37" y="39"/>
                </a:moveTo>
                <a:cubicBezTo>
                  <a:pt x="29" y="39"/>
                  <a:pt x="22" y="32"/>
                  <a:pt x="22" y="24"/>
                </a:cubicBezTo>
                <a:cubicBezTo>
                  <a:pt x="22" y="16"/>
                  <a:pt x="29" y="9"/>
                  <a:pt x="37" y="9"/>
                </a:cubicBezTo>
                <a:cubicBezTo>
                  <a:pt x="45" y="9"/>
                  <a:pt x="51" y="16"/>
                  <a:pt x="51" y="24"/>
                </a:cubicBezTo>
                <a:cubicBezTo>
                  <a:pt x="51" y="32"/>
                  <a:pt x="45" y="39"/>
                  <a:pt x="37" y="39"/>
                </a:cubicBezTo>
                <a:close/>
                <a:moveTo>
                  <a:pt x="59" y="19"/>
                </a:moveTo>
                <a:cubicBezTo>
                  <a:pt x="53" y="19"/>
                  <a:pt x="49" y="15"/>
                  <a:pt x="49" y="9"/>
                </a:cubicBezTo>
                <a:cubicBezTo>
                  <a:pt x="49" y="4"/>
                  <a:pt x="53" y="0"/>
                  <a:pt x="59" y="0"/>
                </a:cubicBezTo>
                <a:cubicBezTo>
                  <a:pt x="64" y="0"/>
                  <a:pt x="68" y="4"/>
                  <a:pt x="68" y="9"/>
                </a:cubicBezTo>
                <a:cubicBezTo>
                  <a:pt x="68" y="15"/>
                  <a:pt x="64" y="19"/>
                  <a:pt x="59" y="19"/>
                </a:cubicBezTo>
                <a:close/>
                <a:moveTo>
                  <a:pt x="66" y="39"/>
                </a:moveTo>
                <a:cubicBezTo>
                  <a:pt x="61" y="39"/>
                  <a:pt x="61" y="39"/>
                  <a:pt x="61" y="39"/>
                </a:cubicBezTo>
                <a:cubicBezTo>
                  <a:pt x="58" y="36"/>
                  <a:pt x="55" y="34"/>
                  <a:pt x="51" y="34"/>
                </a:cubicBezTo>
                <a:cubicBezTo>
                  <a:pt x="53" y="31"/>
                  <a:pt x="54" y="27"/>
                  <a:pt x="54" y="24"/>
                </a:cubicBezTo>
                <a:cubicBezTo>
                  <a:pt x="54" y="23"/>
                  <a:pt x="54" y="22"/>
                  <a:pt x="54" y="21"/>
                </a:cubicBezTo>
                <a:cubicBezTo>
                  <a:pt x="55" y="22"/>
                  <a:pt x="57" y="22"/>
                  <a:pt x="59" y="22"/>
                </a:cubicBezTo>
                <a:cubicBezTo>
                  <a:pt x="64" y="22"/>
                  <a:pt x="68" y="19"/>
                  <a:pt x="69" y="19"/>
                </a:cubicBezTo>
                <a:cubicBezTo>
                  <a:pt x="73" y="19"/>
                  <a:pt x="73" y="29"/>
                  <a:pt x="73" y="33"/>
                </a:cubicBezTo>
                <a:cubicBezTo>
                  <a:pt x="73" y="37"/>
                  <a:pt x="70" y="39"/>
                  <a:pt x="66" y="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1375467"/>
            <a:endParaRPr lang="en-US" sz="2667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61452D-2540-4548-885F-93396557BD97}"/>
              </a:ext>
            </a:extLst>
          </p:cNvPr>
          <p:cNvCxnSpPr>
            <a:stCxn id="25" idx="6"/>
            <a:endCxn id="59" idx="2"/>
          </p:cNvCxnSpPr>
          <p:nvPr/>
        </p:nvCxnSpPr>
        <p:spPr>
          <a:xfrm flipV="1">
            <a:off x="5582841" y="2426593"/>
            <a:ext cx="974016" cy="1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851F39-33E4-4E86-B1A5-C12C5077B096}"/>
              </a:ext>
            </a:extLst>
          </p:cNvPr>
          <p:cNvCxnSpPr>
            <a:stCxn id="31" idx="6"/>
            <a:endCxn id="63" idx="2"/>
          </p:cNvCxnSpPr>
          <p:nvPr/>
        </p:nvCxnSpPr>
        <p:spPr>
          <a:xfrm>
            <a:off x="5582841" y="3770757"/>
            <a:ext cx="974016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71567E-1A02-4C1B-BE64-663977052B1D}"/>
              </a:ext>
            </a:extLst>
          </p:cNvPr>
          <p:cNvCxnSpPr>
            <a:stCxn id="36" idx="6"/>
            <a:endCxn id="67" idx="2"/>
          </p:cNvCxnSpPr>
          <p:nvPr/>
        </p:nvCxnSpPr>
        <p:spPr>
          <a:xfrm>
            <a:off x="5582841" y="5114920"/>
            <a:ext cx="9740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4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6" grpId="0" animBg="1"/>
      <p:bldP spid="59" grpId="0" animBg="1"/>
      <p:bldP spid="63" grpId="0" animBg="1"/>
      <p:bldP spid="67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37F63E-75C7-40D7-8AC3-82B30BB3F475}"/>
              </a:ext>
            </a:extLst>
          </p:cNvPr>
          <p:cNvSpPr/>
          <p:nvPr/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anose="02020603050405020304" pitchFamily="18" charset="0"/>
              </a:rPr>
              <a:t>Italian 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Dataset Analysis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71626-CCDB-407E-83FC-EE8ED7B02BD4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Young Healthy Controls (YHC)</a:t>
            </a:r>
            <a:r>
              <a:rPr lang="en-US" sz="1600" dirty="0"/>
              <a:t>: 15 individuals (13 males, 2 females), aged 19–29.</a:t>
            </a:r>
          </a:p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Healthy Elderly Controls (HEC)</a:t>
            </a:r>
            <a:r>
              <a:rPr lang="en-US" sz="1600" dirty="0"/>
              <a:t>: 22 individuals (10 males, 12 females), aged 60–77.</a:t>
            </a:r>
          </a:p>
          <a:p>
            <a:pPr lvl="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Parkinson's Disease (PD) Patients</a:t>
            </a:r>
            <a:r>
              <a:rPr lang="en-US" sz="1600" dirty="0"/>
              <a:t>: 28 individuals (19 males, 9 females), aged 40–80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Number of healthy control samples: 220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Number of PD samples: 275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Processed only the “</a:t>
            </a:r>
            <a:r>
              <a:rPr lang="en-US" sz="1600" dirty="0" err="1"/>
              <a:t>AAAhh</a:t>
            </a:r>
            <a:r>
              <a:rPr lang="en-US" sz="1600" dirty="0"/>
              <a:t>” sounds which are in  different patterns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Number of features Extracted: 88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aph of a number of blue bars&#10;&#10;Description automatically generated">
            <a:extLst>
              <a:ext uri="{FF2B5EF4-FFF2-40B4-BE49-F238E27FC236}">
                <a16:creationId xmlns:a16="http://schemas.microsoft.com/office/drawing/2014/main" id="{378A80E5-04B8-4788-9728-85E72A811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2" r="4396" b="2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32087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82">
            <a:extLst>
              <a:ext uri="{FF2B5EF4-FFF2-40B4-BE49-F238E27FC236}">
                <a16:creationId xmlns:a16="http://schemas.microsoft.com/office/drawing/2014/main" id="{C2B4C0C7-2745-46BE-B15F-E50582545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66306-D506-A5D3-4E7E-F1368C968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318" y="69669"/>
            <a:ext cx="4977976" cy="145405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Extraction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34E4FB-DFAF-402A-9873-2C56FBDFE5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71" r="13495" b="2"/>
          <a:stretch/>
        </p:blipFill>
        <p:spPr>
          <a:xfrm>
            <a:off x="20" y="907231"/>
            <a:ext cx="4838021" cy="5063738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97" name="Group 84">
            <a:extLst>
              <a:ext uri="{FF2B5EF4-FFF2-40B4-BE49-F238E27FC236}">
                <a16:creationId xmlns:a16="http://schemas.microsoft.com/office/drawing/2014/main" id="{89D8939B-D984-4564-B942-51C44F623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796695"/>
            <a:ext cx="4850918" cy="5212025"/>
            <a:chOff x="0" y="796695"/>
            <a:chExt cx="4850918" cy="5212025"/>
          </a:xfrm>
        </p:grpSpPr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3EAFB53-01AA-467C-BE85-D555D06E35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926917"/>
              <a:ext cx="4828239" cy="4951702"/>
            </a:xfrm>
            <a:custGeom>
              <a:avLst/>
              <a:gdLst>
                <a:gd name="connsiteX0" fmla="*/ 2407249 w 4828239"/>
                <a:gd name="connsiteY0" fmla="*/ 1168 h 4951702"/>
                <a:gd name="connsiteX1" fmla="*/ 2651971 w 4828239"/>
                <a:gd name="connsiteY1" fmla="*/ 4800 h 4951702"/>
                <a:gd name="connsiteX2" fmla="*/ 3136762 w 4828239"/>
                <a:gd name="connsiteY2" fmla="*/ 80075 h 4951702"/>
                <a:gd name="connsiteX3" fmla="*/ 3598035 w 4828239"/>
                <a:gd name="connsiteY3" fmla="*/ 254778 h 4951702"/>
                <a:gd name="connsiteX4" fmla="*/ 4006734 w 4828239"/>
                <a:gd name="connsiteY4" fmla="*/ 532540 h 4951702"/>
                <a:gd name="connsiteX5" fmla="*/ 4333530 w 4828239"/>
                <a:gd name="connsiteY5" fmla="*/ 900560 h 4951702"/>
                <a:gd name="connsiteX6" fmla="*/ 4368761 w 4828239"/>
                <a:gd name="connsiteY6" fmla="*/ 950864 h 4951702"/>
                <a:gd name="connsiteX7" fmla="*/ 4402539 w 4828239"/>
                <a:gd name="connsiteY7" fmla="*/ 1002077 h 4951702"/>
                <a:gd name="connsiteX8" fmla="*/ 4435319 w 4828239"/>
                <a:gd name="connsiteY8" fmla="*/ 1053834 h 4951702"/>
                <a:gd name="connsiteX9" fmla="*/ 4466918 w 4828239"/>
                <a:gd name="connsiteY9" fmla="*/ 1106317 h 4951702"/>
                <a:gd name="connsiteX10" fmla="*/ 4582327 w 4828239"/>
                <a:gd name="connsiteY10" fmla="*/ 1322244 h 4951702"/>
                <a:gd name="connsiteX11" fmla="*/ 4740322 w 4828239"/>
                <a:gd name="connsiteY11" fmla="*/ 1783517 h 4951702"/>
                <a:gd name="connsiteX12" fmla="*/ 4777370 w 4828239"/>
                <a:gd name="connsiteY12" fmla="*/ 2023507 h 4951702"/>
                <a:gd name="connsiteX13" fmla="*/ 4801432 w 4828239"/>
                <a:gd name="connsiteY13" fmla="*/ 2263678 h 4951702"/>
                <a:gd name="connsiteX14" fmla="*/ 4820591 w 4828239"/>
                <a:gd name="connsiteY14" fmla="*/ 2503848 h 4951702"/>
                <a:gd name="connsiteX15" fmla="*/ 4824496 w 4828239"/>
                <a:gd name="connsiteY15" fmla="*/ 2564050 h 4951702"/>
                <a:gd name="connsiteX16" fmla="*/ 4826221 w 4828239"/>
                <a:gd name="connsiteY16" fmla="*/ 2595013 h 4951702"/>
                <a:gd name="connsiteX17" fmla="*/ 4827492 w 4828239"/>
                <a:gd name="connsiteY17" fmla="*/ 2626522 h 4951702"/>
                <a:gd name="connsiteX18" fmla="*/ 4825767 w 4828239"/>
                <a:gd name="connsiteY18" fmla="*/ 2753462 h 4951702"/>
                <a:gd name="connsiteX19" fmla="*/ 4696465 w 4828239"/>
                <a:gd name="connsiteY19" fmla="*/ 3252055 h 4951702"/>
                <a:gd name="connsiteX20" fmla="*/ 4409077 w 4828239"/>
                <a:gd name="connsiteY20" fmla="*/ 3675464 h 4951702"/>
                <a:gd name="connsiteX21" fmla="*/ 4233920 w 4828239"/>
                <a:gd name="connsiteY21" fmla="*/ 3851983 h 4951702"/>
                <a:gd name="connsiteX22" fmla="*/ 4051318 w 4828239"/>
                <a:gd name="connsiteY22" fmla="*/ 4012430 h 4951702"/>
                <a:gd name="connsiteX23" fmla="*/ 3680392 w 4828239"/>
                <a:gd name="connsiteY23" fmla="*/ 4301543 h 4951702"/>
                <a:gd name="connsiteX24" fmla="*/ 3587048 w 4828239"/>
                <a:gd name="connsiteY24" fmla="*/ 4372096 h 4951702"/>
                <a:gd name="connsiteX25" fmla="*/ 3491161 w 4828239"/>
                <a:gd name="connsiteY25" fmla="*/ 4443103 h 4951702"/>
                <a:gd name="connsiteX26" fmla="*/ 3392914 w 4828239"/>
                <a:gd name="connsiteY26" fmla="*/ 4513202 h 4951702"/>
                <a:gd name="connsiteX27" fmla="*/ 3291579 w 4828239"/>
                <a:gd name="connsiteY27" fmla="*/ 4581303 h 4951702"/>
                <a:gd name="connsiteX28" fmla="*/ 3078830 w 4828239"/>
                <a:gd name="connsiteY28" fmla="*/ 4709153 h 4951702"/>
                <a:gd name="connsiteX29" fmla="*/ 2850010 w 4828239"/>
                <a:gd name="connsiteY29" fmla="*/ 4817842 h 4951702"/>
                <a:gd name="connsiteX30" fmla="*/ 2352052 w 4828239"/>
                <a:gd name="connsiteY30" fmla="*/ 4942876 h 4951702"/>
                <a:gd name="connsiteX31" fmla="*/ 2223840 w 4828239"/>
                <a:gd name="connsiteY31" fmla="*/ 4950958 h 4951702"/>
                <a:gd name="connsiteX32" fmla="*/ 2191787 w 4828239"/>
                <a:gd name="connsiteY32" fmla="*/ 4951684 h 4951702"/>
                <a:gd name="connsiteX33" fmla="*/ 2159825 w 4828239"/>
                <a:gd name="connsiteY33" fmla="*/ 4951503 h 4951702"/>
                <a:gd name="connsiteX34" fmla="*/ 2127953 w 4828239"/>
                <a:gd name="connsiteY34" fmla="*/ 4951139 h 4951702"/>
                <a:gd name="connsiteX35" fmla="*/ 2096990 w 4828239"/>
                <a:gd name="connsiteY35" fmla="*/ 4949959 h 4951702"/>
                <a:gd name="connsiteX36" fmla="*/ 1849646 w 4828239"/>
                <a:gd name="connsiteY36" fmla="*/ 4930255 h 4951702"/>
                <a:gd name="connsiteX37" fmla="*/ 1603845 w 4828239"/>
                <a:gd name="connsiteY37" fmla="*/ 4886852 h 4951702"/>
                <a:gd name="connsiteX38" fmla="*/ 1362403 w 4828239"/>
                <a:gd name="connsiteY38" fmla="*/ 4818841 h 4951702"/>
                <a:gd name="connsiteX39" fmla="*/ 900222 w 4828239"/>
                <a:gd name="connsiteY39" fmla="*/ 4614355 h 4951702"/>
                <a:gd name="connsiteX40" fmla="*/ 510682 w 4828239"/>
                <a:gd name="connsiteY40" fmla="*/ 4296004 h 4951702"/>
                <a:gd name="connsiteX41" fmla="*/ 352778 w 4828239"/>
                <a:gd name="connsiteY41" fmla="*/ 4104412 h 4951702"/>
                <a:gd name="connsiteX42" fmla="*/ 214850 w 4828239"/>
                <a:gd name="connsiteY42" fmla="*/ 3901561 h 4951702"/>
                <a:gd name="connsiteX43" fmla="*/ 182615 w 4828239"/>
                <a:gd name="connsiteY43" fmla="*/ 3849894 h 4951702"/>
                <a:gd name="connsiteX44" fmla="*/ 151833 w 4828239"/>
                <a:gd name="connsiteY44" fmla="*/ 3799772 h 4951702"/>
                <a:gd name="connsiteX45" fmla="*/ 91087 w 4828239"/>
                <a:gd name="connsiteY45" fmla="*/ 3702614 h 4951702"/>
                <a:gd name="connsiteX46" fmla="*/ 0 w 4828239"/>
                <a:gd name="connsiteY46" fmla="*/ 3558952 h 4951702"/>
                <a:gd name="connsiteX47" fmla="*/ 0 w 4828239"/>
                <a:gd name="connsiteY47" fmla="*/ 3152786 h 4951702"/>
                <a:gd name="connsiteX48" fmla="*/ 21078 w 4828239"/>
                <a:gd name="connsiteY48" fmla="*/ 3185589 h 4951702"/>
                <a:gd name="connsiteX49" fmla="*/ 159097 w 4828239"/>
                <a:gd name="connsiteY49" fmla="*/ 3365285 h 4951702"/>
                <a:gd name="connsiteX50" fmla="*/ 308466 w 4828239"/>
                <a:gd name="connsiteY50" fmla="*/ 3546344 h 4951702"/>
                <a:gd name="connsiteX51" fmla="*/ 382742 w 4828239"/>
                <a:gd name="connsiteY51" fmla="*/ 3640869 h 4951702"/>
                <a:gd name="connsiteX52" fmla="*/ 418427 w 4828239"/>
                <a:gd name="connsiteY52" fmla="*/ 3687269 h 4951702"/>
                <a:gd name="connsiteX53" fmla="*/ 453386 w 4828239"/>
                <a:gd name="connsiteY53" fmla="*/ 3731671 h 4951702"/>
                <a:gd name="connsiteX54" fmla="*/ 753758 w 4828239"/>
                <a:gd name="connsiteY54" fmla="*/ 4059829 h 4951702"/>
                <a:gd name="connsiteX55" fmla="*/ 913479 w 4828239"/>
                <a:gd name="connsiteY55" fmla="*/ 4207472 h 4951702"/>
                <a:gd name="connsiteX56" fmla="*/ 1080736 w 4828239"/>
                <a:gd name="connsiteY56" fmla="*/ 4343584 h 4951702"/>
                <a:gd name="connsiteX57" fmla="*/ 1454385 w 4828239"/>
                <a:gd name="connsiteY57" fmla="*/ 4558875 h 4951702"/>
                <a:gd name="connsiteX58" fmla="*/ 1663411 w 4828239"/>
                <a:gd name="connsiteY58" fmla="*/ 4619712 h 4951702"/>
                <a:gd name="connsiteX59" fmla="*/ 1716984 w 4828239"/>
                <a:gd name="connsiteY59" fmla="*/ 4630427 h 4951702"/>
                <a:gd name="connsiteX60" fmla="*/ 1771011 w 4828239"/>
                <a:gd name="connsiteY60" fmla="*/ 4639417 h 4951702"/>
                <a:gd name="connsiteX61" fmla="*/ 1880064 w 4828239"/>
                <a:gd name="connsiteY61" fmla="*/ 4652311 h 4951702"/>
                <a:gd name="connsiteX62" fmla="*/ 1934909 w 4828239"/>
                <a:gd name="connsiteY62" fmla="*/ 4656487 h 4951702"/>
                <a:gd name="connsiteX63" fmla="*/ 1989935 w 4828239"/>
                <a:gd name="connsiteY63" fmla="*/ 4659393 h 4951702"/>
                <a:gd name="connsiteX64" fmla="*/ 2045142 w 4828239"/>
                <a:gd name="connsiteY64" fmla="*/ 4660664 h 4951702"/>
                <a:gd name="connsiteX65" fmla="*/ 2100440 w 4828239"/>
                <a:gd name="connsiteY65" fmla="*/ 4660392 h 4951702"/>
                <a:gd name="connsiteX66" fmla="*/ 2128135 w 4828239"/>
                <a:gd name="connsiteY66" fmla="*/ 4660119 h 4951702"/>
                <a:gd name="connsiteX67" fmla="*/ 2154831 w 4828239"/>
                <a:gd name="connsiteY67" fmla="*/ 4658939 h 4951702"/>
                <a:gd name="connsiteX68" fmla="*/ 2181436 w 4828239"/>
                <a:gd name="connsiteY68" fmla="*/ 4657577 h 4951702"/>
                <a:gd name="connsiteX69" fmla="*/ 2207950 w 4828239"/>
                <a:gd name="connsiteY69" fmla="*/ 4655398 h 4951702"/>
                <a:gd name="connsiteX70" fmla="*/ 2313098 w 4828239"/>
                <a:gd name="connsiteY70" fmla="*/ 4642413 h 4951702"/>
                <a:gd name="connsiteX71" fmla="*/ 2713625 w 4828239"/>
                <a:gd name="connsiteY71" fmla="*/ 4510932 h 4951702"/>
                <a:gd name="connsiteX72" fmla="*/ 3083643 w 4828239"/>
                <a:gd name="connsiteY72" fmla="*/ 4280386 h 4951702"/>
                <a:gd name="connsiteX73" fmla="*/ 3173355 w 4828239"/>
                <a:gd name="connsiteY73" fmla="*/ 4212648 h 4951702"/>
                <a:gd name="connsiteX74" fmla="*/ 3263067 w 4828239"/>
                <a:gd name="connsiteY74" fmla="*/ 4142640 h 4951702"/>
                <a:gd name="connsiteX75" fmla="*/ 3444762 w 4828239"/>
                <a:gd name="connsiteY75" fmla="*/ 3997357 h 4951702"/>
                <a:gd name="connsiteX76" fmla="*/ 3818229 w 4828239"/>
                <a:gd name="connsiteY76" fmla="*/ 3716144 h 4951702"/>
                <a:gd name="connsiteX77" fmla="*/ 4166182 w 4828239"/>
                <a:gd name="connsiteY77" fmla="*/ 3436474 h 4951702"/>
                <a:gd name="connsiteX78" fmla="*/ 4444399 w 4828239"/>
                <a:gd name="connsiteY78" fmla="*/ 3115943 h 4951702"/>
                <a:gd name="connsiteX79" fmla="*/ 4539196 w 4828239"/>
                <a:gd name="connsiteY79" fmla="*/ 2929618 h 4951702"/>
                <a:gd name="connsiteX80" fmla="*/ 4596946 w 4828239"/>
                <a:gd name="connsiteY80" fmla="*/ 2726040 h 4951702"/>
                <a:gd name="connsiteX81" fmla="*/ 4612927 w 4828239"/>
                <a:gd name="connsiteY81" fmla="*/ 2619257 h 4951702"/>
                <a:gd name="connsiteX82" fmla="*/ 4615561 w 4828239"/>
                <a:gd name="connsiteY82" fmla="*/ 2592198 h 4951702"/>
                <a:gd name="connsiteX83" fmla="*/ 4617558 w 4828239"/>
                <a:gd name="connsiteY83" fmla="*/ 2564595 h 4951702"/>
                <a:gd name="connsiteX84" fmla="*/ 4620464 w 4828239"/>
                <a:gd name="connsiteY84" fmla="*/ 2507571 h 4951702"/>
                <a:gd name="connsiteX85" fmla="*/ 4615470 w 4828239"/>
                <a:gd name="connsiteY85" fmla="*/ 2279568 h 4951702"/>
                <a:gd name="connsiteX86" fmla="*/ 4583416 w 4828239"/>
                <a:gd name="connsiteY86" fmla="*/ 2054379 h 4951702"/>
                <a:gd name="connsiteX87" fmla="*/ 4529026 w 4828239"/>
                <a:gd name="connsiteY87" fmla="*/ 1834639 h 4951702"/>
                <a:gd name="connsiteX88" fmla="*/ 4388556 w 4828239"/>
                <a:gd name="connsiteY88" fmla="*/ 1408324 h 4951702"/>
                <a:gd name="connsiteX89" fmla="*/ 4292851 w 4828239"/>
                <a:gd name="connsiteY89" fmla="*/ 1205927 h 4951702"/>
                <a:gd name="connsiteX90" fmla="*/ 4264975 w 4828239"/>
                <a:gd name="connsiteY90" fmla="*/ 1157439 h 4951702"/>
                <a:gd name="connsiteX91" fmla="*/ 4235646 w 4828239"/>
                <a:gd name="connsiteY91" fmla="*/ 1109859 h 4951702"/>
                <a:gd name="connsiteX92" fmla="*/ 4204591 w 4828239"/>
                <a:gd name="connsiteY92" fmla="*/ 1063368 h 4951702"/>
                <a:gd name="connsiteX93" fmla="*/ 4172175 w 4828239"/>
                <a:gd name="connsiteY93" fmla="*/ 1017876 h 4951702"/>
                <a:gd name="connsiteX94" fmla="*/ 3865265 w 4828239"/>
                <a:gd name="connsiteY94" fmla="*/ 697618 h 4951702"/>
                <a:gd name="connsiteX95" fmla="*/ 3495792 w 4828239"/>
                <a:gd name="connsiteY95" fmla="*/ 456267 h 4951702"/>
                <a:gd name="connsiteX96" fmla="*/ 3080011 w 4828239"/>
                <a:gd name="connsiteY96" fmla="*/ 304719 h 4951702"/>
                <a:gd name="connsiteX97" fmla="*/ 2638805 w 4828239"/>
                <a:gd name="connsiteY97" fmla="*/ 241884 h 4951702"/>
                <a:gd name="connsiteX98" fmla="*/ 2191696 w 4828239"/>
                <a:gd name="connsiteY98" fmla="*/ 257865 h 4951702"/>
                <a:gd name="connsiteX99" fmla="*/ 1752851 w 4828239"/>
                <a:gd name="connsiteY99" fmla="*/ 350120 h 4951702"/>
                <a:gd name="connsiteX100" fmla="*/ 1333074 w 4828239"/>
                <a:gd name="connsiteY100" fmla="*/ 510657 h 4951702"/>
                <a:gd name="connsiteX101" fmla="*/ 582960 w 4828239"/>
                <a:gd name="connsiteY101" fmla="*/ 1003893 h 4951702"/>
                <a:gd name="connsiteX102" fmla="*/ 276322 w 4828239"/>
                <a:gd name="connsiteY102" fmla="*/ 1333049 h 4951702"/>
                <a:gd name="connsiteX103" fmla="*/ 33882 w 4828239"/>
                <a:gd name="connsiteY103" fmla="*/ 1711057 h 4951702"/>
                <a:gd name="connsiteX104" fmla="*/ 0 w 4828239"/>
                <a:gd name="connsiteY104" fmla="*/ 1785501 h 4951702"/>
                <a:gd name="connsiteX105" fmla="*/ 0 w 4828239"/>
                <a:gd name="connsiteY105" fmla="*/ 1377082 h 4951702"/>
                <a:gd name="connsiteX106" fmla="*/ 111188 w 4828239"/>
                <a:gd name="connsiteY106" fmla="*/ 1208333 h 4951702"/>
                <a:gd name="connsiteX107" fmla="*/ 431321 w 4828239"/>
                <a:gd name="connsiteY107" fmla="*/ 841539 h 4951702"/>
                <a:gd name="connsiteX108" fmla="*/ 807876 w 4828239"/>
                <a:gd name="connsiteY108" fmla="*/ 533448 h 4951702"/>
                <a:gd name="connsiteX109" fmla="*/ 1228743 w 4828239"/>
                <a:gd name="connsiteY109" fmla="*/ 288828 h 4951702"/>
                <a:gd name="connsiteX110" fmla="*/ 2163003 w 4828239"/>
                <a:gd name="connsiteY110" fmla="*/ 19056 h 4951702"/>
                <a:gd name="connsiteX111" fmla="*/ 2407249 w 4828239"/>
                <a:gd name="connsiteY111" fmla="*/ 1168 h 4951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4828239" h="4951702">
                  <a:moveTo>
                    <a:pt x="2407249" y="1168"/>
                  </a:moveTo>
                  <a:cubicBezTo>
                    <a:pt x="2488914" y="-1193"/>
                    <a:pt x="2570658" y="33"/>
                    <a:pt x="2651971" y="4800"/>
                  </a:cubicBezTo>
                  <a:cubicBezTo>
                    <a:pt x="2814869" y="14698"/>
                    <a:pt x="2977677" y="38942"/>
                    <a:pt x="3136762" y="80075"/>
                  </a:cubicBezTo>
                  <a:cubicBezTo>
                    <a:pt x="3295846" y="121117"/>
                    <a:pt x="3451209" y="179231"/>
                    <a:pt x="3598035" y="254778"/>
                  </a:cubicBezTo>
                  <a:cubicBezTo>
                    <a:pt x="3744680" y="330325"/>
                    <a:pt x="3883516" y="422670"/>
                    <a:pt x="4006734" y="532540"/>
                  </a:cubicBezTo>
                  <a:cubicBezTo>
                    <a:pt x="4130043" y="642320"/>
                    <a:pt x="4238460" y="767354"/>
                    <a:pt x="4333530" y="900560"/>
                  </a:cubicBezTo>
                  <a:lnTo>
                    <a:pt x="4368761" y="950864"/>
                  </a:lnTo>
                  <a:lnTo>
                    <a:pt x="4402539" y="1002077"/>
                  </a:lnTo>
                  <a:cubicBezTo>
                    <a:pt x="4413436" y="1019329"/>
                    <a:pt x="4424604" y="1036491"/>
                    <a:pt x="4435319" y="1053834"/>
                  </a:cubicBezTo>
                  <a:lnTo>
                    <a:pt x="4466918" y="1106317"/>
                  </a:lnTo>
                  <a:cubicBezTo>
                    <a:pt x="4508233" y="1176779"/>
                    <a:pt x="4547187" y="1248604"/>
                    <a:pt x="4582327" y="1322244"/>
                  </a:cubicBezTo>
                  <a:cubicBezTo>
                    <a:pt x="4652789" y="1469524"/>
                    <a:pt x="4707088" y="1624523"/>
                    <a:pt x="4740322" y="1783517"/>
                  </a:cubicBezTo>
                  <a:cubicBezTo>
                    <a:pt x="4756848" y="1863060"/>
                    <a:pt x="4768380" y="1943238"/>
                    <a:pt x="4777370" y="2023507"/>
                  </a:cubicBezTo>
                  <a:cubicBezTo>
                    <a:pt x="4786540" y="2103685"/>
                    <a:pt x="4793895" y="2183772"/>
                    <a:pt x="4801432" y="2263678"/>
                  </a:cubicBezTo>
                  <a:cubicBezTo>
                    <a:pt x="4808605" y="2343674"/>
                    <a:pt x="4814961" y="2423670"/>
                    <a:pt x="4820591" y="2503848"/>
                  </a:cubicBezTo>
                  <a:lnTo>
                    <a:pt x="4824496" y="2564050"/>
                  </a:lnTo>
                  <a:cubicBezTo>
                    <a:pt x="4825222" y="2573947"/>
                    <a:pt x="4825676" y="2584571"/>
                    <a:pt x="4826221" y="2595013"/>
                  </a:cubicBezTo>
                  <a:cubicBezTo>
                    <a:pt x="4826766" y="2605455"/>
                    <a:pt x="4827311" y="2615989"/>
                    <a:pt x="4827492" y="2626522"/>
                  </a:cubicBezTo>
                  <a:cubicBezTo>
                    <a:pt x="4828854" y="2668563"/>
                    <a:pt x="4828400" y="2710967"/>
                    <a:pt x="4825767" y="2753462"/>
                  </a:cubicBezTo>
                  <a:cubicBezTo>
                    <a:pt x="4815960" y="2923534"/>
                    <a:pt x="4770287" y="3094877"/>
                    <a:pt x="4696465" y="3252055"/>
                  </a:cubicBezTo>
                  <a:cubicBezTo>
                    <a:pt x="4622825" y="3409687"/>
                    <a:pt x="4521308" y="3551156"/>
                    <a:pt x="4409077" y="3675464"/>
                  </a:cubicBezTo>
                  <a:cubicBezTo>
                    <a:pt x="4352961" y="3737845"/>
                    <a:pt x="4294031" y="3796321"/>
                    <a:pt x="4233920" y="3851983"/>
                  </a:cubicBezTo>
                  <a:cubicBezTo>
                    <a:pt x="4173809" y="3907645"/>
                    <a:pt x="4112882" y="3961218"/>
                    <a:pt x="4051318" y="4012430"/>
                  </a:cubicBezTo>
                  <a:cubicBezTo>
                    <a:pt x="3928463" y="4115308"/>
                    <a:pt x="3802884" y="4209107"/>
                    <a:pt x="3680392" y="4301543"/>
                  </a:cubicBezTo>
                  <a:lnTo>
                    <a:pt x="3587048" y="4372096"/>
                  </a:lnTo>
                  <a:cubicBezTo>
                    <a:pt x="3555449" y="4395795"/>
                    <a:pt x="3523578" y="4419676"/>
                    <a:pt x="3491161" y="4443103"/>
                  </a:cubicBezTo>
                  <a:cubicBezTo>
                    <a:pt x="3458836" y="4466621"/>
                    <a:pt x="3426147" y="4490047"/>
                    <a:pt x="3392914" y="4513202"/>
                  </a:cubicBezTo>
                  <a:cubicBezTo>
                    <a:pt x="3359590" y="4536175"/>
                    <a:pt x="3325993" y="4558966"/>
                    <a:pt x="3291579" y="4581303"/>
                  </a:cubicBezTo>
                  <a:cubicBezTo>
                    <a:pt x="3223114" y="4626069"/>
                    <a:pt x="3152471" y="4669472"/>
                    <a:pt x="3078830" y="4709153"/>
                  </a:cubicBezTo>
                  <a:cubicBezTo>
                    <a:pt x="3005281" y="4749014"/>
                    <a:pt x="2929189" y="4786061"/>
                    <a:pt x="2850010" y="4817842"/>
                  </a:cubicBezTo>
                  <a:cubicBezTo>
                    <a:pt x="2692378" y="4882312"/>
                    <a:pt x="2523032" y="4925806"/>
                    <a:pt x="2352052" y="4942876"/>
                  </a:cubicBezTo>
                  <a:cubicBezTo>
                    <a:pt x="2309285" y="4946963"/>
                    <a:pt x="2266517" y="4950050"/>
                    <a:pt x="2223840" y="4950958"/>
                  </a:cubicBezTo>
                  <a:lnTo>
                    <a:pt x="2191787" y="4951684"/>
                  </a:lnTo>
                  <a:cubicBezTo>
                    <a:pt x="2181163" y="4951775"/>
                    <a:pt x="2170449" y="4951503"/>
                    <a:pt x="2159825" y="4951503"/>
                  </a:cubicBezTo>
                  <a:lnTo>
                    <a:pt x="2127953" y="4951139"/>
                  </a:lnTo>
                  <a:lnTo>
                    <a:pt x="2096990" y="4949959"/>
                  </a:lnTo>
                  <a:cubicBezTo>
                    <a:pt x="2014542" y="4947326"/>
                    <a:pt x="1931912" y="4940788"/>
                    <a:pt x="1849646" y="4930255"/>
                  </a:cubicBezTo>
                  <a:cubicBezTo>
                    <a:pt x="1767288" y="4920267"/>
                    <a:pt x="1685113" y="4905920"/>
                    <a:pt x="1603845" y="4886852"/>
                  </a:cubicBezTo>
                  <a:cubicBezTo>
                    <a:pt x="1522668" y="4867601"/>
                    <a:pt x="1442127" y="4844811"/>
                    <a:pt x="1362403" y="4818841"/>
                  </a:cubicBezTo>
                  <a:cubicBezTo>
                    <a:pt x="1203228" y="4766449"/>
                    <a:pt x="1045868" y="4701253"/>
                    <a:pt x="900222" y="4614355"/>
                  </a:cubicBezTo>
                  <a:cubicBezTo>
                    <a:pt x="754485" y="4527639"/>
                    <a:pt x="624366" y="4417678"/>
                    <a:pt x="510682" y="4296004"/>
                  </a:cubicBezTo>
                  <a:cubicBezTo>
                    <a:pt x="453568" y="4235258"/>
                    <a:pt x="401629" y="4170607"/>
                    <a:pt x="352778" y="4104412"/>
                  </a:cubicBezTo>
                  <a:cubicBezTo>
                    <a:pt x="304199" y="4037945"/>
                    <a:pt x="257980" y="3970479"/>
                    <a:pt x="214850" y="3901561"/>
                  </a:cubicBezTo>
                  <a:cubicBezTo>
                    <a:pt x="203772" y="3884490"/>
                    <a:pt x="193330" y="3867147"/>
                    <a:pt x="182615" y="3849894"/>
                  </a:cubicBezTo>
                  <a:lnTo>
                    <a:pt x="151833" y="3799772"/>
                  </a:lnTo>
                  <a:cubicBezTo>
                    <a:pt x="132129" y="3767356"/>
                    <a:pt x="111699" y="3735212"/>
                    <a:pt x="91087" y="3702614"/>
                  </a:cubicBezTo>
                  <a:lnTo>
                    <a:pt x="0" y="3558952"/>
                  </a:lnTo>
                  <a:lnTo>
                    <a:pt x="0" y="3152786"/>
                  </a:lnTo>
                  <a:lnTo>
                    <a:pt x="21078" y="3185589"/>
                  </a:lnTo>
                  <a:cubicBezTo>
                    <a:pt x="63392" y="3246607"/>
                    <a:pt x="110427" y="3305810"/>
                    <a:pt x="159097" y="3365285"/>
                  </a:cubicBezTo>
                  <a:cubicBezTo>
                    <a:pt x="207767" y="3424851"/>
                    <a:pt x="258616" y="3484417"/>
                    <a:pt x="308466" y="3546344"/>
                  </a:cubicBezTo>
                  <a:cubicBezTo>
                    <a:pt x="333437" y="3577217"/>
                    <a:pt x="358135" y="3608816"/>
                    <a:pt x="382742" y="3640869"/>
                  </a:cubicBezTo>
                  <a:lnTo>
                    <a:pt x="418427" y="3687269"/>
                  </a:lnTo>
                  <a:cubicBezTo>
                    <a:pt x="430141" y="3702069"/>
                    <a:pt x="441309" y="3717233"/>
                    <a:pt x="453386" y="3731671"/>
                  </a:cubicBezTo>
                  <a:cubicBezTo>
                    <a:pt x="547638" y="3849168"/>
                    <a:pt x="649881" y="3957313"/>
                    <a:pt x="753758" y="4059829"/>
                  </a:cubicBezTo>
                  <a:cubicBezTo>
                    <a:pt x="805970" y="4110859"/>
                    <a:pt x="859089" y="4160164"/>
                    <a:pt x="913479" y="4207472"/>
                  </a:cubicBezTo>
                  <a:cubicBezTo>
                    <a:pt x="967869" y="4254780"/>
                    <a:pt x="1023258" y="4300544"/>
                    <a:pt x="1080736" y="4343584"/>
                  </a:cubicBezTo>
                  <a:cubicBezTo>
                    <a:pt x="1195237" y="4429846"/>
                    <a:pt x="1318727" y="4506937"/>
                    <a:pt x="1454385" y="4558875"/>
                  </a:cubicBezTo>
                  <a:cubicBezTo>
                    <a:pt x="1522033" y="4584845"/>
                    <a:pt x="1592132" y="4604730"/>
                    <a:pt x="1663411" y="4619712"/>
                  </a:cubicBezTo>
                  <a:cubicBezTo>
                    <a:pt x="1681299" y="4623254"/>
                    <a:pt x="1699006" y="4627340"/>
                    <a:pt x="1716984" y="4630427"/>
                  </a:cubicBezTo>
                  <a:lnTo>
                    <a:pt x="1771011" y="4639417"/>
                  </a:lnTo>
                  <a:cubicBezTo>
                    <a:pt x="1807241" y="4644229"/>
                    <a:pt x="1843471" y="4649314"/>
                    <a:pt x="1880064" y="4652311"/>
                  </a:cubicBezTo>
                  <a:cubicBezTo>
                    <a:pt x="1898316" y="4654036"/>
                    <a:pt x="1916567" y="4655670"/>
                    <a:pt x="1934909" y="4656487"/>
                  </a:cubicBezTo>
                  <a:cubicBezTo>
                    <a:pt x="1953251" y="4657395"/>
                    <a:pt x="1971502" y="4658848"/>
                    <a:pt x="1989935" y="4659393"/>
                  </a:cubicBezTo>
                  <a:lnTo>
                    <a:pt x="2045142" y="4660664"/>
                  </a:lnTo>
                  <a:cubicBezTo>
                    <a:pt x="2063484" y="4661118"/>
                    <a:pt x="2082008" y="4660482"/>
                    <a:pt x="2100440" y="4660392"/>
                  </a:cubicBezTo>
                  <a:lnTo>
                    <a:pt x="2128135" y="4660119"/>
                  </a:lnTo>
                  <a:cubicBezTo>
                    <a:pt x="2137124" y="4659847"/>
                    <a:pt x="2145932" y="4659302"/>
                    <a:pt x="2154831" y="4658939"/>
                  </a:cubicBezTo>
                  <a:cubicBezTo>
                    <a:pt x="2163729" y="4658485"/>
                    <a:pt x="2172628" y="4658212"/>
                    <a:pt x="2181436" y="4657577"/>
                  </a:cubicBezTo>
                  <a:lnTo>
                    <a:pt x="2207950" y="4655398"/>
                  </a:lnTo>
                  <a:cubicBezTo>
                    <a:pt x="2243272" y="4652583"/>
                    <a:pt x="2278321" y="4647861"/>
                    <a:pt x="2313098" y="4642413"/>
                  </a:cubicBezTo>
                  <a:cubicBezTo>
                    <a:pt x="2452298" y="4619349"/>
                    <a:pt x="2586139" y="4574221"/>
                    <a:pt x="2713625" y="4510932"/>
                  </a:cubicBezTo>
                  <a:cubicBezTo>
                    <a:pt x="2841565" y="4448369"/>
                    <a:pt x="2963330" y="4368282"/>
                    <a:pt x="3083643" y="4280386"/>
                  </a:cubicBezTo>
                  <a:cubicBezTo>
                    <a:pt x="3113698" y="4258503"/>
                    <a:pt x="3143572" y="4235712"/>
                    <a:pt x="3173355" y="4212648"/>
                  </a:cubicBezTo>
                  <a:cubicBezTo>
                    <a:pt x="3203319" y="4189675"/>
                    <a:pt x="3233193" y="4166339"/>
                    <a:pt x="3263067" y="4142640"/>
                  </a:cubicBezTo>
                  <a:lnTo>
                    <a:pt x="3444762" y="3997357"/>
                  </a:lnTo>
                  <a:cubicBezTo>
                    <a:pt x="3569432" y="3898473"/>
                    <a:pt x="3695284" y="3806401"/>
                    <a:pt x="3818229" y="3716144"/>
                  </a:cubicBezTo>
                  <a:cubicBezTo>
                    <a:pt x="3941084" y="3625886"/>
                    <a:pt x="4059309" y="3534721"/>
                    <a:pt x="4166182" y="3436474"/>
                  </a:cubicBezTo>
                  <a:cubicBezTo>
                    <a:pt x="4273056" y="3338408"/>
                    <a:pt x="4369578" y="3233895"/>
                    <a:pt x="4444399" y="3115943"/>
                  </a:cubicBezTo>
                  <a:cubicBezTo>
                    <a:pt x="4481809" y="3057013"/>
                    <a:pt x="4513772" y="2994905"/>
                    <a:pt x="4539196" y="2929618"/>
                  </a:cubicBezTo>
                  <a:cubicBezTo>
                    <a:pt x="4564802" y="2864422"/>
                    <a:pt x="4583235" y="2796139"/>
                    <a:pt x="4596946" y="2726040"/>
                  </a:cubicBezTo>
                  <a:cubicBezTo>
                    <a:pt x="4603756" y="2690991"/>
                    <a:pt x="4609204" y="2655306"/>
                    <a:pt x="4612927" y="2619257"/>
                  </a:cubicBezTo>
                  <a:cubicBezTo>
                    <a:pt x="4614017" y="2610268"/>
                    <a:pt x="4614743" y="2601188"/>
                    <a:pt x="4615561" y="2592198"/>
                  </a:cubicBezTo>
                  <a:cubicBezTo>
                    <a:pt x="4616287" y="2583118"/>
                    <a:pt x="4617195" y="2574220"/>
                    <a:pt x="4617558" y="2564595"/>
                  </a:cubicBezTo>
                  <a:lnTo>
                    <a:pt x="4620464" y="2507571"/>
                  </a:lnTo>
                  <a:cubicBezTo>
                    <a:pt x="4623097" y="2431479"/>
                    <a:pt x="4621462" y="2355297"/>
                    <a:pt x="4615470" y="2279568"/>
                  </a:cubicBezTo>
                  <a:cubicBezTo>
                    <a:pt x="4609658" y="2203748"/>
                    <a:pt x="4598490" y="2128564"/>
                    <a:pt x="4583416" y="2054379"/>
                  </a:cubicBezTo>
                  <a:cubicBezTo>
                    <a:pt x="4568162" y="1980194"/>
                    <a:pt x="4549094" y="1907008"/>
                    <a:pt x="4529026" y="1834639"/>
                  </a:cubicBezTo>
                  <a:cubicBezTo>
                    <a:pt x="4488983" y="1689810"/>
                    <a:pt x="4444762" y="1546888"/>
                    <a:pt x="4388556" y="1408324"/>
                  </a:cubicBezTo>
                  <a:cubicBezTo>
                    <a:pt x="4360407" y="1339133"/>
                    <a:pt x="4328990" y="1271213"/>
                    <a:pt x="4292851" y="1205927"/>
                  </a:cubicBezTo>
                  <a:cubicBezTo>
                    <a:pt x="4284043" y="1189492"/>
                    <a:pt x="4274327" y="1173511"/>
                    <a:pt x="4264975" y="1157439"/>
                  </a:cubicBezTo>
                  <a:cubicBezTo>
                    <a:pt x="4255350" y="1141458"/>
                    <a:pt x="4245361" y="1125749"/>
                    <a:pt x="4235646" y="1109859"/>
                  </a:cubicBezTo>
                  <a:lnTo>
                    <a:pt x="4204591" y="1063368"/>
                  </a:lnTo>
                  <a:lnTo>
                    <a:pt x="4172175" y="1017876"/>
                  </a:lnTo>
                  <a:cubicBezTo>
                    <a:pt x="4083462" y="898290"/>
                    <a:pt x="3979312" y="791326"/>
                    <a:pt x="3865265" y="697618"/>
                  </a:cubicBezTo>
                  <a:cubicBezTo>
                    <a:pt x="3751490" y="603638"/>
                    <a:pt x="3627909" y="521917"/>
                    <a:pt x="3495792" y="456267"/>
                  </a:cubicBezTo>
                  <a:cubicBezTo>
                    <a:pt x="3363766" y="390436"/>
                    <a:pt x="3224022" y="339950"/>
                    <a:pt x="3080011" y="304719"/>
                  </a:cubicBezTo>
                  <a:cubicBezTo>
                    <a:pt x="2935999" y="269397"/>
                    <a:pt x="2787992" y="249057"/>
                    <a:pt x="2638805" y="241884"/>
                  </a:cubicBezTo>
                  <a:cubicBezTo>
                    <a:pt x="2489345" y="234347"/>
                    <a:pt x="2340067" y="239341"/>
                    <a:pt x="2191696" y="257865"/>
                  </a:cubicBezTo>
                  <a:cubicBezTo>
                    <a:pt x="2043417" y="276479"/>
                    <a:pt x="1896500" y="307624"/>
                    <a:pt x="1752851" y="350120"/>
                  </a:cubicBezTo>
                  <a:cubicBezTo>
                    <a:pt x="1609112" y="392433"/>
                    <a:pt x="1468914" y="447187"/>
                    <a:pt x="1333074" y="510657"/>
                  </a:cubicBezTo>
                  <a:cubicBezTo>
                    <a:pt x="1060578" y="636236"/>
                    <a:pt x="806151" y="802767"/>
                    <a:pt x="582960" y="1003893"/>
                  </a:cubicBezTo>
                  <a:cubicBezTo>
                    <a:pt x="471728" y="1104774"/>
                    <a:pt x="368668" y="1214825"/>
                    <a:pt x="276322" y="1333049"/>
                  </a:cubicBezTo>
                  <a:cubicBezTo>
                    <a:pt x="183795" y="1451092"/>
                    <a:pt x="102164" y="1577669"/>
                    <a:pt x="33882" y="1711057"/>
                  </a:cubicBezTo>
                  <a:lnTo>
                    <a:pt x="0" y="1785501"/>
                  </a:lnTo>
                  <a:lnTo>
                    <a:pt x="0" y="1377082"/>
                  </a:lnTo>
                  <a:lnTo>
                    <a:pt x="111188" y="1208333"/>
                  </a:lnTo>
                  <a:cubicBezTo>
                    <a:pt x="206927" y="1076920"/>
                    <a:pt x="314732" y="954315"/>
                    <a:pt x="431321" y="841539"/>
                  </a:cubicBezTo>
                  <a:cubicBezTo>
                    <a:pt x="548183" y="728763"/>
                    <a:pt x="674488" y="625885"/>
                    <a:pt x="807876" y="533448"/>
                  </a:cubicBezTo>
                  <a:cubicBezTo>
                    <a:pt x="941446" y="441103"/>
                    <a:pt x="1082007" y="358837"/>
                    <a:pt x="1228743" y="288828"/>
                  </a:cubicBezTo>
                  <a:cubicBezTo>
                    <a:pt x="1522578" y="149811"/>
                    <a:pt x="1838931" y="57919"/>
                    <a:pt x="2163003" y="19056"/>
                  </a:cubicBezTo>
                  <a:cubicBezTo>
                    <a:pt x="2243998" y="9477"/>
                    <a:pt x="2325584" y="3529"/>
                    <a:pt x="2407249" y="116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2935CA6-94DE-46EF-8BB1-9DB074B6C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960593"/>
              <a:ext cx="4814598" cy="4884231"/>
            </a:xfrm>
            <a:custGeom>
              <a:avLst/>
              <a:gdLst>
                <a:gd name="connsiteX0" fmla="*/ 2550817 w 4814598"/>
                <a:gd name="connsiteY0" fmla="*/ 544811 h 4884231"/>
                <a:gd name="connsiteX1" fmla="*/ 1694919 w 4814598"/>
                <a:gd name="connsiteY1" fmla="*/ 709526 h 4884231"/>
                <a:gd name="connsiteX2" fmla="*/ 932184 w 4814598"/>
                <a:gd name="connsiteY2" fmla="*/ 1163171 h 4884231"/>
                <a:gd name="connsiteX3" fmla="*/ 407894 w 4814598"/>
                <a:gd name="connsiteY3" fmla="*/ 1812768 h 4884231"/>
                <a:gd name="connsiteX4" fmla="*/ 220025 w 4814598"/>
                <a:gd name="connsiteY4" fmla="*/ 2558977 h 4884231"/>
                <a:gd name="connsiteX5" fmla="*/ 530204 w 4814598"/>
                <a:gd name="connsiteY5" fmla="*/ 3236995 h 4884231"/>
                <a:gd name="connsiteX6" fmla="*/ 697098 w 4814598"/>
                <a:gd name="connsiteY6" fmla="*/ 3471717 h 4884231"/>
                <a:gd name="connsiteX7" fmla="*/ 1333800 w 4814598"/>
                <a:gd name="connsiteY7" fmla="*/ 4121677 h 4884231"/>
                <a:gd name="connsiteX8" fmla="*/ 2170902 w 4814598"/>
                <a:gd name="connsiteY8" fmla="*/ 4339420 h 4884231"/>
                <a:gd name="connsiteX9" fmla="*/ 2709357 w 4814598"/>
                <a:gd name="connsiteY9" fmla="*/ 4200765 h 4884231"/>
                <a:gd name="connsiteX10" fmla="*/ 3290852 w 4814598"/>
                <a:gd name="connsiteY10" fmla="*/ 3800420 h 4884231"/>
                <a:gd name="connsiteX11" fmla="*/ 3434410 w 4814598"/>
                <a:gd name="connsiteY11" fmla="*/ 3689188 h 4884231"/>
                <a:gd name="connsiteX12" fmla="*/ 4069660 w 4814598"/>
                <a:gd name="connsiteY12" fmla="*/ 3124945 h 4884231"/>
                <a:gd name="connsiteX13" fmla="*/ 4269787 w 4814598"/>
                <a:gd name="connsiteY13" fmla="*/ 2558977 h 4884231"/>
                <a:gd name="connsiteX14" fmla="*/ 3797526 w 4814598"/>
                <a:gd name="connsiteY14" fmla="*/ 1099701 h 4884231"/>
                <a:gd name="connsiteX15" fmla="*/ 3273691 w 4814598"/>
                <a:gd name="connsiteY15" fmla="*/ 695179 h 4884231"/>
                <a:gd name="connsiteX16" fmla="*/ 2550817 w 4814598"/>
                <a:gd name="connsiteY16" fmla="*/ 544811 h 4884231"/>
                <a:gd name="connsiteX17" fmla="*/ 2550817 w 4814598"/>
                <a:gd name="connsiteY17" fmla="*/ 0 h 4884231"/>
                <a:gd name="connsiteX18" fmla="*/ 4814598 w 4814598"/>
                <a:gd name="connsiteY18" fmla="*/ 2558977 h 4884231"/>
                <a:gd name="connsiteX19" fmla="*/ 3626365 w 4814598"/>
                <a:gd name="connsiteY19" fmla="*/ 4229640 h 4884231"/>
                <a:gd name="connsiteX20" fmla="*/ 2170902 w 4814598"/>
                <a:gd name="connsiteY20" fmla="*/ 4884231 h 4884231"/>
                <a:gd name="connsiteX21" fmla="*/ 246267 w 4814598"/>
                <a:gd name="connsiteY21" fmla="*/ 3777538 h 4884231"/>
                <a:gd name="connsiteX22" fmla="*/ 40127 w 4814598"/>
                <a:gd name="connsiteY22" fmla="*/ 3489366 h 4884231"/>
                <a:gd name="connsiteX23" fmla="*/ 0 w 4814598"/>
                <a:gd name="connsiteY23" fmla="*/ 3432245 h 4884231"/>
                <a:gd name="connsiteX24" fmla="*/ 0 w 4814598"/>
                <a:gd name="connsiteY24" fmla="*/ 1432577 h 4884231"/>
                <a:gd name="connsiteX25" fmla="*/ 54624 w 4814598"/>
                <a:gd name="connsiteY25" fmla="*/ 1339196 h 4884231"/>
                <a:gd name="connsiteX26" fmla="*/ 2550817 w 4814598"/>
                <a:gd name="connsiteY26" fmla="*/ 0 h 4884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14598" h="4884231">
                  <a:moveTo>
                    <a:pt x="2550817" y="544811"/>
                  </a:moveTo>
                  <a:cubicBezTo>
                    <a:pt x="2270966" y="544811"/>
                    <a:pt x="1974952" y="601744"/>
                    <a:pt x="1694919" y="709526"/>
                  </a:cubicBezTo>
                  <a:cubicBezTo>
                    <a:pt x="1417883" y="816127"/>
                    <a:pt x="1154103" y="973032"/>
                    <a:pt x="932184" y="1163171"/>
                  </a:cubicBezTo>
                  <a:cubicBezTo>
                    <a:pt x="710536" y="1353038"/>
                    <a:pt x="529296" y="1577682"/>
                    <a:pt x="407894" y="1812768"/>
                  </a:cubicBezTo>
                  <a:cubicBezTo>
                    <a:pt x="283223" y="2054210"/>
                    <a:pt x="220025" y="2305277"/>
                    <a:pt x="220025" y="2558977"/>
                  </a:cubicBezTo>
                  <a:cubicBezTo>
                    <a:pt x="220025" y="2801418"/>
                    <a:pt x="315095" y="2942070"/>
                    <a:pt x="530204" y="3236995"/>
                  </a:cubicBezTo>
                  <a:cubicBezTo>
                    <a:pt x="584050" y="3310817"/>
                    <a:pt x="639711" y="3387181"/>
                    <a:pt x="697098" y="3471717"/>
                  </a:cubicBezTo>
                  <a:cubicBezTo>
                    <a:pt x="900040" y="3770818"/>
                    <a:pt x="1108249" y="3983476"/>
                    <a:pt x="1333800" y="4121677"/>
                  </a:cubicBezTo>
                  <a:cubicBezTo>
                    <a:pt x="1572882" y="4268231"/>
                    <a:pt x="1846740" y="4339420"/>
                    <a:pt x="2170902" y="4339420"/>
                  </a:cubicBezTo>
                  <a:cubicBezTo>
                    <a:pt x="2354867" y="4339420"/>
                    <a:pt x="2525938" y="4295381"/>
                    <a:pt x="2709357" y="4200765"/>
                  </a:cubicBezTo>
                  <a:cubicBezTo>
                    <a:pt x="2897680" y="4103607"/>
                    <a:pt x="3084097" y="3961956"/>
                    <a:pt x="3290852" y="3800420"/>
                  </a:cubicBezTo>
                  <a:cubicBezTo>
                    <a:pt x="3339340" y="3762556"/>
                    <a:pt x="3387647" y="3725236"/>
                    <a:pt x="3434410" y="3689188"/>
                  </a:cubicBezTo>
                  <a:cubicBezTo>
                    <a:pt x="3682844" y="3497505"/>
                    <a:pt x="3917476" y="3316446"/>
                    <a:pt x="4069660" y="3124945"/>
                  </a:cubicBezTo>
                  <a:cubicBezTo>
                    <a:pt x="4209948" y="2948426"/>
                    <a:pt x="4269787" y="2779172"/>
                    <a:pt x="4269787" y="2558977"/>
                  </a:cubicBezTo>
                  <a:cubicBezTo>
                    <a:pt x="4269787" y="1980933"/>
                    <a:pt x="4102076" y="1462636"/>
                    <a:pt x="3797526" y="1099701"/>
                  </a:cubicBezTo>
                  <a:cubicBezTo>
                    <a:pt x="3650427" y="924453"/>
                    <a:pt x="3474272" y="788342"/>
                    <a:pt x="3273691" y="695179"/>
                  </a:cubicBezTo>
                  <a:cubicBezTo>
                    <a:pt x="3058944" y="595388"/>
                    <a:pt x="2815686" y="544811"/>
                    <a:pt x="2550817" y="544811"/>
                  </a:cubicBezTo>
                  <a:close/>
                  <a:moveTo>
                    <a:pt x="2550817" y="0"/>
                  </a:moveTo>
                  <a:cubicBezTo>
                    <a:pt x="3970050" y="0"/>
                    <a:pt x="4814598" y="1145647"/>
                    <a:pt x="4814598" y="2558977"/>
                  </a:cubicBezTo>
                  <a:cubicBezTo>
                    <a:pt x="4814598" y="3376738"/>
                    <a:pt x="4225839" y="3761193"/>
                    <a:pt x="3626365" y="4229640"/>
                  </a:cubicBezTo>
                  <a:cubicBezTo>
                    <a:pt x="3189699" y="4570874"/>
                    <a:pt x="2769014" y="4884231"/>
                    <a:pt x="2170902" y="4884231"/>
                  </a:cubicBezTo>
                  <a:cubicBezTo>
                    <a:pt x="1283950" y="4884231"/>
                    <a:pt x="708085" y="4458279"/>
                    <a:pt x="246267" y="3777538"/>
                  </a:cubicBezTo>
                  <a:cubicBezTo>
                    <a:pt x="176985" y="3675432"/>
                    <a:pt x="106654" y="3581344"/>
                    <a:pt x="40127" y="3489366"/>
                  </a:cubicBezTo>
                  <a:lnTo>
                    <a:pt x="0" y="3432245"/>
                  </a:lnTo>
                  <a:lnTo>
                    <a:pt x="0" y="1432577"/>
                  </a:lnTo>
                  <a:lnTo>
                    <a:pt x="54624" y="1339196"/>
                  </a:lnTo>
                  <a:cubicBezTo>
                    <a:pt x="578230" y="541497"/>
                    <a:pt x="1569352" y="0"/>
                    <a:pt x="255081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352A8D1-612B-42BB-A925-A3EF53F72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960593"/>
              <a:ext cx="4814598" cy="4884231"/>
            </a:xfrm>
            <a:custGeom>
              <a:avLst/>
              <a:gdLst>
                <a:gd name="connsiteX0" fmla="*/ 2550817 w 4814598"/>
                <a:gd name="connsiteY0" fmla="*/ 454009 h 4884231"/>
                <a:gd name="connsiteX1" fmla="*/ 1662321 w 4814598"/>
                <a:gd name="connsiteY1" fmla="*/ 624807 h 4884231"/>
                <a:gd name="connsiteX2" fmla="*/ 873072 w 4814598"/>
                <a:gd name="connsiteY2" fmla="*/ 1094253 h 4884231"/>
                <a:gd name="connsiteX3" fmla="*/ 327171 w 4814598"/>
                <a:gd name="connsiteY3" fmla="*/ 1771181 h 4884231"/>
                <a:gd name="connsiteX4" fmla="*/ 129223 w 4814598"/>
                <a:gd name="connsiteY4" fmla="*/ 2558977 h 4884231"/>
                <a:gd name="connsiteX5" fmla="*/ 456836 w 4814598"/>
                <a:gd name="connsiteY5" fmla="*/ 3290477 h 4884231"/>
                <a:gd name="connsiteX6" fmla="*/ 621914 w 4814598"/>
                <a:gd name="connsiteY6" fmla="*/ 3522657 h 4884231"/>
                <a:gd name="connsiteX7" fmla="*/ 2170902 w 4814598"/>
                <a:gd name="connsiteY7" fmla="*/ 4430222 h 4884231"/>
                <a:gd name="connsiteX8" fmla="*/ 3346786 w 4814598"/>
                <a:gd name="connsiteY8" fmla="*/ 3871881 h 4884231"/>
                <a:gd name="connsiteX9" fmla="*/ 3489890 w 4814598"/>
                <a:gd name="connsiteY9" fmla="*/ 3761012 h 4884231"/>
                <a:gd name="connsiteX10" fmla="*/ 4140757 w 4814598"/>
                <a:gd name="connsiteY10" fmla="*/ 3181424 h 4884231"/>
                <a:gd name="connsiteX11" fmla="*/ 4360589 w 4814598"/>
                <a:gd name="connsiteY11" fmla="*/ 2558977 h 4884231"/>
                <a:gd name="connsiteX12" fmla="*/ 3867171 w 4814598"/>
                <a:gd name="connsiteY12" fmla="*/ 1041315 h 4884231"/>
                <a:gd name="connsiteX13" fmla="*/ 3312009 w 4814598"/>
                <a:gd name="connsiteY13" fmla="*/ 612822 h 4884231"/>
                <a:gd name="connsiteX14" fmla="*/ 2550817 w 4814598"/>
                <a:gd name="connsiteY14" fmla="*/ 454009 h 4884231"/>
                <a:gd name="connsiteX15" fmla="*/ 2550817 w 4814598"/>
                <a:gd name="connsiteY15" fmla="*/ 0 h 4884231"/>
                <a:gd name="connsiteX16" fmla="*/ 4814598 w 4814598"/>
                <a:gd name="connsiteY16" fmla="*/ 2558977 h 4884231"/>
                <a:gd name="connsiteX17" fmla="*/ 3626365 w 4814598"/>
                <a:gd name="connsiteY17" fmla="*/ 4229640 h 4884231"/>
                <a:gd name="connsiteX18" fmla="*/ 2170902 w 4814598"/>
                <a:gd name="connsiteY18" fmla="*/ 4884231 h 4884231"/>
                <a:gd name="connsiteX19" fmla="*/ 246267 w 4814598"/>
                <a:gd name="connsiteY19" fmla="*/ 3777538 h 4884231"/>
                <a:gd name="connsiteX20" fmla="*/ 40127 w 4814598"/>
                <a:gd name="connsiteY20" fmla="*/ 3489366 h 4884231"/>
                <a:gd name="connsiteX21" fmla="*/ 0 w 4814598"/>
                <a:gd name="connsiteY21" fmla="*/ 3432245 h 4884231"/>
                <a:gd name="connsiteX22" fmla="*/ 0 w 4814598"/>
                <a:gd name="connsiteY22" fmla="*/ 1432577 h 4884231"/>
                <a:gd name="connsiteX23" fmla="*/ 54624 w 4814598"/>
                <a:gd name="connsiteY23" fmla="*/ 1339196 h 4884231"/>
                <a:gd name="connsiteX24" fmla="*/ 2550817 w 4814598"/>
                <a:gd name="connsiteY24" fmla="*/ 0 h 4884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14598" h="4884231">
                  <a:moveTo>
                    <a:pt x="2550817" y="454009"/>
                  </a:moveTo>
                  <a:cubicBezTo>
                    <a:pt x="2255802" y="454009"/>
                    <a:pt x="1956792" y="511396"/>
                    <a:pt x="1662321" y="624807"/>
                  </a:cubicBezTo>
                  <a:cubicBezTo>
                    <a:pt x="1375660" y="735041"/>
                    <a:pt x="1102800" y="897394"/>
                    <a:pt x="873072" y="1094253"/>
                  </a:cubicBezTo>
                  <a:cubicBezTo>
                    <a:pt x="639348" y="1294471"/>
                    <a:pt x="455656" y="1522293"/>
                    <a:pt x="327171" y="1771181"/>
                  </a:cubicBezTo>
                  <a:cubicBezTo>
                    <a:pt x="195872" y="2025607"/>
                    <a:pt x="129223" y="2290658"/>
                    <a:pt x="129223" y="2558977"/>
                  </a:cubicBezTo>
                  <a:cubicBezTo>
                    <a:pt x="129223" y="2829294"/>
                    <a:pt x="235552" y="2987108"/>
                    <a:pt x="456836" y="3290477"/>
                  </a:cubicBezTo>
                  <a:cubicBezTo>
                    <a:pt x="510228" y="3363663"/>
                    <a:pt x="565435" y="3439392"/>
                    <a:pt x="621914" y="3522657"/>
                  </a:cubicBezTo>
                  <a:cubicBezTo>
                    <a:pt x="1053495" y="4158815"/>
                    <a:pt x="1516766" y="4430222"/>
                    <a:pt x="2170902" y="4430222"/>
                  </a:cubicBezTo>
                  <a:cubicBezTo>
                    <a:pt x="2600213" y="4430222"/>
                    <a:pt x="2915205" y="4209119"/>
                    <a:pt x="3346786" y="3871881"/>
                  </a:cubicBezTo>
                  <a:cubicBezTo>
                    <a:pt x="3395002" y="3834198"/>
                    <a:pt x="3443218" y="3796969"/>
                    <a:pt x="3489890" y="3761012"/>
                  </a:cubicBezTo>
                  <a:cubicBezTo>
                    <a:pt x="3742864" y="3565879"/>
                    <a:pt x="3981763" y="3381551"/>
                    <a:pt x="4140757" y="3181424"/>
                  </a:cubicBezTo>
                  <a:cubicBezTo>
                    <a:pt x="4292760" y="2990104"/>
                    <a:pt x="4360589" y="2798149"/>
                    <a:pt x="4360589" y="2558977"/>
                  </a:cubicBezTo>
                  <a:cubicBezTo>
                    <a:pt x="4360589" y="1959594"/>
                    <a:pt x="4185341" y="1420595"/>
                    <a:pt x="3867171" y="1041315"/>
                  </a:cubicBezTo>
                  <a:cubicBezTo>
                    <a:pt x="3711446" y="855807"/>
                    <a:pt x="3524667" y="711614"/>
                    <a:pt x="3312009" y="612822"/>
                  </a:cubicBezTo>
                  <a:cubicBezTo>
                    <a:pt x="3085095" y="507491"/>
                    <a:pt x="2829034" y="454009"/>
                    <a:pt x="2550817" y="454009"/>
                  </a:cubicBezTo>
                  <a:close/>
                  <a:moveTo>
                    <a:pt x="2550817" y="0"/>
                  </a:moveTo>
                  <a:cubicBezTo>
                    <a:pt x="3970050" y="0"/>
                    <a:pt x="4814598" y="1145647"/>
                    <a:pt x="4814598" y="2558977"/>
                  </a:cubicBezTo>
                  <a:cubicBezTo>
                    <a:pt x="4814598" y="3376738"/>
                    <a:pt x="4225839" y="3761193"/>
                    <a:pt x="3626365" y="4229640"/>
                  </a:cubicBezTo>
                  <a:cubicBezTo>
                    <a:pt x="3189699" y="4570874"/>
                    <a:pt x="2769014" y="4884231"/>
                    <a:pt x="2170902" y="4884231"/>
                  </a:cubicBezTo>
                  <a:cubicBezTo>
                    <a:pt x="1283950" y="4884231"/>
                    <a:pt x="708085" y="4458279"/>
                    <a:pt x="246267" y="3777538"/>
                  </a:cubicBezTo>
                  <a:cubicBezTo>
                    <a:pt x="176985" y="3675432"/>
                    <a:pt x="106654" y="3581344"/>
                    <a:pt x="40127" y="3489366"/>
                  </a:cubicBezTo>
                  <a:lnTo>
                    <a:pt x="0" y="3432245"/>
                  </a:lnTo>
                  <a:lnTo>
                    <a:pt x="0" y="1432577"/>
                  </a:lnTo>
                  <a:lnTo>
                    <a:pt x="54624" y="1339196"/>
                  </a:lnTo>
                  <a:cubicBezTo>
                    <a:pt x="578230" y="541497"/>
                    <a:pt x="1569352" y="0"/>
                    <a:pt x="255081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 useBgFill="1">
          <p:nvSpPr>
            <p:cNvPr id="98" name="Freeform: Shape 88">
              <a:extLst>
                <a:ext uri="{FF2B5EF4-FFF2-40B4-BE49-F238E27FC236}">
                  <a16:creationId xmlns:a16="http://schemas.microsoft.com/office/drawing/2014/main" id="{0858A699-36FD-4E40-A79C-7B11883C9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96695"/>
              <a:ext cx="4850918" cy="5212025"/>
            </a:xfrm>
            <a:custGeom>
              <a:avLst/>
              <a:gdLst>
                <a:gd name="connsiteX0" fmla="*/ 2244906 w 4850918"/>
                <a:gd name="connsiteY0" fmla="*/ 0 h 5212025"/>
                <a:gd name="connsiteX1" fmla="*/ 4850918 w 4850918"/>
                <a:gd name="connsiteY1" fmla="*/ 2606013 h 5212025"/>
                <a:gd name="connsiteX2" fmla="*/ 2244906 w 4850918"/>
                <a:gd name="connsiteY2" fmla="*/ 5212025 h 5212025"/>
                <a:gd name="connsiteX3" fmla="*/ 83949 w 4850918"/>
                <a:gd name="connsiteY3" fmla="*/ 4063077 h 5212025"/>
                <a:gd name="connsiteX4" fmla="*/ 0 w 4850918"/>
                <a:gd name="connsiteY4" fmla="*/ 3924890 h 5212025"/>
                <a:gd name="connsiteX5" fmla="*/ 0 w 4850918"/>
                <a:gd name="connsiteY5" fmla="*/ 3598606 h 5212025"/>
                <a:gd name="connsiteX6" fmla="*/ 15357 w 4850918"/>
                <a:gd name="connsiteY6" fmla="*/ 3619452 h 5212025"/>
                <a:gd name="connsiteX7" fmla="*/ 107340 w 4850918"/>
                <a:gd name="connsiteY7" fmla="*/ 3738402 h 5212025"/>
                <a:gd name="connsiteX8" fmla="*/ 168177 w 4850918"/>
                <a:gd name="connsiteY8" fmla="*/ 3816401 h 5212025"/>
                <a:gd name="connsiteX9" fmla="*/ 245086 w 4850918"/>
                <a:gd name="connsiteY9" fmla="*/ 3916919 h 5212025"/>
                <a:gd name="connsiteX10" fmla="*/ 284403 w 4850918"/>
                <a:gd name="connsiteY10" fmla="*/ 3970310 h 5212025"/>
                <a:gd name="connsiteX11" fmla="*/ 319634 w 4850918"/>
                <a:gd name="connsiteY11" fmla="*/ 4018253 h 5212025"/>
                <a:gd name="connsiteX12" fmla="*/ 319816 w 4850918"/>
                <a:gd name="connsiteY12" fmla="*/ 4018435 h 5212025"/>
                <a:gd name="connsiteX13" fmla="*/ 319998 w 4850918"/>
                <a:gd name="connsiteY13" fmla="*/ 4018617 h 5212025"/>
                <a:gd name="connsiteX14" fmla="*/ 381652 w 4850918"/>
                <a:gd name="connsiteY14" fmla="*/ 4099884 h 5212025"/>
                <a:gd name="connsiteX15" fmla="*/ 393547 w 4850918"/>
                <a:gd name="connsiteY15" fmla="*/ 4115230 h 5212025"/>
                <a:gd name="connsiteX16" fmla="*/ 399540 w 4850918"/>
                <a:gd name="connsiteY16" fmla="*/ 4122676 h 5212025"/>
                <a:gd name="connsiteX17" fmla="*/ 470547 w 4850918"/>
                <a:gd name="connsiteY17" fmla="*/ 4208756 h 5212025"/>
                <a:gd name="connsiteX18" fmla="*/ 633445 w 4850918"/>
                <a:gd name="connsiteY18" fmla="*/ 4384730 h 5212025"/>
                <a:gd name="connsiteX19" fmla="*/ 997833 w 4850918"/>
                <a:gd name="connsiteY19" fmla="*/ 4677384 h 5212025"/>
                <a:gd name="connsiteX20" fmla="*/ 1198505 w 4850918"/>
                <a:gd name="connsiteY20" fmla="*/ 4786982 h 5212025"/>
                <a:gd name="connsiteX21" fmla="*/ 1198687 w 4850918"/>
                <a:gd name="connsiteY21" fmla="*/ 4787073 h 5212025"/>
                <a:gd name="connsiteX22" fmla="*/ 1198869 w 4850918"/>
                <a:gd name="connsiteY22" fmla="*/ 4787164 h 5212025"/>
                <a:gd name="connsiteX23" fmla="*/ 1410709 w 4850918"/>
                <a:gd name="connsiteY23" fmla="*/ 4869975 h 5212025"/>
                <a:gd name="connsiteX24" fmla="*/ 1631902 w 4850918"/>
                <a:gd name="connsiteY24" fmla="*/ 4927271 h 5212025"/>
                <a:gd name="connsiteX25" fmla="*/ 1744134 w 4850918"/>
                <a:gd name="connsiteY25" fmla="*/ 4946157 h 5212025"/>
                <a:gd name="connsiteX26" fmla="*/ 1856819 w 4850918"/>
                <a:gd name="connsiteY26" fmla="*/ 4958961 h 5212025"/>
                <a:gd name="connsiteX27" fmla="*/ 2090089 w 4850918"/>
                <a:gd name="connsiteY27" fmla="*/ 4969130 h 5212025"/>
                <a:gd name="connsiteX28" fmla="*/ 2101802 w 4850918"/>
                <a:gd name="connsiteY28" fmla="*/ 4969130 h 5212025"/>
                <a:gd name="connsiteX29" fmla="*/ 2117238 w 4850918"/>
                <a:gd name="connsiteY29" fmla="*/ 4969221 h 5212025"/>
                <a:gd name="connsiteX30" fmla="*/ 2147294 w 4850918"/>
                <a:gd name="connsiteY30" fmla="*/ 4968767 h 5212025"/>
                <a:gd name="connsiteX31" fmla="*/ 2147566 w 4850918"/>
                <a:gd name="connsiteY31" fmla="*/ 4968767 h 5212025"/>
                <a:gd name="connsiteX32" fmla="*/ 2147838 w 4850918"/>
                <a:gd name="connsiteY32" fmla="*/ 4968767 h 5212025"/>
                <a:gd name="connsiteX33" fmla="*/ 2176078 w 4850918"/>
                <a:gd name="connsiteY33" fmla="*/ 4968041 h 5212025"/>
                <a:gd name="connsiteX34" fmla="*/ 2204499 w 4850918"/>
                <a:gd name="connsiteY34" fmla="*/ 4966588 h 5212025"/>
                <a:gd name="connsiteX35" fmla="*/ 2315822 w 4850918"/>
                <a:gd name="connsiteY35" fmla="*/ 4956872 h 5212025"/>
                <a:gd name="connsiteX36" fmla="*/ 2746222 w 4850918"/>
                <a:gd name="connsiteY36" fmla="*/ 4840555 h 5212025"/>
                <a:gd name="connsiteX37" fmla="*/ 2950617 w 4850918"/>
                <a:gd name="connsiteY37" fmla="*/ 4739220 h 5212025"/>
                <a:gd name="connsiteX38" fmla="*/ 3148929 w 4850918"/>
                <a:gd name="connsiteY38" fmla="*/ 4615367 h 5212025"/>
                <a:gd name="connsiteX39" fmla="*/ 3342791 w 4850918"/>
                <a:gd name="connsiteY39" fmla="*/ 4474533 h 5212025"/>
                <a:gd name="connsiteX40" fmla="*/ 3438496 w 4850918"/>
                <a:gd name="connsiteY40" fmla="*/ 4399894 h 5212025"/>
                <a:gd name="connsiteX41" fmla="*/ 3536108 w 4850918"/>
                <a:gd name="connsiteY41" fmla="*/ 4321804 h 5212025"/>
                <a:gd name="connsiteX42" fmla="*/ 3700641 w 4850918"/>
                <a:gd name="connsiteY42" fmla="*/ 4192956 h 5212025"/>
                <a:gd name="connsiteX43" fmla="*/ 3927282 w 4850918"/>
                <a:gd name="connsiteY43" fmla="*/ 4014258 h 5212025"/>
                <a:gd name="connsiteX44" fmla="*/ 4279230 w 4850918"/>
                <a:gd name="connsiteY44" fmla="*/ 3693909 h 5212025"/>
                <a:gd name="connsiteX45" fmla="*/ 4424785 w 4850918"/>
                <a:gd name="connsiteY45" fmla="*/ 3517209 h 5212025"/>
                <a:gd name="connsiteX46" fmla="*/ 4539922 w 4850918"/>
                <a:gd name="connsiteY46" fmla="*/ 3324800 h 5212025"/>
                <a:gd name="connsiteX47" fmla="*/ 4660234 w 4850918"/>
                <a:gd name="connsiteY47" fmla="*/ 2893945 h 5212025"/>
                <a:gd name="connsiteX48" fmla="*/ 4667045 w 4850918"/>
                <a:gd name="connsiteY48" fmla="*/ 2779081 h 5212025"/>
                <a:gd name="connsiteX49" fmla="*/ 4667135 w 4850918"/>
                <a:gd name="connsiteY49" fmla="*/ 2774632 h 5212025"/>
                <a:gd name="connsiteX50" fmla="*/ 4667408 w 4850918"/>
                <a:gd name="connsiteY50" fmla="*/ 2719787 h 5212025"/>
                <a:gd name="connsiteX51" fmla="*/ 4667317 w 4850918"/>
                <a:gd name="connsiteY51" fmla="*/ 2702444 h 5212025"/>
                <a:gd name="connsiteX52" fmla="*/ 4666772 w 4850918"/>
                <a:gd name="connsiteY52" fmla="*/ 2658950 h 5212025"/>
                <a:gd name="connsiteX53" fmla="*/ 4654787 w 4850918"/>
                <a:gd name="connsiteY53" fmla="*/ 2416691 h 5212025"/>
                <a:gd name="connsiteX54" fmla="*/ 4581781 w 4850918"/>
                <a:gd name="connsiteY54" fmla="*/ 1936985 h 5212025"/>
                <a:gd name="connsiteX55" fmla="*/ 4435046 w 4850918"/>
                <a:gd name="connsiteY55" fmla="*/ 1474894 h 5212025"/>
                <a:gd name="connsiteX56" fmla="*/ 4386104 w 4850918"/>
                <a:gd name="connsiteY56" fmla="*/ 1364116 h 5212025"/>
                <a:gd name="connsiteX57" fmla="*/ 4331623 w 4850918"/>
                <a:gd name="connsiteY57" fmla="*/ 1255698 h 5212025"/>
                <a:gd name="connsiteX58" fmla="*/ 4206861 w 4850918"/>
                <a:gd name="connsiteY58" fmla="*/ 1048216 h 5212025"/>
                <a:gd name="connsiteX59" fmla="*/ 3895592 w 4850918"/>
                <a:gd name="connsiteY59" fmla="*/ 681922 h 5212025"/>
                <a:gd name="connsiteX60" fmla="*/ 3710356 w 4850918"/>
                <a:gd name="connsiteY60" fmla="*/ 530192 h 5212025"/>
                <a:gd name="connsiteX61" fmla="*/ 3507777 w 4850918"/>
                <a:gd name="connsiteY61" fmla="*/ 403705 h 5212025"/>
                <a:gd name="connsiteX62" fmla="*/ 3065936 w 4850918"/>
                <a:gd name="connsiteY62" fmla="*/ 232543 h 5212025"/>
                <a:gd name="connsiteX63" fmla="*/ 2834573 w 4850918"/>
                <a:gd name="connsiteY63" fmla="*/ 187233 h 5212025"/>
                <a:gd name="connsiteX64" fmla="*/ 2601212 w 4850918"/>
                <a:gd name="connsiteY64" fmla="*/ 166894 h 5212025"/>
                <a:gd name="connsiteX65" fmla="*/ 2499332 w 4850918"/>
                <a:gd name="connsiteY65" fmla="*/ 164715 h 5212025"/>
                <a:gd name="connsiteX66" fmla="*/ 2131857 w 4850918"/>
                <a:gd name="connsiteY66" fmla="*/ 192046 h 5212025"/>
                <a:gd name="connsiteX67" fmla="*/ 1901130 w 4850918"/>
                <a:gd name="connsiteY67" fmla="*/ 237084 h 5212025"/>
                <a:gd name="connsiteX68" fmla="*/ 1674579 w 4850918"/>
                <a:gd name="connsiteY68" fmla="*/ 301553 h 5212025"/>
                <a:gd name="connsiteX69" fmla="*/ 1453477 w 4850918"/>
                <a:gd name="connsiteY69" fmla="*/ 383819 h 5212025"/>
                <a:gd name="connsiteX70" fmla="*/ 1238821 w 4850918"/>
                <a:gd name="connsiteY70" fmla="*/ 483338 h 5212025"/>
                <a:gd name="connsiteX71" fmla="*/ 831666 w 4850918"/>
                <a:gd name="connsiteY71" fmla="*/ 727777 h 5212025"/>
                <a:gd name="connsiteX72" fmla="*/ 735416 w 4850918"/>
                <a:gd name="connsiteY72" fmla="*/ 798148 h 5212025"/>
                <a:gd name="connsiteX73" fmla="*/ 735234 w 4850918"/>
                <a:gd name="connsiteY73" fmla="*/ 798330 h 5212025"/>
                <a:gd name="connsiteX74" fmla="*/ 735053 w 4850918"/>
                <a:gd name="connsiteY74" fmla="*/ 798511 h 5212025"/>
                <a:gd name="connsiteX75" fmla="*/ 695554 w 4850918"/>
                <a:gd name="connsiteY75" fmla="*/ 828748 h 5212025"/>
                <a:gd name="connsiteX76" fmla="*/ 687563 w 4850918"/>
                <a:gd name="connsiteY76" fmla="*/ 835014 h 5212025"/>
                <a:gd name="connsiteX77" fmla="*/ 641254 w 4850918"/>
                <a:gd name="connsiteY77" fmla="*/ 871970 h 5212025"/>
                <a:gd name="connsiteX78" fmla="*/ 461013 w 4850918"/>
                <a:gd name="connsiteY78" fmla="*/ 1030147 h 5212025"/>
                <a:gd name="connsiteX79" fmla="*/ 139938 w 4850918"/>
                <a:gd name="connsiteY79" fmla="*/ 1388360 h 5212025"/>
                <a:gd name="connsiteX80" fmla="*/ 3281 w 4850918"/>
                <a:gd name="connsiteY80" fmla="*/ 1587670 h 5212025"/>
                <a:gd name="connsiteX81" fmla="*/ 0 w 4850918"/>
                <a:gd name="connsiteY81" fmla="*/ 1593348 h 5212025"/>
                <a:gd name="connsiteX82" fmla="*/ 0 w 4850918"/>
                <a:gd name="connsiteY82" fmla="*/ 1287136 h 5212025"/>
                <a:gd name="connsiteX83" fmla="*/ 83949 w 4850918"/>
                <a:gd name="connsiteY83" fmla="*/ 1148949 h 5212025"/>
                <a:gd name="connsiteX84" fmla="*/ 2244906 w 4850918"/>
                <a:gd name="connsiteY84" fmla="*/ 0 h 521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850918" h="5212025">
                  <a:moveTo>
                    <a:pt x="2244906" y="0"/>
                  </a:moveTo>
                  <a:cubicBezTo>
                    <a:pt x="3684206" y="0"/>
                    <a:pt x="4850918" y="1166713"/>
                    <a:pt x="4850918" y="2606013"/>
                  </a:cubicBezTo>
                  <a:cubicBezTo>
                    <a:pt x="4850918" y="4045313"/>
                    <a:pt x="3684206" y="5212025"/>
                    <a:pt x="2244906" y="5212025"/>
                  </a:cubicBezTo>
                  <a:cubicBezTo>
                    <a:pt x="1345344" y="5212025"/>
                    <a:pt x="552260" y="4756278"/>
                    <a:pt x="83949" y="4063077"/>
                  </a:cubicBezTo>
                  <a:lnTo>
                    <a:pt x="0" y="3924890"/>
                  </a:lnTo>
                  <a:lnTo>
                    <a:pt x="0" y="3598606"/>
                  </a:lnTo>
                  <a:lnTo>
                    <a:pt x="15357" y="3619452"/>
                  </a:lnTo>
                  <a:cubicBezTo>
                    <a:pt x="45413" y="3659314"/>
                    <a:pt x="76921" y="3699539"/>
                    <a:pt x="107340" y="3738402"/>
                  </a:cubicBezTo>
                  <a:cubicBezTo>
                    <a:pt x="127316" y="3763917"/>
                    <a:pt x="148019" y="3790250"/>
                    <a:pt x="168177" y="3816401"/>
                  </a:cubicBezTo>
                  <a:cubicBezTo>
                    <a:pt x="189334" y="3843732"/>
                    <a:pt x="217210" y="3879781"/>
                    <a:pt x="245086" y="3916919"/>
                  </a:cubicBezTo>
                  <a:cubicBezTo>
                    <a:pt x="258343" y="3934443"/>
                    <a:pt x="271600" y="3952695"/>
                    <a:pt x="284403" y="3970310"/>
                  </a:cubicBezTo>
                  <a:cubicBezTo>
                    <a:pt x="296571" y="3987018"/>
                    <a:pt x="308102" y="4002908"/>
                    <a:pt x="319634" y="4018253"/>
                  </a:cubicBezTo>
                  <a:lnTo>
                    <a:pt x="319816" y="4018435"/>
                  </a:lnTo>
                  <a:lnTo>
                    <a:pt x="319998" y="4018617"/>
                  </a:lnTo>
                  <a:cubicBezTo>
                    <a:pt x="339883" y="4045948"/>
                    <a:pt x="361131" y="4073370"/>
                    <a:pt x="381652" y="4099884"/>
                  </a:cubicBezTo>
                  <a:lnTo>
                    <a:pt x="393547" y="4115230"/>
                  </a:lnTo>
                  <a:lnTo>
                    <a:pt x="399540" y="4122676"/>
                  </a:lnTo>
                  <a:cubicBezTo>
                    <a:pt x="422604" y="4151187"/>
                    <a:pt x="446303" y="4180698"/>
                    <a:pt x="470547" y="4208756"/>
                  </a:cubicBezTo>
                  <a:cubicBezTo>
                    <a:pt x="523848" y="4271228"/>
                    <a:pt x="578692" y="4330430"/>
                    <a:pt x="633445" y="4384730"/>
                  </a:cubicBezTo>
                  <a:cubicBezTo>
                    <a:pt x="750035" y="4499776"/>
                    <a:pt x="872708" y="4598296"/>
                    <a:pt x="997833" y="4677384"/>
                  </a:cubicBezTo>
                  <a:cubicBezTo>
                    <a:pt x="1068659" y="4721786"/>
                    <a:pt x="1134218" y="4757653"/>
                    <a:pt x="1198505" y="4786982"/>
                  </a:cubicBezTo>
                  <a:lnTo>
                    <a:pt x="1198687" y="4787073"/>
                  </a:lnTo>
                  <a:lnTo>
                    <a:pt x="1198869" y="4787164"/>
                  </a:lnTo>
                  <a:cubicBezTo>
                    <a:pt x="1264246" y="4817945"/>
                    <a:pt x="1335525" y="4845821"/>
                    <a:pt x="1410709" y="4869975"/>
                  </a:cubicBezTo>
                  <a:cubicBezTo>
                    <a:pt x="1479900" y="4892221"/>
                    <a:pt x="1554358" y="4911562"/>
                    <a:pt x="1631902" y="4927271"/>
                  </a:cubicBezTo>
                  <a:cubicBezTo>
                    <a:pt x="1667588" y="4934353"/>
                    <a:pt x="1705452" y="4940709"/>
                    <a:pt x="1744134" y="4946157"/>
                  </a:cubicBezTo>
                  <a:cubicBezTo>
                    <a:pt x="1780454" y="4951243"/>
                    <a:pt x="1818409" y="4955510"/>
                    <a:pt x="1856819" y="4958961"/>
                  </a:cubicBezTo>
                  <a:cubicBezTo>
                    <a:pt x="1930277" y="4965680"/>
                    <a:pt x="2006551" y="4968949"/>
                    <a:pt x="2090089" y="4969130"/>
                  </a:cubicBezTo>
                  <a:lnTo>
                    <a:pt x="2101802" y="4969130"/>
                  </a:lnTo>
                  <a:cubicBezTo>
                    <a:pt x="2106978" y="4969221"/>
                    <a:pt x="2112063" y="4969221"/>
                    <a:pt x="2117238" y="4969221"/>
                  </a:cubicBezTo>
                  <a:cubicBezTo>
                    <a:pt x="2129678" y="4969221"/>
                    <a:pt x="2138940" y="4969130"/>
                    <a:pt x="2147294" y="4968767"/>
                  </a:cubicBezTo>
                  <a:lnTo>
                    <a:pt x="2147566" y="4968767"/>
                  </a:lnTo>
                  <a:lnTo>
                    <a:pt x="2147838" y="4968767"/>
                  </a:lnTo>
                  <a:lnTo>
                    <a:pt x="2176078" y="4968041"/>
                  </a:lnTo>
                  <a:lnTo>
                    <a:pt x="2204499" y="4966588"/>
                  </a:lnTo>
                  <a:cubicBezTo>
                    <a:pt x="2236824" y="4965135"/>
                    <a:pt x="2271238" y="4962138"/>
                    <a:pt x="2315822" y="4956872"/>
                  </a:cubicBezTo>
                  <a:cubicBezTo>
                    <a:pt x="2460651" y="4939166"/>
                    <a:pt x="2605480" y="4900030"/>
                    <a:pt x="2746222" y="4840555"/>
                  </a:cubicBezTo>
                  <a:cubicBezTo>
                    <a:pt x="2810783" y="4813587"/>
                    <a:pt x="2877613" y="4780444"/>
                    <a:pt x="2950617" y="4739220"/>
                  </a:cubicBezTo>
                  <a:cubicBezTo>
                    <a:pt x="3013452" y="4703989"/>
                    <a:pt x="3078285" y="4663492"/>
                    <a:pt x="3148929" y="4615367"/>
                  </a:cubicBezTo>
                  <a:cubicBezTo>
                    <a:pt x="3207042" y="4575777"/>
                    <a:pt x="3268696" y="4531012"/>
                    <a:pt x="3342791" y="4474533"/>
                  </a:cubicBezTo>
                  <a:cubicBezTo>
                    <a:pt x="3375298" y="4449835"/>
                    <a:pt x="3408077" y="4423956"/>
                    <a:pt x="3438496" y="4399894"/>
                  </a:cubicBezTo>
                  <a:lnTo>
                    <a:pt x="3536108" y="4321804"/>
                  </a:lnTo>
                  <a:cubicBezTo>
                    <a:pt x="3591043" y="4278219"/>
                    <a:pt x="3646795" y="4234907"/>
                    <a:pt x="3700641" y="4192956"/>
                  </a:cubicBezTo>
                  <a:cubicBezTo>
                    <a:pt x="3775643" y="4134571"/>
                    <a:pt x="3853279" y="4074187"/>
                    <a:pt x="3927282" y="4014258"/>
                  </a:cubicBezTo>
                  <a:cubicBezTo>
                    <a:pt x="4077741" y="3892493"/>
                    <a:pt x="4186340" y="3793610"/>
                    <a:pt x="4279230" y="3693909"/>
                  </a:cubicBezTo>
                  <a:cubicBezTo>
                    <a:pt x="4335800" y="3632800"/>
                    <a:pt x="4383471" y="3574959"/>
                    <a:pt x="4424785" y="3517209"/>
                  </a:cubicBezTo>
                  <a:cubicBezTo>
                    <a:pt x="4471367" y="3451559"/>
                    <a:pt x="4508959" y="3388725"/>
                    <a:pt x="4539922" y="3324800"/>
                  </a:cubicBezTo>
                  <a:cubicBezTo>
                    <a:pt x="4604664" y="3192774"/>
                    <a:pt x="4645162" y="3047763"/>
                    <a:pt x="4660234" y="2893945"/>
                  </a:cubicBezTo>
                  <a:cubicBezTo>
                    <a:pt x="4663776" y="2857443"/>
                    <a:pt x="4666046" y="2818671"/>
                    <a:pt x="4667045" y="2779081"/>
                  </a:cubicBezTo>
                  <a:lnTo>
                    <a:pt x="4667135" y="2774632"/>
                  </a:lnTo>
                  <a:cubicBezTo>
                    <a:pt x="4667408" y="2756834"/>
                    <a:pt x="4667680" y="2738583"/>
                    <a:pt x="4667408" y="2719787"/>
                  </a:cubicBezTo>
                  <a:cubicBezTo>
                    <a:pt x="4667408" y="2713976"/>
                    <a:pt x="4667317" y="2708256"/>
                    <a:pt x="4667317" y="2702444"/>
                  </a:cubicBezTo>
                  <a:cubicBezTo>
                    <a:pt x="4667317" y="2688188"/>
                    <a:pt x="4667226" y="2673569"/>
                    <a:pt x="4666772" y="2658950"/>
                  </a:cubicBezTo>
                  <a:cubicBezTo>
                    <a:pt x="4665228" y="2576139"/>
                    <a:pt x="4661142" y="2494599"/>
                    <a:pt x="4654787" y="2416691"/>
                  </a:cubicBezTo>
                  <a:cubicBezTo>
                    <a:pt x="4640531" y="2247618"/>
                    <a:pt x="4616014" y="2086263"/>
                    <a:pt x="4581781" y="1936985"/>
                  </a:cubicBezTo>
                  <a:cubicBezTo>
                    <a:pt x="4544280" y="1773814"/>
                    <a:pt x="4494884" y="1618361"/>
                    <a:pt x="4435046" y="1474894"/>
                  </a:cubicBezTo>
                  <a:cubicBezTo>
                    <a:pt x="4419519" y="1437484"/>
                    <a:pt x="4402993" y="1400164"/>
                    <a:pt x="4386104" y="1364116"/>
                  </a:cubicBezTo>
                  <a:cubicBezTo>
                    <a:pt x="4369578" y="1329248"/>
                    <a:pt x="4351236" y="1292837"/>
                    <a:pt x="4331623" y="1255698"/>
                  </a:cubicBezTo>
                  <a:cubicBezTo>
                    <a:pt x="4294757" y="1186054"/>
                    <a:pt x="4252988" y="1116318"/>
                    <a:pt x="4206861" y="1048216"/>
                  </a:cubicBezTo>
                  <a:cubicBezTo>
                    <a:pt x="4117058" y="913920"/>
                    <a:pt x="4012273" y="790612"/>
                    <a:pt x="3895592" y="681922"/>
                  </a:cubicBezTo>
                  <a:cubicBezTo>
                    <a:pt x="3836662" y="627441"/>
                    <a:pt x="3774281" y="576319"/>
                    <a:pt x="3710356" y="530192"/>
                  </a:cubicBezTo>
                  <a:cubicBezTo>
                    <a:pt x="3642437" y="481795"/>
                    <a:pt x="3574335" y="439299"/>
                    <a:pt x="3507777" y="403705"/>
                  </a:cubicBezTo>
                  <a:cubicBezTo>
                    <a:pt x="3371575" y="329974"/>
                    <a:pt x="3222932" y="272406"/>
                    <a:pt x="3065936" y="232543"/>
                  </a:cubicBezTo>
                  <a:cubicBezTo>
                    <a:pt x="2990933" y="213475"/>
                    <a:pt x="2913116" y="198220"/>
                    <a:pt x="2834573" y="187233"/>
                  </a:cubicBezTo>
                  <a:cubicBezTo>
                    <a:pt x="2758208" y="176610"/>
                    <a:pt x="2679756" y="169799"/>
                    <a:pt x="2601212" y="166894"/>
                  </a:cubicBezTo>
                  <a:cubicBezTo>
                    <a:pt x="2567434" y="165441"/>
                    <a:pt x="2533201" y="164715"/>
                    <a:pt x="2499332" y="164715"/>
                  </a:cubicBezTo>
                  <a:cubicBezTo>
                    <a:pt x="2378294" y="164715"/>
                    <a:pt x="2254531" y="173886"/>
                    <a:pt x="2131857" y="192046"/>
                  </a:cubicBezTo>
                  <a:cubicBezTo>
                    <a:pt x="2052043" y="204304"/>
                    <a:pt x="1974407" y="219468"/>
                    <a:pt x="1901130" y="237084"/>
                  </a:cubicBezTo>
                  <a:cubicBezTo>
                    <a:pt x="1822314" y="256334"/>
                    <a:pt x="1746040" y="278035"/>
                    <a:pt x="1674579" y="301553"/>
                  </a:cubicBezTo>
                  <a:cubicBezTo>
                    <a:pt x="1599849" y="326069"/>
                    <a:pt x="1525483" y="353764"/>
                    <a:pt x="1453477" y="383819"/>
                  </a:cubicBezTo>
                  <a:cubicBezTo>
                    <a:pt x="1381199" y="414147"/>
                    <a:pt x="1309011" y="447653"/>
                    <a:pt x="1238821" y="483338"/>
                  </a:cubicBezTo>
                  <a:cubicBezTo>
                    <a:pt x="1097715" y="555162"/>
                    <a:pt x="960695" y="637338"/>
                    <a:pt x="831666" y="727777"/>
                  </a:cubicBezTo>
                  <a:cubicBezTo>
                    <a:pt x="805061" y="746573"/>
                    <a:pt x="770102" y="771543"/>
                    <a:pt x="735416" y="798148"/>
                  </a:cubicBezTo>
                  <a:lnTo>
                    <a:pt x="735234" y="798330"/>
                  </a:lnTo>
                  <a:lnTo>
                    <a:pt x="735053" y="798511"/>
                  </a:lnTo>
                  <a:cubicBezTo>
                    <a:pt x="721796" y="808318"/>
                    <a:pt x="708448" y="818669"/>
                    <a:pt x="695554" y="828748"/>
                  </a:cubicBezTo>
                  <a:lnTo>
                    <a:pt x="687563" y="835014"/>
                  </a:lnTo>
                  <a:cubicBezTo>
                    <a:pt x="670765" y="847817"/>
                    <a:pt x="654784" y="860892"/>
                    <a:pt x="641254" y="871970"/>
                  </a:cubicBezTo>
                  <a:cubicBezTo>
                    <a:pt x="574061" y="926996"/>
                    <a:pt x="515131" y="978753"/>
                    <a:pt x="461013" y="1030147"/>
                  </a:cubicBezTo>
                  <a:cubicBezTo>
                    <a:pt x="343152" y="1141288"/>
                    <a:pt x="235189" y="1261782"/>
                    <a:pt x="139938" y="1388360"/>
                  </a:cubicBezTo>
                  <a:cubicBezTo>
                    <a:pt x="90632" y="1453919"/>
                    <a:pt x="44596" y="1521021"/>
                    <a:pt x="3281" y="1587670"/>
                  </a:cubicBezTo>
                  <a:lnTo>
                    <a:pt x="0" y="1593348"/>
                  </a:lnTo>
                  <a:lnTo>
                    <a:pt x="0" y="1287136"/>
                  </a:lnTo>
                  <a:lnTo>
                    <a:pt x="83949" y="1148949"/>
                  </a:lnTo>
                  <a:cubicBezTo>
                    <a:pt x="552260" y="455747"/>
                    <a:pt x="1345344" y="0"/>
                    <a:pt x="2244906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A965F-05DC-DE00-163D-2E69C590D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0574" y="1593390"/>
            <a:ext cx="4977578" cy="44675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tx2"/>
                </a:solidFill>
              </a:rPr>
              <a:t>OpenSmile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 err="1">
                <a:solidFill>
                  <a:schemeClr val="tx2"/>
                </a:solidFill>
              </a:rPr>
              <a:t>eGeMAPS</a:t>
            </a:r>
            <a:r>
              <a:rPr lang="en-US" sz="1800" dirty="0">
                <a:solidFill>
                  <a:schemeClr val="tx2"/>
                </a:solidFill>
              </a:rPr>
              <a:t> v02 Features:</a:t>
            </a:r>
          </a:p>
          <a:p>
            <a:pPr marL="0" lvl="0">
              <a:spcBef>
                <a:spcPts val="0"/>
              </a:spcBef>
            </a:pPr>
            <a:endParaRPr lang="en-US" sz="1800" dirty="0">
              <a:solidFill>
                <a:schemeClr val="tx2"/>
              </a:solidFill>
            </a:endParaRPr>
          </a:p>
          <a:p>
            <a:pPr marL="742950" lvl="1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Frequency-related: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F0 (pitch)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Jitter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Formant frequencies (F1, F2, F3)</a:t>
            </a:r>
          </a:p>
          <a:p>
            <a:pPr marL="742950" lvl="1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Energy/Amplitude-related: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Shimmer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Loudness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Harmonics-to-Noise Ratio</a:t>
            </a:r>
          </a:p>
          <a:p>
            <a:pPr marL="742950" lvl="1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Spectral: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MFCC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</a:rPr>
              <a:t>Alpha Ratio</a:t>
            </a:r>
          </a:p>
          <a:p>
            <a:pPr lvl="2">
              <a:spcBef>
                <a:spcPts val="0"/>
              </a:spcBef>
            </a:pPr>
            <a:r>
              <a:rPr lang="en-US" sz="1800" dirty="0" err="1">
                <a:solidFill>
                  <a:schemeClr val="tx2"/>
                </a:solidFill>
              </a:rPr>
              <a:t>Hammarberg</a:t>
            </a:r>
            <a:r>
              <a:rPr lang="en-US" sz="1800" dirty="0">
                <a:solidFill>
                  <a:schemeClr val="tx2"/>
                </a:solidFill>
              </a:rPr>
              <a:t> Index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pPr marL="0"/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90073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1" name="Rectangle 150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3" name="Freeform: Shape 152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5" name="Freeform: Shape 154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66306-D506-A5D3-4E7E-F1368C968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922468" cy="124358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Normalization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A965F-05DC-DE00-163D-2E69C590D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913" y="2512611"/>
            <a:ext cx="3171554" cy="879813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>
              <a:spcBef>
                <a:spcPts val="0"/>
              </a:spcBef>
              <a:spcAft>
                <a:spcPts val="600"/>
              </a:spcAft>
            </a:pPr>
            <a:r>
              <a:rPr lang="en-US" sz="1800" dirty="0" err="1"/>
              <a:t>StandardScaler</a:t>
            </a:r>
            <a:r>
              <a:rPr lang="en-US" sz="1800" dirty="0"/>
              <a:t> application</a:t>
            </a:r>
          </a:p>
          <a:p>
            <a:pPr marL="0" lvl="0">
              <a:spcBef>
                <a:spcPts val="0"/>
              </a:spcBef>
              <a:spcAft>
                <a:spcPts val="600"/>
              </a:spcAft>
            </a:pPr>
            <a:r>
              <a:rPr lang="en-US" sz="1800" dirty="0"/>
              <a:t>Robust to outliers</a:t>
            </a:r>
          </a:p>
        </p:txBody>
      </p:sp>
      <p:pic>
        <p:nvPicPr>
          <p:cNvPr id="18" name="Picture 17" descr="A comparison of a bar graph&#10;&#10;Description automatically generated with medium confidence">
            <a:extLst>
              <a:ext uri="{FF2B5EF4-FFF2-40B4-BE49-F238E27FC236}">
                <a16:creationId xmlns:a16="http://schemas.microsoft.com/office/drawing/2014/main" id="{AC07E366-559D-47DB-877E-FB3151AB0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586" y="200186"/>
            <a:ext cx="7590799" cy="2878687"/>
          </a:xfrm>
          <a:prstGeom prst="rect">
            <a:avLst/>
          </a:prstGeom>
        </p:spPr>
      </p:pic>
      <p:pic>
        <p:nvPicPr>
          <p:cNvPr id="16" name="Picture 15" descr="A close-up of a graph&#10;&#10;Description automatically generated">
            <a:extLst>
              <a:ext uri="{FF2B5EF4-FFF2-40B4-BE49-F238E27FC236}">
                <a16:creationId xmlns:a16="http://schemas.microsoft.com/office/drawing/2014/main" id="{16A42F10-F0E9-419B-A466-BD63433C5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420" y="3972466"/>
            <a:ext cx="8326667" cy="268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726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5" name="Freeform: Shape 104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7" name="Freeform: Shape 106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66306-D506-A5D3-4E7E-F1368C968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377072"/>
            <a:ext cx="4832802" cy="172604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 Pipeline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A965F-05DC-DE00-163D-2E69C590D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912" y="1998481"/>
            <a:ext cx="4832803" cy="4731503"/>
          </a:xfrm>
        </p:spPr>
        <p:txBody>
          <a:bodyPr vert="horz" lIns="91440" tIns="45720" rIns="91440" bIns="45720" rtlCol="0">
            <a:noAutofit/>
          </a:bodyPr>
          <a:lstStyle/>
          <a:p>
            <a:pPr marL="0" lvl="0">
              <a:spcBef>
                <a:spcPts val="0"/>
              </a:spcBef>
            </a:pPr>
            <a:endParaRPr lang="en-US" sz="1600" dirty="0"/>
          </a:p>
          <a:p>
            <a:pPr marL="0" lvl="0">
              <a:spcBef>
                <a:spcPts val="0"/>
              </a:spcBef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Feature Reduction Techniques: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PCA (20 components)</a:t>
            </a:r>
          </a:p>
          <a:p>
            <a:pPr>
              <a:spcBef>
                <a:spcPts val="0"/>
              </a:spcBef>
            </a:pPr>
            <a:r>
              <a:rPr lang="en-US" sz="1600" dirty="0" err="1"/>
              <a:t>SelectKBest</a:t>
            </a:r>
            <a:r>
              <a:rPr lang="en-US" sz="1600" dirty="0"/>
              <a:t> (20 features)</a:t>
            </a:r>
          </a:p>
          <a:p>
            <a:pPr marL="0">
              <a:spcBef>
                <a:spcPts val="0"/>
              </a:spcBef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Classification Models: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Random Forest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Gradient Boosting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SVM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Neural Network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KNN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Decision tree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Naïve Bayes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Logistic Regression</a:t>
            </a:r>
          </a:p>
          <a:p>
            <a:pPr marL="0">
              <a:spcBef>
                <a:spcPts val="0"/>
              </a:spcBef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Model Evaluation</a:t>
            </a:r>
          </a:p>
          <a:p>
            <a:pPr marL="0">
              <a:spcBef>
                <a:spcPts val="0"/>
              </a:spcBef>
            </a:pPr>
            <a:endParaRPr lang="en-US" sz="1600" dirty="0"/>
          </a:p>
          <a:p>
            <a:pPr marL="0">
              <a:spcBef>
                <a:spcPts val="0"/>
              </a:spcBef>
            </a:pPr>
            <a:r>
              <a:rPr lang="en-US" sz="1600" dirty="0"/>
              <a:t>Training Results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Cross-validation Scores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Performance Metrics</a:t>
            </a:r>
          </a:p>
          <a:p>
            <a:endParaRPr lang="en-US" sz="1600" dirty="0"/>
          </a:p>
          <a:p>
            <a:pPr marL="0"/>
            <a:endParaRPr lang="en-US" sz="1600" b="1" dirty="0"/>
          </a:p>
        </p:txBody>
      </p:sp>
      <p:pic>
        <p:nvPicPr>
          <p:cNvPr id="32" name="Picture 31" descr="A screenshot of a graph&#10;&#10;Description automatically generated">
            <a:extLst>
              <a:ext uri="{FF2B5EF4-FFF2-40B4-BE49-F238E27FC236}">
                <a16:creationId xmlns:a16="http://schemas.microsoft.com/office/drawing/2014/main" id="{F76B2E34-533D-4C9A-A224-1E93ED69C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133" y="0"/>
            <a:ext cx="6686867" cy="3188404"/>
          </a:xfrm>
          <a:prstGeom prst="rect">
            <a:avLst/>
          </a:prstGeom>
        </p:spPr>
      </p:pic>
      <p:pic>
        <p:nvPicPr>
          <p:cNvPr id="33" name="Picture 32" descr="A screenshot of a graph&#10;&#10;Description automatically generated">
            <a:extLst>
              <a:ext uri="{FF2B5EF4-FFF2-40B4-BE49-F238E27FC236}">
                <a16:creationId xmlns:a16="http://schemas.microsoft.com/office/drawing/2014/main" id="{FD5E4B29-54DF-479F-8536-B6C8F1F9F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049" y="3598606"/>
            <a:ext cx="6766951" cy="325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10097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8FFA-F4AF-4125-8C47-71F96E9F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9" y="732527"/>
            <a:ext cx="6647450" cy="13716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Classification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CBE0897-80F0-48D9-A0F0-DBC8AC8744A5}"/>
              </a:ext>
            </a:extLst>
          </p:cNvPr>
          <p:cNvSpPr/>
          <p:nvPr/>
        </p:nvSpPr>
        <p:spPr>
          <a:xfrm>
            <a:off x="8396172" y="4412701"/>
            <a:ext cx="823965" cy="35169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screenshot of a music player&#10;&#10;Description automatically generated">
            <a:extLst>
              <a:ext uri="{FF2B5EF4-FFF2-40B4-BE49-F238E27FC236}">
                <a16:creationId xmlns:a16="http://schemas.microsoft.com/office/drawing/2014/main" id="{C7F2F876-2A93-4B66-A201-07E796246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59" y="3061982"/>
            <a:ext cx="5377343" cy="3796018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412C3DEA-B00F-44BF-91CF-ADED9C5F1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641" y="0"/>
            <a:ext cx="5974877" cy="6858000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205B240A-A148-40DE-8B89-B93304C84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5544" y="1877951"/>
            <a:ext cx="2285434" cy="1150854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AutoNum type="arabicParenR"/>
            </a:pPr>
            <a:r>
              <a:rPr lang="en-US" sz="1400" dirty="0"/>
              <a:t>Recording Interface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AutoNum type="arabicParenR"/>
            </a:pPr>
            <a:r>
              <a:rPr lang="en-US" sz="1400" dirty="0"/>
              <a:t>Feature Visualization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AutoNum type="arabicParenR"/>
            </a:pPr>
            <a:r>
              <a:rPr lang="en-US" sz="1400" dirty="0"/>
              <a:t>Multi-model Predictions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AutoNum type="arabicParenR"/>
            </a:pPr>
            <a:r>
              <a:rPr lang="en-US" sz="1400" dirty="0"/>
              <a:t>Consensus Decision</a:t>
            </a:r>
          </a:p>
        </p:txBody>
      </p:sp>
    </p:spTree>
    <p:extLst>
      <p:ext uri="{BB962C8B-B14F-4D97-AF65-F5344CB8AC3E}">
        <p14:creationId xmlns:p14="http://schemas.microsoft.com/office/powerpoint/2010/main" val="3784832090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37F63E-75C7-40D7-8AC3-82B30BB3F475}"/>
              </a:ext>
            </a:extLst>
          </p:cNvPr>
          <p:cNvSpPr/>
          <p:nvPr/>
        </p:nvSpPr>
        <p:spPr>
          <a:xfrm>
            <a:off x="6617740" y="802955"/>
            <a:ext cx="4766330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KCL Parkinson's  Dataset Analysis</a:t>
            </a:r>
            <a:endParaRPr lang="en-US" sz="44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369"/>
            <a:ext cx="6091008" cy="6858000"/>
            <a:chOff x="305" y="-369"/>
            <a:chExt cx="6091008" cy="685800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 descr="A graph showing a number of blue squares&#10;&#10;Description automatically generated">
            <a:extLst>
              <a:ext uri="{FF2B5EF4-FFF2-40B4-BE49-F238E27FC236}">
                <a16:creationId xmlns:a16="http://schemas.microsoft.com/office/drawing/2014/main" id="{9CE83EAE-9E13-4C8D-A149-6578985CD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71" y="1938130"/>
            <a:ext cx="4091869" cy="31711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471626-CCDB-407E-83FC-EE8ED7B02BD4}"/>
              </a:ext>
            </a:extLst>
          </p:cNvPr>
          <p:cNvSpPr txBox="1"/>
          <p:nvPr/>
        </p:nvSpPr>
        <p:spPr>
          <a:xfrm>
            <a:off x="6621072" y="2421683"/>
            <a:ext cx="4765949" cy="335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chemeClr val="tx2"/>
                </a:solidFill>
              </a:rPr>
              <a:t>Parkinson’s Disease (PD) Patients: </a:t>
            </a:r>
            <a:r>
              <a:rPr lang="en-US" dirty="0">
                <a:solidFill>
                  <a:schemeClr val="tx2"/>
                </a:solidFill>
              </a:rPr>
              <a:t>X individuals (male/female distribution), with varying disease severity.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>
                <a:solidFill>
                  <a:schemeClr val="tx2"/>
                </a:solidFill>
              </a:rPr>
              <a:t>Healthy Controls (HC): </a:t>
            </a:r>
            <a:r>
              <a:rPr lang="en-US" dirty="0">
                <a:solidFill>
                  <a:schemeClr val="tx2"/>
                </a:solidFill>
              </a:rPr>
              <a:t>X individuals (male/female distribution),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Large dataset includes varied speech tasks for comprehensive analysis.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Has the Both </a:t>
            </a:r>
            <a:r>
              <a:rPr lang="en-US" dirty="0" err="1">
                <a:solidFill>
                  <a:schemeClr val="tx2"/>
                </a:solidFill>
              </a:rPr>
              <a:t>Readtext</a:t>
            </a:r>
            <a:r>
              <a:rPr lang="en-US" dirty="0">
                <a:solidFill>
                  <a:schemeClr val="tx2"/>
                </a:solidFill>
              </a:rPr>
              <a:t> and </a:t>
            </a:r>
            <a:r>
              <a:rPr lang="en-US" dirty="0" err="1">
                <a:solidFill>
                  <a:schemeClr val="tx2"/>
                </a:solidFill>
              </a:rPr>
              <a:t>SpontaneousDialogue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Number of healthy control samples: 21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Number of PD samples: 16</a:t>
            </a:r>
          </a:p>
        </p:txBody>
      </p:sp>
    </p:spTree>
    <p:extLst>
      <p:ext uri="{BB962C8B-B14F-4D97-AF65-F5344CB8AC3E}">
        <p14:creationId xmlns:p14="http://schemas.microsoft.com/office/powerpoint/2010/main" val="13077177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9" name="Rectangle 104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8FFA-F4AF-4125-8C47-71F96E9F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Model Comparison: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7F3B37C-5546-42C0-9506-34B9324E6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881" y="1847248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spcAft>
                <a:spcPts val="600"/>
              </a:spcAft>
              <a:buNone/>
            </a:pPr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RandomForest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KNN, SVM are best performing </a:t>
            </a:r>
            <a:r>
              <a:rPr lang="en-US" sz="2400" dirty="0"/>
              <a:t>Algorithms 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75% accuracy</a:t>
            </a:r>
          </a:p>
        </p:txBody>
      </p:sp>
      <p:sp>
        <p:nvSpPr>
          <p:cNvPr id="105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aph of blue rectangular bars">
            <a:extLst>
              <a:ext uri="{FF2B5EF4-FFF2-40B4-BE49-F238E27FC236}">
                <a16:creationId xmlns:a16="http://schemas.microsoft.com/office/drawing/2014/main" id="{7DCAA140-9131-4264-8D08-6BB7F92B6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508" y="2633472"/>
            <a:ext cx="7281935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58313"/>
      </p:ext>
    </p:extLst>
  </p:cSld>
  <p:clrMapOvr>
    <a:masterClrMapping/>
  </p:clrMapOvr>
  <p:transition spd="slow">
    <p:cover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8903" y="516467"/>
            <a:ext cx="7518400" cy="471365"/>
          </a:xfrm>
        </p:spPr>
        <p:txBody>
          <a:bodyPr/>
          <a:lstStyle/>
          <a:p>
            <a:r>
              <a:rPr lang="en-US" sz="4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4400" dirty="0"/>
          </a:p>
        </p:txBody>
      </p:sp>
      <p:grpSp>
        <p:nvGrpSpPr>
          <p:cNvPr id="3" name="Group 54"/>
          <p:cNvGrpSpPr/>
          <p:nvPr/>
        </p:nvGrpSpPr>
        <p:grpSpPr>
          <a:xfrm>
            <a:off x="6075267" y="3903808"/>
            <a:ext cx="2706157" cy="2014681"/>
            <a:chOff x="4568507" y="2932113"/>
            <a:chExt cx="1665606" cy="1373668"/>
          </a:xfrm>
        </p:grpSpPr>
        <p:sp>
          <p:nvSpPr>
            <p:cNvPr id="54" name="Freeform 5"/>
            <p:cNvSpPr>
              <a:spLocks/>
            </p:cNvSpPr>
            <p:nvPr/>
          </p:nvSpPr>
          <p:spPr bwMode="auto">
            <a:xfrm>
              <a:off x="4568507" y="3032606"/>
              <a:ext cx="1662113" cy="1273175"/>
            </a:xfrm>
            <a:custGeom>
              <a:avLst/>
              <a:gdLst/>
              <a:ahLst/>
              <a:cxnLst>
                <a:cxn ang="0">
                  <a:pos x="363" y="0"/>
                </a:cxn>
                <a:cxn ang="0">
                  <a:pos x="380" y="1"/>
                </a:cxn>
                <a:cxn ang="0">
                  <a:pos x="441" y="72"/>
                </a:cxn>
                <a:cxn ang="0">
                  <a:pos x="441" y="161"/>
                </a:cxn>
                <a:cxn ang="0">
                  <a:pos x="380" y="233"/>
                </a:cxn>
                <a:cxn ang="0">
                  <a:pos x="363" y="233"/>
                </a:cxn>
                <a:cxn ang="0">
                  <a:pos x="95" y="233"/>
                </a:cxn>
                <a:cxn ang="0">
                  <a:pos x="32" y="264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4"/>
                </a:cxn>
                <a:cxn ang="0">
                  <a:pos x="72" y="0"/>
                </a:cxn>
                <a:cxn ang="0">
                  <a:pos x="363" y="0"/>
                </a:cxn>
              </a:cxnLst>
              <a:rect l="0" t="0" r="r" b="b"/>
              <a:pathLst>
                <a:path w="441" h="338">
                  <a:moveTo>
                    <a:pt x="363" y="0"/>
                  </a:moveTo>
                  <a:cubicBezTo>
                    <a:pt x="369" y="0"/>
                    <a:pt x="374" y="1"/>
                    <a:pt x="380" y="1"/>
                  </a:cubicBezTo>
                  <a:cubicBezTo>
                    <a:pt x="421" y="4"/>
                    <a:pt x="441" y="28"/>
                    <a:pt x="441" y="72"/>
                  </a:cubicBezTo>
                  <a:cubicBezTo>
                    <a:pt x="441" y="161"/>
                    <a:pt x="441" y="161"/>
                    <a:pt x="441" y="161"/>
                  </a:cubicBezTo>
                  <a:cubicBezTo>
                    <a:pt x="441" y="206"/>
                    <a:pt x="421" y="229"/>
                    <a:pt x="380" y="233"/>
                  </a:cubicBezTo>
                  <a:cubicBezTo>
                    <a:pt x="374" y="233"/>
                    <a:pt x="369" y="233"/>
                    <a:pt x="363" y="233"/>
                  </a:cubicBezTo>
                  <a:cubicBezTo>
                    <a:pt x="95" y="233"/>
                    <a:pt x="95" y="233"/>
                    <a:pt x="95" y="233"/>
                  </a:cubicBezTo>
                  <a:cubicBezTo>
                    <a:pt x="71" y="236"/>
                    <a:pt x="50" y="246"/>
                    <a:pt x="32" y="264"/>
                  </a:cubicBezTo>
                  <a:cubicBezTo>
                    <a:pt x="11" y="285"/>
                    <a:pt x="0" y="310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5"/>
                    <a:pt x="7" y="26"/>
                    <a:pt x="23" y="14"/>
                  </a:cubicBezTo>
                  <a:cubicBezTo>
                    <a:pt x="35" y="5"/>
                    <a:pt x="51" y="0"/>
                    <a:pt x="72" y="0"/>
                  </a:cubicBezTo>
                  <a:lnTo>
                    <a:pt x="363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5"/>
            <p:cNvSpPr>
              <a:spLocks/>
            </p:cNvSpPr>
            <p:nvPr/>
          </p:nvSpPr>
          <p:spPr bwMode="auto">
            <a:xfrm>
              <a:off x="4572000" y="2932113"/>
              <a:ext cx="1662113" cy="1273175"/>
            </a:xfrm>
            <a:custGeom>
              <a:avLst/>
              <a:gdLst/>
              <a:ahLst/>
              <a:cxnLst>
                <a:cxn ang="0">
                  <a:pos x="363" y="0"/>
                </a:cxn>
                <a:cxn ang="0">
                  <a:pos x="380" y="1"/>
                </a:cxn>
                <a:cxn ang="0">
                  <a:pos x="441" y="72"/>
                </a:cxn>
                <a:cxn ang="0">
                  <a:pos x="441" y="161"/>
                </a:cxn>
                <a:cxn ang="0">
                  <a:pos x="380" y="233"/>
                </a:cxn>
                <a:cxn ang="0">
                  <a:pos x="363" y="233"/>
                </a:cxn>
                <a:cxn ang="0">
                  <a:pos x="95" y="233"/>
                </a:cxn>
                <a:cxn ang="0">
                  <a:pos x="32" y="264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4"/>
                </a:cxn>
                <a:cxn ang="0">
                  <a:pos x="72" y="0"/>
                </a:cxn>
                <a:cxn ang="0">
                  <a:pos x="363" y="0"/>
                </a:cxn>
              </a:cxnLst>
              <a:rect l="0" t="0" r="r" b="b"/>
              <a:pathLst>
                <a:path w="441" h="338">
                  <a:moveTo>
                    <a:pt x="363" y="0"/>
                  </a:moveTo>
                  <a:cubicBezTo>
                    <a:pt x="369" y="0"/>
                    <a:pt x="374" y="1"/>
                    <a:pt x="380" y="1"/>
                  </a:cubicBezTo>
                  <a:cubicBezTo>
                    <a:pt x="421" y="4"/>
                    <a:pt x="441" y="28"/>
                    <a:pt x="441" y="72"/>
                  </a:cubicBezTo>
                  <a:cubicBezTo>
                    <a:pt x="441" y="161"/>
                    <a:pt x="441" y="161"/>
                    <a:pt x="441" y="161"/>
                  </a:cubicBezTo>
                  <a:cubicBezTo>
                    <a:pt x="441" y="206"/>
                    <a:pt x="421" y="229"/>
                    <a:pt x="380" y="233"/>
                  </a:cubicBezTo>
                  <a:cubicBezTo>
                    <a:pt x="374" y="233"/>
                    <a:pt x="369" y="233"/>
                    <a:pt x="363" y="233"/>
                  </a:cubicBezTo>
                  <a:cubicBezTo>
                    <a:pt x="95" y="233"/>
                    <a:pt x="95" y="233"/>
                    <a:pt x="95" y="233"/>
                  </a:cubicBezTo>
                  <a:cubicBezTo>
                    <a:pt x="71" y="236"/>
                    <a:pt x="50" y="246"/>
                    <a:pt x="32" y="264"/>
                  </a:cubicBezTo>
                  <a:cubicBezTo>
                    <a:pt x="11" y="285"/>
                    <a:pt x="0" y="310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5"/>
                    <a:pt x="7" y="26"/>
                    <a:pt x="23" y="14"/>
                  </a:cubicBezTo>
                  <a:cubicBezTo>
                    <a:pt x="35" y="5"/>
                    <a:pt x="51" y="0"/>
                    <a:pt x="72" y="0"/>
                  </a:cubicBezTo>
                  <a:lnTo>
                    <a:pt x="363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lumMod val="75000"/>
                  </a:schemeClr>
                </a:gs>
                <a:gs pos="10000">
                  <a:schemeClr val="accent3"/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" name="Group 52"/>
          <p:cNvGrpSpPr/>
          <p:nvPr/>
        </p:nvGrpSpPr>
        <p:grpSpPr>
          <a:xfrm>
            <a:off x="6075267" y="2690764"/>
            <a:ext cx="4150541" cy="2002813"/>
            <a:chOff x="4568507" y="2105026"/>
            <a:chExt cx="2554606" cy="1365576"/>
          </a:xfrm>
        </p:grpSpPr>
        <p:sp>
          <p:nvSpPr>
            <p:cNvPr id="51" name="Freeform 6"/>
            <p:cNvSpPr>
              <a:spLocks/>
            </p:cNvSpPr>
            <p:nvPr/>
          </p:nvSpPr>
          <p:spPr bwMode="auto">
            <a:xfrm>
              <a:off x="4568507" y="2199014"/>
              <a:ext cx="2551113" cy="1271588"/>
            </a:xfrm>
            <a:custGeom>
              <a:avLst/>
              <a:gdLst/>
              <a:ahLst/>
              <a:cxnLst>
                <a:cxn ang="0">
                  <a:pos x="599" y="0"/>
                </a:cxn>
                <a:cxn ang="0">
                  <a:pos x="615" y="0"/>
                </a:cxn>
                <a:cxn ang="0">
                  <a:pos x="677" y="72"/>
                </a:cxn>
                <a:cxn ang="0">
                  <a:pos x="677" y="160"/>
                </a:cxn>
                <a:cxn ang="0">
                  <a:pos x="615" y="232"/>
                </a:cxn>
                <a:cxn ang="0">
                  <a:pos x="599" y="232"/>
                </a:cxn>
                <a:cxn ang="0">
                  <a:pos x="95" y="232"/>
                </a:cxn>
                <a:cxn ang="0">
                  <a:pos x="32" y="263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3"/>
                </a:cxn>
                <a:cxn ang="0">
                  <a:pos x="72" y="0"/>
                </a:cxn>
                <a:cxn ang="0">
                  <a:pos x="599" y="0"/>
                </a:cxn>
              </a:cxnLst>
              <a:rect l="0" t="0" r="r" b="b"/>
              <a:pathLst>
                <a:path w="677" h="338">
                  <a:moveTo>
                    <a:pt x="599" y="0"/>
                  </a:moveTo>
                  <a:cubicBezTo>
                    <a:pt x="604" y="0"/>
                    <a:pt x="610" y="0"/>
                    <a:pt x="615" y="0"/>
                  </a:cubicBezTo>
                  <a:cubicBezTo>
                    <a:pt x="656" y="3"/>
                    <a:pt x="677" y="27"/>
                    <a:pt x="677" y="72"/>
                  </a:cubicBezTo>
                  <a:cubicBezTo>
                    <a:pt x="677" y="160"/>
                    <a:pt x="677" y="160"/>
                    <a:pt x="677" y="160"/>
                  </a:cubicBezTo>
                  <a:cubicBezTo>
                    <a:pt x="677" y="205"/>
                    <a:pt x="656" y="229"/>
                    <a:pt x="615" y="232"/>
                  </a:cubicBezTo>
                  <a:cubicBezTo>
                    <a:pt x="610" y="232"/>
                    <a:pt x="604" y="232"/>
                    <a:pt x="599" y="232"/>
                  </a:cubicBezTo>
                  <a:cubicBezTo>
                    <a:pt x="95" y="232"/>
                    <a:pt x="95" y="232"/>
                    <a:pt x="95" y="232"/>
                  </a:cubicBezTo>
                  <a:cubicBezTo>
                    <a:pt x="71" y="235"/>
                    <a:pt x="50" y="246"/>
                    <a:pt x="32" y="263"/>
                  </a:cubicBezTo>
                  <a:cubicBezTo>
                    <a:pt x="11" y="284"/>
                    <a:pt x="0" y="309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4"/>
                    <a:pt x="7" y="25"/>
                    <a:pt x="23" y="13"/>
                  </a:cubicBezTo>
                  <a:cubicBezTo>
                    <a:pt x="35" y="4"/>
                    <a:pt x="51" y="0"/>
                    <a:pt x="72" y="0"/>
                  </a:cubicBezTo>
                  <a:lnTo>
                    <a:pt x="599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Freeform 6"/>
            <p:cNvSpPr>
              <a:spLocks/>
            </p:cNvSpPr>
            <p:nvPr/>
          </p:nvSpPr>
          <p:spPr bwMode="auto">
            <a:xfrm>
              <a:off x="4572000" y="2105026"/>
              <a:ext cx="2551113" cy="1271588"/>
            </a:xfrm>
            <a:custGeom>
              <a:avLst/>
              <a:gdLst/>
              <a:ahLst/>
              <a:cxnLst>
                <a:cxn ang="0">
                  <a:pos x="599" y="0"/>
                </a:cxn>
                <a:cxn ang="0">
                  <a:pos x="615" y="0"/>
                </a:cxn>
                <a:cxn ang="0">
                  <a:pos x="677" y="72"/>
                </a:cxn>
                <a:cxn ang="0">
                  <a:pos x="677" y="160"/>
                </a:cxn>
                <a:cxn ang="0">
                  <a:pos x="615" y="232"/>
                </a:cxn>
                <a:cxn ang="0">
                  <a:pos x="599" y="232"/>
                </a:cxn>
                <a:cxn ang="0">
                  <a:pos x="95" y="232"/>
                </a:cxn>
                <a:cxn ang="0">
                  <a:pos x="32" y="263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3"/>
                </a:cxn>
                <a:cxn ang="0">
                  <a:pos x="72" y="0"/>
                </a:cxn>
                <a:cxn ang="0">
                  <a:pos x="599" y="0"/>
                </a:cxn>
              </a:cxnLst>
              <a:rect l="0" t="0" r="r" b="b"/>
              <a:pathLst>
                <a:path w="677" h="338">
                  <a:moveTo>
                    <a:pt x="599" y="0"/>
                  </a:moveTo>
                  <a:cubicBezTo>
                    <a:pt x="604" y="0"/>
                    <a:pt x="610" y="0"/>
                    <a:pt x="615" y="0"/>
                  </a:cubicBezTo>
                  <a:cubicBezTo>
                    <a:pt x="656" y="3"/>
                    <a:pt x="677" y="27"/>
                    <a:pt x="677" y="72"/>
                  </a:cubicBezTo>
                  <a:cubicBezTo>
                    <a:pt x="677" y="160"/>
                    <a:pt x="677" y="160"/>
                    <a:pt x="677" y="160"/>
                  </a:cubicBezTo>
                  <a:cubicBezTo>
                    <a:pt x="677" y="205"/>
                    <a:pt x="656" y="229"/>
                    <a:pt x="615" y="232"/>
                  </a:cubicBezTo>
                  <a:cubicBezTo>
                    <a:pt x="610" y="232"/>
                    <a:pt x="604" y="232"/>
                    <a:pt x="599" y="232"/>
                  </a:cubicBezTo>
                  <a:cubicBezTo>
                    <a:pt x="95" y="232"/>
                    <a:pt x="95" y="232"/>
                    <a:pt x="95" y="232"/>
                  </a:cubicBezTo>
                  <a:cubicBezTo>
                    <a:pt x="71" y="235"/>
                    <a:pt x="50" y="246"/>
                    <a:pt x="32" y="263"/>
                  </a:cubicBezTo>
                  <a:cubicBezTo>
                    <a:pt x="11" y="284"/>
                    <a:pt x="0" y="309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4"/>
                    <a:pt x="7" y="25"/>
                    <a:pt x="23" y="13"/>
                  </a:cubicBezTo>
                  <a:cubicBezTo>
                    <a:pt x="35" y="4"/>
                    <a:pt x="51" y="0"/>
                    <a:pt x="72" y="0"/>
                  </a:cubicBezTo>
                  <a:lnTo>
                    <a:pt x="599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10000">
                  <a:schemeClr val="accent2"/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" name="Group 51"/>
          <p:cNvGrpSpPr/>
          <p:nvPr/>
        </p:nvGrpSpPr>
        <p:grpSpPr>
          <a:xfrm>
            <a:off x="6075267" y="1431155"/>
            <a:ext cx="3366448" cy="1997368"/>
            <a:chOff x="4568507" y="1246188"/>
            <a:chExt cx="2072006" cy="1361863"/>
          </a:xfrm>
        </p:grpSpPr>
        <p:sp>
          <p:nvSpPr>
            <p:cNvPr id="50" name="Freeform 7"/>
            <p:cNvSpPr>
              <a:spLocks/>
            </p:cNvSpPr>
            <p:nvPr/>
          </p:nvSpPr>
          <p:spPr bwMode="auto">
            <a:xfrm>
              <a:off x="4568507" y="1334876"/>
              <a:ext cx="2068513" cy="1273175"/>
            </a:xfrm>
            <a:custGeom>
              <a:avLst/>
              <a:gdLst/>
              <a:ahLst/>
              <a:cxnLst>
                <a:cxn ang="0">
                  <a:pos x="549" y="72"/>
                </a:cxn>
                <a:cxn ang="0">
                  <a:pos x="549" y="161"/>
                </a:cxn>
                <a:cxn ang="0">
                  <a:pos x="487" y="233"/>
                </a:cxn>
                <a:cxn ang="0">
                  <a:pos x="471" y="233"/>
                </a:cxn>
                <a:cxn ang="0">
                  <a:pos x="95" y="233"/>
                </a:cxn>
                <a:cxn ang="0">
                  <a:pos x="32" y="264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4"/>
                </a:cxn>
                <a:cxn ang="0">
                  <a:pos x="72" y="0"/>
                </a:cxn>
                <a:cxn ang="0">
                  <a:pos x="471" y="0"/>
                </a:cxn>
                <a:cxn ang="0">
                  <a:pos x="487" y="1"/>
                </a:cxn>
                <a:cxn ang="0">
                  <a:pos x="549" y="72"/>
                </a:cxn>
              </a:cxnLst>
              <a:rect l="0" t="0" r="r" b="b"/>
              <a:pathLst>
                <a:path w="549" h="338">
                  <a:moveTo>
                    <a:pt x="549" y="72"/>
                  </a:moveTo>
                  <a:cubicBezTo>
                    <a:pt x="549" y="161"/>
                    <a:pt x="549" y="161"/>
                    <a:pt x="549" y="161"/>
                  </a:cubicBezTo>
                  <a:cubicBezTo>
                    <a:pt x="549" y="206"/>
                    <a:pt x="528" y="229"/>
                    <a:pt x="487" y="233"/>
                  </a:cubicBezTo>
                  <a:cubicBezTo>
                    <a:pt x="482" y="233"/>
                    <a:pt x="476" y="233"/>
                    <a:pt x="471" y="233"/>
                  </a:cubicBezTo>
                  <a:cubicBezTo>
                    <a:pt x="95" y="233"/>
                    <a:pt x="95" y="233"/>
                    <a:pt x="95" y="233"/>
                  </a:cubicBezTo>
                  <a:cubicBezTo>
                    <a:pt x="71" y="236"/>
                    <a:pt x="50" y="246"/>
                    <a:pt x="32" y="264"/>
                  </a:cubicBezTo>
                  <a:cubicBezTo>
                    <a:pt x="11" y="285"/>
                    <a:pt x="0" y="310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5"/>
                    <a:pt x="7" y="26"/>
                    <a:pt x="23" y="14"/>
                  </a:cubicBezTo>
                  <a:cubicBezTo>
                    <a:pt x="35" y="5"/>
                    <a:pt x="51" y="0"/>
                    <a:pt x="72" y="0"/>
                  </a:cubicBezTo>
                  <a:cubicBezTo>
                    <a:pt x="471" y="0"/>
                    <a:pt x="471" y="0"/>
                    <a:pt x="471" y="0"/>
                  </a:cubicBezTo>
                  <a:cubicBezTo>
                    <a:pt x="476" y="0"/>
                    <a:pt x="482" y="1"/>
                    <a:pt x="487" y="1"/>
                  </a:cubicBezTo>
                  <a:cubicBezTo>
                    <a:pt x="528" y="4"/>
                    <a:pt x="549" y="28"/>
                    <a:pt x="549" y="7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Freeform 7"/>
            <p:cNvSpPr>
              <a:spLocks/>
            </p:cNvSpPr>
            <p:nvPr/>
          </p:nvSpPr>
          <p:spPr bwMode="auto">
            <a:xfrm>
              <a:off x="4572000" y="1246188"/>
              <a:ext cx="2068513" cy="1273175"/>
            </a:xfrm>
            <a:custGeom>
              <a:avLst/>
              <a:gdLst/>
              <a:ahLst/>
              <a:cxnLst>
                <a:cxn ang="0">
                  <a:pos x="549" y="72"/>
                </a:cxn>
                <a:cxn ang="0">
                  <a:pos x="549" y="161"/>
                </a:cxn>
                <a:cxn ang="0">
                  <a:pos x="487" y="233"/>
                </a:cxn>
                <a:cxn ang="0">
                  <a:pos x="471" y="233"/>
                </a:cxn>
                <a:cxn ang="0">
                  <a:pos x="95" y="233"/>
                </a:cxn>
                <a:cxn ang="0">
                  <a:pos x="32" y="264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4"/>
                </a:cxn>
                <a:cxn ang="0">
                  <a:pos x="72" y="0"/>
                </a:cxn>
                <a:cxn ang="0">
                  <a:pos x="471" y="0"/>
                </a:cxn>
                <a:cxn ang="0">
                  <a:pos x="487" y="1"/>
                </a:cxn>
                <a:cxn ang="0">
                  <a:pos x="549" y="72"/>
                </a:cxn>
              </a:cxnLst>
              <a:rect l="0" t="0" r="r" b="b"/>
              <a:pathLst>
                <a:path w="549" h="338">
                  <a:moveTo>
                    <a:pt x="549" y="72"/>
                  </a:moveTo>
                  <a:cubicBezTo>
                    <a:pt x="549" y="161"/>
                    <a:pt x="549" y="161"/>
                    <a:pt x="549" y="161"/>
                  </a:cubicBezTo>
                  <a:cubicBezTo>
                    <a:pt x="549" y="206"/>
                    <a:pt x="528" y="229"/>
                    <a:pt x="487" y="233"/>
                  </a:cubicBezTo>
                  <a:cubicBezTo>
                    <a:pt x="482" y="233"/>
                    <a:pt x="476" y="233"/>
                    <a:pt x="471" y="233"/>
                  </a:cubicBezTo>
                  <a:cubicBezTo>
                    <a:pt x="95" y="233"/>
                    <a:pt x="95" y="233"/>
                    <a:pt x="95" y="233"/>
                  </a:cubicBezTo>
                  <a:cubicBezTo>
                    <a:pt x="71" y="236"/>
                    <a:pt x="50" y="246"/>
                    <a:pt x="32" y="264"/>
                  </a:cubicBezTo>
                  <a:cubicBezTo>
                    <a:pt x="11" y="285"/>
                    <a:pt x="0" y="310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5"/>
                    <a:pt x="7" y="26"/>
                    <a:pt x="23" y="14"/>
                  </a:cubicBezTo>
                  <a:cubicBezTo>
                    <a:pt x="35" y="5"/>
                    <a:pt x="51" y="0"/>
                    <a:pt x="72" y="0"/>
                  </a:cubicBezTo>
                  <a:cubicBezTo>
                    <a:pt x="471" y="0"/>
                    <a:pt x="471" y="0"/>
                    <a:pt x="471" y="0"/>
                  </a:cubicBezTo>
                  <a:cubicBezTo>
                    <a:pt x="476" y="0"/>
                    <a:pt x="482" y="1"/>
                    <a:pt x="487" y="1"/>
                  </a:cubicBezTo>
                  <a:cubicBezTo>
                    <a:pt x="528" y="4"/>
                    <a:pt x="549" y="28"/>
                    <a:pt x="549" y="7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">
                  <a:schemeClr val="accent1"/>
                </a:gs>
              </a:gsLst>
              <a:lin ang="0" scaled="0"/>
            </a:gra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" name="Group 57"/>
          <p:cNvGrpSpPr/>
          <p:nvPr/>
        </p:nvGrpSpPr>
        <p:grpSpPr>
          <a:xfrm flipH="1">
            <a:off x="3374784" y="4486693"/>
            <a:ext cx="2706157" cy="2014681"/>
            <a:chOff x="4568507" y="2932113"/>
            <a:chExt cx="1665606" cy="1373668"/>
          </a:xfrm>
        </p:grpSpPr>
        <p:sp>
          <p:nvSpPr>
            <p:cNvPr id="65" name="Freeform 5"/>
            <p:cNvSpPr>
              <a:spLocks/>
            </p:cNvSpPr>
            <p:nvPr/>
          </p:nvSpPr>
          <p:spPr bwMode="auto">
            <a:xfrm>
              <a:off x="4568507" y="3032606"/>
              <a:ext cx="1662113" cy="1273175"/>
            </a:xfrm>
            <a:custGeom>
              <a:avLst/>
              <a:gdLst/>
              <a:ahLst/>
              <a:cxnLst>
                <a:cxn ang="0">
                  <a:pos x="363" y="0"/>
                </a:cxn>
                <a:cxn ang="0">
                  <a:pos x="380" y="1"/>
                </a:cxn>
                <a:cxn ang="0">
                  <a:pos x="441" y="72"/>
                </a:cxn>
                <a:cxn ang="0">
                  <a:pos x="441" y="161"/>
                </a:cxn>
                <a:cxn ang="0">
                  <a:pos x="380" y="233"/>
                </a:cxn>
                <a:cxn ang="0">
                  <a:pos x="363" y="233"/>
                </a:cxn>
                <a:cxn ang="0">
                  <a:pos x="95" y="233"/>
                </a:cxn>
                <a:cxn ang="0">
                  <a:pos x="32" y="264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4"/>
                </a:cxn>
                <a:cxn ang="0">
                  <a:pos x="72" y="0"/>
                </a:cxn>
                <a:cxn ang="0">
                  <a:pos x="363" y="0"/>
                </a:cxn>
              </a:cxnLst>
              <a:rect l="0" t="0" r="r" b="b"/>
              <a:pathLst>
                <a:path w="441" h="338">
                  <a:moveTo>
                    <a:pt x="363" y="0"/>
                  </a:moveTo>
                  <a:cubicBezTo>
                    <a:pt x="369" y="0"/>
                    <a:pt x="374" y="1"/>
                    <a:pt x="380" y="1"/>
                  </a:cubicBezTo>
                  <a:cubicBezTo>
                    <a:pt x="421" y="4"/>
                    <a:pt x="441" y="28"/>
                    <a:pt x="441" y="72"/>
                  </a:cubicBezTo>
                  <a:cubicBezTo>
                    <a:pt x="441" y="161"/>
                    <a:pt x="441" y="161"/>
                    <a:pt x="441" y="161"/>
                  </a:cubicBezTo>
                  <a:cubicBezTo>
                    <a:pt x="441" y="206"/>
                    <a:pt x="421" y="229"/>
                    <a:pt x="380" y="233"/>
                  </a:cubicBezTo>
                  <a:cubicBezTo>
                    <a:pt x="374" y="233"/>
                    <a:pt x="369" y="233"/>
                    <a:pt x="363" y="233"/>
                  </a:cubicBezTo>
                  <a:cubicBezTo>
                    <a:pt x="95" y="233"/>
                    <a:pt x="95" y="233"/>
                    <a:pt x="95" y="233"/>
                  </a:cubicBezTo>
                  <a:cubicBezTo>
                    <a:pt x="71" y="236"/>
                    <a:pt x="50" y="246"/>
                    <a:pt x="32" y="264"/>
                  </a:cubicBezTo>
                  <a:cubicBezTo>
                    <a:pt x="11" y="285"/>
                    <a:pt x="0" y="310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5"/>
                    <a:pt x="7" y="26"/>
                    <a:pt x="23" y="14"/>
                  </a:cubicBezTo>
                  <a:cubicBezTo>
                    <a:pt x="35" y="5"/>
                    <a:pt x="51" y="0"/>
                    <a:pt x="72" y="0"/>
                  </a:cubicBezTo>
                  <a:lnTo>
                    <a:pt x="363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667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  <a:ea typeface="+mn-ea"/>
              </a:endParaRPr>
            </a:p>
          </p:txBody>
        </p:sp>
        <p:sp>
          <p:nvSpPr>
            <p:cNvPr id="66" name="Freeform 5"/>
            <p:cNvSpPr>
              <a:spLocks/>
            </p:cNvSpPr>
            <p:nvPr/>
          </p:nvSpPr>
          <p:spPr bwMode="auto">
            <a:xfrm>
              <a:off x="4572000" y="2932113"/>
              <a:ext cx="1662113" cy="1273175"/>
            </a:xfrm>
            <a:custGeom>
              <a:avLst/>
              <a:gdLst/>
              <a:ahLst/>
              <a:cxnLst>
                <a:cxn ang="0">
                  <a:pos x="363" y="0"/>
                </a:cxn>
                <a:cxn ang="0">
                  <a:pos x="380" y="1"/>
                </a:cxn>
                <a:cxn ang="0">
                  <a:pos x="441" y="72"/>
                </a:cxn>
                <a:cxn ang="0">
                  <a:pos x="441" y="161"/>
                </a:cxn>
                <a:cxn ang="0">
                  <a:pos x="380" y="233"/>
                </a:cxn>
                <a:cxn ang="0">
                  <a:pos x="363" y="233"/>
                </a:cxn>
                <a:cxn ang="0">
                  <a:pos x="95" y="233"/>
                </a:cxn>
                <a:cxn ang="0">
                  <a:pos x="32" y="264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4"/>
                </a:cxn>
                <a:cxn ang="0">
                  <a:pos x="72" y="0"/>
                </a:cxn>
                <a:cxn ang="0">
                  <a:pos x="363" y="0"/>
                </a:cxn>
              </a:cxnLst>
              <a:rect l="0" t="0" r="r" b="b"/>
              <a:pathLst>
                <a:path w="441" h="338">
                  <a:moveTo>
                    <a:pt x="363" y="0"/>
                  </a:moveTo>
                  <a:cubicBezTo>
                    <a:pt x="369" y="0"/>
                    <a:pt x="374" y="1"/>
                    <a:pt x="380" y="1"/>
                  </a:cubicBezTo>
                  <a:cubicBezTo>
                    <a:pt x="421" y="4"/>
                    <a:pt x="441" y="28"/>
                    <a:pt x="441" y="72"/>
                  </a:cubicBezTo>
                  <a:cubicBezTo>
                    <a:pt x="441" y="161"/>
                    <a:pt x="441" y="161"/>
                    <a:pt x="441" y="161"/>
                  </a:cubicBezTo>
                  <a:cubicBezTo>
                    <a:pt x="441" y="206"/>
                    <a:pt x="421" y="229"/>
                    <a:pt x="380" y="233"/>
                  </a:cubicBezTo>
                  <a:cubicBezTo>
                    <a:pt x="374" y="233"/>
                    <a:pt x="369" y="233"/>
                    <a:pt x="363" y="233"/>
                  </a:cubicBezTo>
                  <a:cubicBezTo>
                    <a:pt x="95" y="233"/>
                    <a:pt x="95" y="233"/>
                    <a:pt x="95" y="233"/>
                  </a:cubicBezTo>
                  <a:cubicBezTo>
                    <a:pt x="71" y="236"/>
                    <a:pt x="50" y="246"/>
                    <a:pt x="32" y="264"/>
                  </a:cubicBezTo>
                  <a:cubicBezTo>
                    <a:pt x="11" y="285"/>
                    <a:pt x="0" y="310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5"/>
                    <a:pt x="7" y="26"/>
                    <a:pt x="23" y="14"/>
                  </a:cubicBezTo>
                  <a:cubicBezTo>
                    <a:pt x="35" y="5"/>
                    <a:pt x="51" y="0"/>
                    <a:pt x="72" y="0"/>
                  </a:cubicBezTo>
                  <a:lnTo>
                    <a:pt x="363" y="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667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  <a:ea typeface="+mn-ea"/>
              </a:endParaRPr>
            </a:p>
          </p:txBody>
        </p:sp>
      </p:grpSp>
      <p:grpSp>
        <p:nvGrpSpPr>
          <p:cNvPr id="8" name="Group 58"/>
          <p:cNvGrpSpPr/>
          <p:nvPr/>
        </p:nvGrpSpPr>
        <p:grpSpPr>
          <a:xfrm flipH="1">
            <a:off x="1930400" y="3273650"/>
            <a:ext cx="4150541" cy="2002813"/>
            <a:chOff x="4568507" y="2105026"/>
            <a:chExt cx="2554606" cy="1365576"/>
          </a:xfrm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4568507" y="2199014"/>
              <a:ext cx="2551113" cy="1271588"/>
            </a:xfrm>
            <a:custGeom>
              <a:avLst/>
              <a:gdLst/>
              <a:ahLst/>
              <a:cxnLst>
                <a:cxn ang="0">
                  <a:pos x="599" y="0"/>
                </a:cxn>
                <a:cxn ang="0">
                  <a:pos x="615" y="0"/>
                </a:cxn>
                <a:cxn ang="0">
                  <a:pos x="677" y="72"/>
                </a:cxn>
                <a:cxn ang="0">
                  <a:pos x="677" y="160"/>
                </a:cxn>
                <a:cxn ang="0">
                  <a:pos x="615" y="232"/>
                </a:cxn>
                <a:cxn ang="0">
                  <a:pos x="599" y="232"/>
                </a:cxn>
                <a:cxn ang="0">
                  <a:pos x="95" y="232"/>
                </a:cxn>
                <a:cxn ang="0">
                  <a:pos x="32" y="263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3"/>
                </a:cxn>
                <a:cxn ang="0">
                  <a:pos x="72" y="0"/>
                </a:cxn>
                <a:cxn ang="0">
                  <a:pos x="599" y="0"/>
                </a:cxn>
              </a:cxnLst>
              <a:rect l="0" t="0" r="r" b="b"/>
              <a:pathLst>
                <a:path w="677" h="338">
                  <a:moveTo>
                    <a:pt x="599" y="0"/>
                  </a:moveTo>
                  <a:cubicBezTo>
                    <a:pt x="604" y="0"/>
                    <a:pt x="610" y="0"/>
                    <a:pt x="615" y="0"/>
                  </a:cubicBezTo>
                  <a:cubicBezTo>
                    <a:pt x="656" y="3"/>
                    <a:pt x="677" y="27"/>
                    <a:pt x="677" y="72"/>
                  </a:cubicBezTo>
                  <a:cubicBezTo>
                    <a:pt x="677" y="160"/>
                    <a:pt x="677" y="160"/>
                    <a:pt x="677" y="160"/>
                  </a:cubicBezTo>
                  <a:cubicBezTo>
                    <a:pt x="677" y="205"/>
                    <a:pt x="656" y="229"/>
                    <a:pt x="615" y="232"/>
                  </a:cubicBezTo>
                  <a:cubicBezTo>
                    <a:pt x="610" y="232"/>
                    <a:pt x="604" y="232"/>
                    <a:pt x="599" y="232"/>
                  </a:cubicBezTo>
                  <a:cubicBezTo>
                    <a:pt x="95" y="232"/>
                    <a:pt x="95" y="232"/>
                    <a:pt x="95" y="232"/>
                  </a:cubicBezTo>
                  <a:cubicBezTo>
                    <a:pt x="71" y="235"/>
                    <a:pt x="50" y="246"/>
                    <a:pt x="32" y="263"/>
                  </a:cubicBezTo>
                  <a:cubicBezTo>
                    <a:pt x="11" y="284"/>
                    <a:pt x="0" y="309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4"/>
                    <a:pt x="7" y="25"/>
                    <a:pt x="23" y="13"/>
                  </a:cubicBezTo>
                  <a:cubicBezTo>
                    <a:pt x="35" y="4"/>
                    <a:pt x="51" y="0"/>
                    <a:pt x="72" y="0"/>
                  </a:cubicBezTo>
                  <a:lnTo>
                    <a:pt x="599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Freeform 6"/>
            <p:cNvSpPr>
              <a:spLocks/>
            </p:cNvSpPr>
            <p:nvPr/>
          </p:nvSpPr>
          <p:spPr bwMode="auto">
            <a:xfrm>
              <a:off x="4572000" y="2105026"/>
              <a:ext cx="2551113" cy="1271588"/>
            </a:xfrm>
            <a:custGeom>
              <a:avLst/>
              <a:gdLst/>
              <a:ahLst/>
              <a:cxnLst>
                <a:cxn ang="0">
                  <a:pos x="599" y="0"/>
                </a:cxn>
                <a:cxn ang="0">
                  <a:pos x="615" y="0"/>
                </a:cxn>
                <a:cxn ang="0">
                  <a:pos x="677" y="72"/>
                </a:cxn>
                <a:cxn ang="0">
                  <a:pos x="677" y="160"/>
                </a:cxn>
                <a:cxn ang="0">
                  <a:pos x="615" y="232"/>
                </a:cxn>
                <a:cxn ang="0">
                  <a:pos x="599" y="232"/>
                </a:cxn>
                <a:cxn ang="0">
                  <a:pos x="95" y="232"/>
                </a:cxn>
                <a:cxn ang="0">
                  <a:pos x="32" y="263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3"/>
                </a:cxn>
                <a:cxn ang="0">
                  <a:pos x="72" y="0"/>
                </a:cxn>
                <a:cxn ang="0">
                  <a:pos x="599" y="0"/>
                </a:cxn>
              </a:cxnLst>
              <a:rect l="0" t="0" r="r" b="b"/>
              <a:pathLst>
                <a:path w="677" h="338">
                  <a:moveTo>
                    <a:pt x="599" y="0"/>
                  </a:moveTo>
                  <a:cubicBezTo>
                    <a:pt x="604" y="0"/>
                    <a:pt x="610" y="0"/>
                    <a:pt x="615" y="0"/>
                  </a:cubicBezTo>
                  <a:cubicBezTo>
                    <a:pt x="656" y="3"/>
                    <a:pt x="677" y="27"/>
                    <a:pt x="677" y="72"/>
                  </a:cubicBezTo>
                  <a:cubicBezTo>
                    <a:pt x="677" y="160"/>
                    <a:pt x="677" y="160"/>
                    <a:pt x="677" y="160"/>
                  </a:cubicBezTo>
                  <a:cubicBezTo>
                    <a:pt x="677" y="205"/>
                    <a:pt x="656" y="229"/>
                    <a:pt x="615" y="232"/>
                  </a:cubicBezTo>
                  <a:cubicBezTo>
                    <a:pt x="610" y="232"/>
                    <a:pt x="604" y="232"/>
                    <a:pt x="599" y="232"/>
                  </a:cubicBezTo>
                  <a:cubicBezTo>
                    <a:pt x="95" y="232"/>
                    <a:pt x="95" y="232"/>
                    <a:pt x="95" y="232"/>
                  </a:cubicBezTo>
                  <a:cubicBezTo>
                    <a:pt x="71" y="235"/>
                    <a:pt x="50" y="246"/>
                    <a:pt x="32" y="263"/>
                  </a:cubicBezTo>
                  <a:cubicBezTo>
                    <a:pt x="11" y="284"/>
                    <a:pt x="0" y="309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4"/>
                    <a:pt x="7" y="25"/>
                    <a:pt x="23" y="13"/>
                  </a:cubicBezTo>
                  <a:cubicBezTo>
                    <a:pt x="35" y="4"/>
                    <a:pt x="51" y="0"/>
                    <a:pt x="72" y="0"/>
                  </a:cubicBezTo>
                  <a:lnTo>
                    <a:pt x="599" y="0"/>
                  </a:lnTo>
                  <a:close/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" name="Group 59"/>
          <p:cNvGrpSpPr/>
          <p:nvPr/>
        </p:nvGrpSpPr>
        <p:grpSpPr>
          <a:xfrm flipH="1">
            <a:off x="2714495" y="2014040"/>
            <a:ext cx="3366448" cy="1997368"/>
            <a:chOff x="4568507" y="1246188"/>
            <a:chExt cx="2072006" cy="1361863"/>
          </a:xfrm>
        </p:grpSpPr>
        <p:sp>
          <p:nvSpPr>
            <p:cNvPr id="61" name="Freeform 7"/>
            <p:cNvSpPr>
              <a:spLocks/>
            </p:cNvSpPr>
            <p:nvPr/>
          </p:nvSpPr>
          <p:spPr bwMode="auto">
            <a:xfrm>
              <a:off x="4568507" y="1334876"/>
              <a:ext cx="2068513" cy="1273175"/>
            </a:xfrm>
            <a:custGeom>
              <a:avLst/>
              <a:gdLst/>
              <a:ahLst/>
              <a:cxnLst>
                <a:cxn ang="0">
                  <a:pos x="549" y="72"/>
                </a:cxn>
                <a:cxn ang="0">
                  <a:pos x="549" y="161"/>
                </a:cxn>
                <a:cxn ang="0">
                  <a:pos x="487" y="233"/>
                </a:cxn>
                <a:cxn ang="0">
                  <a:pos x="471" y="233"/>
                </a:cxn>
                <a:cxn ang="0">
                  <a:pos x="95" y="233"/>
                </a:cxn>
                <a:cxn ang="0">
                  <a:pos x="32" y="264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4"/>
                </a:cxn>
                <a:cxn ang="0">
                  <a:pos x="72" y="0"/>
                </a:cxn>
                <a:cxn ang="0">
                  <a:pos x="471" y="0"/>
                </a:cxn>
                <a:cxn ang="0">
                  <a:pos x="487" y="1"/>
                </a:cxn>
                <a:cxn ang="0">
                  <a:pos x="549" y="72"/>
                </a:cxn>
              </a:cxnLst>
              <a:rect l="0" t="0" r="r" b="b"/>
              <a:pathLst>
                <a:path w="549" h="338">
                  <a:moveTo>
                    <a:pt x="549" y="72"/>
                  </a:moveTo>
                  <a:cubicBezTo>
                    <a:pt x="549" y="161"/>
                    <a:pt x="549" y="161"/>
                    <a:pt x="549" y="161"/>
                  </a:cubicBezTo>
                  <a:cubicBezTo>
                    <a:pt x="549" y="206"/>
                    <a:pt x="528" y="229"/>
                    <a:pt x="487" y="233"/>
                  </a:cubicBezTo>
                  <a:cubicBezTo>
                    <a:pt x="482" y="233"/>
                    <a:pt x="476" y="233"/>
                    <a:pt x="471" y="233"/>
                  </a:cubicBezTo>
                  <a:cubicBezTo>
                    <a:pt x="95" y="233"/>
                    <a:pt x="95" y="233"/>
                    <a:pt x="95" y="233"/>
                  </a:cubicBezTo>
                  <a:cubicBezTo>
                    <a:pt x="71" y="236"/>
                    <a:pt x="50" y="246"/>
                    <a:pt x="32" y="264"/>
                  </a:cubicBezTo>
                  <a:cubicBezTo>
                    <a:pt x="11" y="285"/>
                    <a:pt x="0" y="310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5"/>
                    <a:pt x="7" y="26"/>
                    <a:pt x="23" y="14"/>
                  </a:cubicBezTo>
                  <a:cubicBezTo>
                    <a:pt x="35" y="5"/>
                    <a:pt x="51" y="0"/>
                    <a:pt x="72" y="0"/>
                  </a:cubicBezTo>
                  <a:cubicBezTo>
                    <a:pt x="471" y="0"/>
                    <a:pt x="471" y="0"/>
                    <a:pt x="471" y="0"/>
                  </a:cubicBezTo>
                  <a:cubicBezTo>
                    <a:pt x="476" y="0"/>
                    <a:pt x="482" y="1"/>
                    <a:pt x="487" y="1"/>
                  </a:cubicBezTo>
                  <a:cubicBezTo>
                    <a:pt x="528" y="4"/>
                    <a:pt x="549" y="28"/>
                    <a:pt x="549" y="72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Freeform 7"/>
            <p:cNvSpPr>
              <a:spLocks/>
            </p:cNvSpPr>
            <p:nvPr/>
          </p:nvSpPr>
          <p:spPr bwMode="auto">
            <a:xfrm>
              <a:off x="4572000" y="1246188"/>
              <a:ext cx="2068513" cy="1273175"/>
            </a:xfrm>
            <a:custGeom>
              <a:avLst/>
              <a:gdLst/>
              <a:ahLst/>
              <a:cxnLst>
                <a:cxn ang="0">
                  <a:pos x="549" y="72"/>
                </a:cxn>
                <a:cxn ang="0">
                  <a:pos x="549" y="161"/>
                </a:cxn>
                <a:cxn ang="0">
                  <a:pos x="487" y="233"/>
                </a:cxn>
                <a:cxn ang="0">
                  <a:pos x="471" y="233"/>
                </a:cxn>
                <a:cxn ang="0">
                  <a:pos x="95" y="233"/>
                </a:cxn>
                <a:cxn ang="0">
                  <a:pos x="32" y="264"/>
                </a:cxn>
                <a:cxn ang="0">
                  <a:pos x="0" y="338"/>
                </a:cxn>
                <a:cxn ang="0">
                  <a:pos x="0" y="72"/>
                </a:cxn>
                <a:cxn ang="0">
                  <a:pos x="23" y="14"/>
                </a:cxn>
                <a:cxn ang="0">
                  <a:pos x="72" y="0"/>
                </a:cxn>
                <a:cxn ang="0">
                  <a:pos x="471" y="0"/>
                </a:cxn>
                <a:cxn ang="0">
                  <a:pos x="487" y="1"/>
                </a:cxn>
                <a:cxn ang="0">
                  <a:pos x="549" y="72"/>
                </a:cxn>
              </a:cxnLst>
              <a:rect l="0" t="0" r="r" b="b"/>
              <a:pathLst>
                <a:path w="549" h="338">
                  <a:moveTo>
                    <a:pt x="549" y="72"/>
                  </a:moveTo>
                  <a:cubicBezTo>
                    <a:pt x="549" y="161"/>
                    <a:pt x="549" y="161"/>
                    <a:pt x="549" y="161"/>
                  </a:cubicBezTo>
                  <a:cubicBezTo>
                    <a:pt x="549" y="206"/>
                    <a:pt x="528" y="229"/>
                    <a:pt x="487" y="233"/>
                  </a:cubicBezTo>
                  <a:cubicBezTo>
                    <a:pt x="482" y="233"/>
                    <a:pt x="476" y="233"/>
                    <a:pt x="471" y="233"/>
                  </a:cubicBezTo>
                  <a:cubicBezTo>
                    <a:pt x="95" y="233"/>
                    <a:pt x="95" y="233"/>
                    <a:pt x="95" y="233"/>
                  </a:cubicBezTo>
                  <a:cubicBezTo>
                    <a:pt x="71" y="236"/>
                    <a:pt x="50" y="246"/>
                    <a:pt x="32" y="264"/>
                  </a:cubicBezTo>
                  <a:cubicBezTo>
                    <a:pt x="11" y="285"/>
                    <a:pt x="0" y="310"/>
                    <a:pt x="0" y="33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45"/>
                    <a:pt x="7" y="26"/>
                    <a:pt x="23" y="14"/>
                  </a:cubicBezTo>
                  <a:cubicBezTo>
                    <a:pt x="35" y="5"/>
                    <a:pt x="51" y="0"/>
                    <a:pt x="72" y="0"/>
                  </a:cubicBezTo>
                  <a:cubicBezTo>
                    <a:pt x="471" y="0"/>
                    <a:pt x="471" y="0"/>
                    <a:pt x="471" y="0"/>
                  </a:cubicBezTo>
                  <a:cubicBezTo>
                    <a:pt x="476" y="0"/>
                    <a:pt x="482" y="1"/>
                    <a:pt x="487" y="1"/>
                  </a:cubicBezTo>
                  <a:cubicBezTo>
                    <a:pt x="528" y="4"/>
                    <a:pt x="549" y="28"/>
                    <a:pt x="549" y="7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3754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6586346" y="2983375"/>
            <a:ext cx="2757151" cy="9602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defTabSz="1219170"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Integration with Telemedicine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Incorporate speech analysis systems into telehealth platforms for remote and cost-effective diagnosis..</a:t>
            </a:r>
          </a:p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506101" y="2296935"/>
            <a:ext cx="2466462" cy="7755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defTabSz="1219170">
              <a:spcBef>
                <a:spcPct val="20000"/>
              </a:spcBef>
              <a:defRPr/>
            </a:pPr>
            <a:r>
              <a:rPr lang="en-IN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</a:t>
            </a:r>
            <a:r>
              <a:rPr lang="en-IN" sz="1200" b="1" dirty="0"/>
              <a:t> </a:t>
            </a:r>
            <a:r>
              <a:rPr lang="en-IN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IN" sz="1200" b="1" dirty="0"/>
              <a:t> </a:t>
            </a:r>
            <a:r>
              <a:rPr lang="en-IN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Multilingual Models</a:t>
            </a:r>
          </a:p>
          <a:p>
            <a:pPr lvl="0" defTabSz="1219170">
              <a:spcBef>
                <a:spcPct val="20000"/>
              </a:spcBef>
              <a:defRPr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language-independent frameworks to accommodate diverse linguistic populations.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495814" y="1564831"/>
            <a:ext cx="2065810" cy="11818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defTabSz="1219170"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Monitoring Tools</a:t>
            </a:r>
          </a:p>
          <a:p>
            <a:pPr lvl="0" algn="r" defTabSz="1219170">
              <a:spcBef>
                <a:spcPct val="20000"/>
              </a:spcBef>
              <a:defRPr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mobile and wearable applications for continuous speech-based monitoring of PD progression..</a:t>
            </a:r>
          </a:p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972563" y="4278042"/>
            <a:ext cx="2113596" cy="7755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defTabSz="1219170"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Personalized Treatment Plans</a:t>
            </a:r>
          </a:p>
          <a:p>
            <a:pPr lvl="0" algn="r" defTabSz="1219170">
              <a:spcBef>
                <a:spcPct val="20000"/>
              </a:spcBef>
              <a:defRPr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speech data to track individual disease progression and tailor therapeutic approaches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4008594" y="4853528"/>
            <a:ext cx="206950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defTabSz="1219170"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Diagnosis Enhancement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systems to identify pre-symptomatic markers, aiding in early intervention strategies.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Freeform 101"/>
          <p:cNvSpPr>
            <a:spLocks noEditPoints="1"/>
          </p:cNvSpPr>
          <p:nvPr/>
        </p:nvSpPr>
        <p:spPr bwMode="auto">
          <a:xfrm>
            <a:off x="2137158" y="3712520"/>
            <a:ext cx="577337" cy="382573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2"/>
          <p:cNvSpPr>
            <a:spLocks noEditPoints="1"/>
          </p:cNvSpPr>
          <p:nvPr/>
        </p:nvSpPr>
        <p:spPr bwMode="auto">
          <a:xfrm>
            <a:off x="8712200" y="1843401"/>
            <a:ext cx="570323" cy="490911"/>
          </a:xfrm>
          <a:custGeom>
            <a:avLst/>
            <a:gdLst/>
            <a:ahLst/>
            <a:cxnLst>
              <a:cxn ang="0">
                <a:pos x="73" y="47"/>
              </a:cxn>
              <a:cxn ang="0">
                <a:pos x="67" y="53"/>
              </a:cxn>
              <a:cxn ang="0">
                <a:pos x="46" y="53"/>
              </a:cxn>
              <a:cxn ang="0">
                <a:pos x="48" y="60"/>
              </a:cxn>
              <a:cxn ang="0">
                <a:pos x="46" y="63"/>
              </a:cxn>
              <a:cxn ang="0">
                <a:pos x="26" y="63"/>
              </a:cxn>
              <a:cxn ang="0">
                <a:pos x="24" y="60"/>
              </a:cxn>
              <a:cxn ang="0">
                <a:pos x="26" y="53"/>
              </a:cxn>
              <a:cxn ang="0">
                <a:pos x="6" y="53"/>
              </a:cxn>
              <a:cxn ang="0">
                <a:pos x="0" y="47"/>
              </a:cxn>
              <a:cxn ang="0">
                <a:pos x="0" y="6"/>
              </a:cxn>
              <a:cxn ang="0">
                <a:pos x="6" y="0"/>
              </a:cxn>
              <a:cxn ang="0">
                <a:pos x="67" y="0"/>
              </a:cxn>
              <a:cxn ang="0">
                <a:pos x="73" y="6"/>
              </a:cxn>
              <a:cxn ang="0">
                <a:pos x="73" y="47"/>
              </a:cxn>
              <a:cxn ang="0">
                <a:pos x="68" y="6"/>
              </a:cxn>
              <a:cxn ang="0">
                <a:pos x="67" y="5"/>
              </a:cxn>
              <a:cxn ang="0">
                <a:pos x="6" y="5"/>
              </a:cxn>
              <a:cxn ang="0">
                <a:pos x="5" y="6"/>
              </a:cxn>
              <a:cxn ang="0">
                <a:pos x="5" y="37"/>
              </a:cxn>
              <a:cxn ang="0">
                <a:pos x="6" y="39"/>
              </a:cxn>
              <a:cxn ang="0">
                <a:pos x="67" y="39"/>
              </a:cxn>
              <a:cxn ang="0">
                <a:pos x="68" y="37"/>
              </a:cxn>
              <a:cxn ang="0">
                <a:pos x="68" y="6"/>
              </a:cxn>
            </a:cxnLst>
            <a:rect l="0" t="0" r="r" b="b"/>
            <a:pathLst>
              <a:path w="73" h="63">
                <a:moveTo>
                  <a:pt x="73" y="47"/>
                </a:moveTo>
                <a:cubicBezTo>
                  <a:pt x="73" y="50"/>
                  <a:pt x="70" y="53"/>
                  <a:pt x="67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6" y="56"/>
                  <a:pt x="48" y="59"/>
                  <a:pt x="48" y="60"/>
                </a:cubicBezTo>
                <a:cubicBezTo>
                  <a:pt x="48" y="62"/>
                  <a:pt x="47" y="63"/>
                  <a:pt x="46" y="63"/>
                </a:cubicBezTo>
                <a:cubicBezTo>
                  <a:pt x="26" y="63"/>
                  <a:pt x="26" y="63"/>
                  <a:pt x="26" y="63"/>
                </a:cubicBezTo>
                <a:cubicBezTo>
                  <a:pt x="25" y="63"/>
                  <a:pt x="24" y="62"/>
                  <a:pt x="24" y="60"/>
                </a:cubicBezTo>
                <a:cubicBezTo>
                  <a:pt x="24" y="59"/>
                  <a:pt x="26" y="56"/>
                  <a:pt x="26" y="53"/>
                </a:cubicBezTo>
                <a:cubicBezTo>
                  <a:pt x="6" y="53"/>
                  <a:pt x="6" y="53"/>
                  <a:pt x="6" y="53"/>
                </a:cubicBezTo>
                <a:cubicBezTo>
                  <a:pt x="2" y="53"/>
                  <a:pt x="0" y="50"/>
                  <a:pt x="0" y="4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2" y="0"/>
                  <a:pt x="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0" y="0"/>
                  <a:pt x="73" y="2"/>
                  <a:pt x="73" y="6"/>
                </a:cubicBezTo>
                <a:lnTo>
                  <a:pt x="73" y="47"/>
                </a:lnTo>
                <a:close/>
                <a:moveTo>
                  <a:pt x="68" y="6"/>
                </a:moveTo>
                <a:cubicBezTo>
                  <a:pt x="68" y="5"/>
                  <a:pt x="67" y="5"/>
                  <a:pt x="67" y="5"/>
                </a:cubicBezTo>
                <a:cubicBezTo>
                  <a:pt x="6" y="5"/>
                  <a:pt x="6" y="5"/>
                  <a:pt x="6" y="5"/>
                </a:cubicBezTo>
                <a:cubicBezTo>
                  <a:pt x="5" y="5"/>
                  <a:pt x="5" y="5"/>
                  <a:pt x="5" y="6"/>
                </a:cubicBezTo>
                <a:cubicBezTo>
                  <a:pt x="5" y="37"/>
                  <a:pt x="5" y="37"/>
                  <a:pt x="5" y="37"/>
                </a:cubicBezTo>
                <a:cubicBezTo>
                  <a:pt x="5" y="38"/>
                  <a:pt x="5" y="39"/>
                  <a:pt x="6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8" y="38"/>
                  <a:pt x="68" y="37"/>
                </a:cubicBezTo>
                <a:lnTo>
                  <a:pt x="68" y="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Freeform 86"/>
          <p:cNvSpPr>
            <a:spLocks noEditPoints="1"/>
          </p:cNvSpPr>
          <p:nvPr/>
        </p:nvSpPr>
        <p:spPr bwMode="auto">
          <a:xfrm>
            <a:off x="3580671" y="4889463"/>
            <a:ext cx="359620" cy="605072"/>
          </a:xfrm>
          <a:custGeom>
            <a:avLst/>
            <a:gdLst/>
            <a:ahLst/>
            <a:cxnLst>
              <a:cxn ang="0">
                <a:pos x="29" y="44"/>
              </a:cxn>
              <a:cxn ang="0">
                <a:pos x="24" y="49"/>
              </a:cxn>
              <a:cxn ang="0">
                <a:pos x="5" y="49"/>
              </a:cxn>
              <a:cxn ang="0">
                <a:pos x="0" y="44"/>
              </a:cxn>
              <a:cxn ang="0">
                <a:pos x="0" y="5"/>
              </a:cxn>
              <a:cxn ang="0">
                <a:pos x="5" y="0"/>
              </a:cxn>
              <a:cxn ang="0">
                <a:pos x="24" y="0"/>
              </a:cxn>
              <a:cxn ang="0">
                <a:pos x="29" y="5"/>
              </a:cxn>
              <a:cxn ang="0">
                <a:pos x="29" y="44"/>
              </a:cxn>
              <a:cxn ang="0">
                <a:pos x="25" y="11"/>
              </a:cxn>
              <a:cxn ang="0">
                <a:pos x="24" y="10"/>
              </a:cxn>
              <a:cxn ang="0">
                <a:pos x="5" y="10"/>
              </a:cxn>
              <a:cxn ang="0">
                <a:pos x="3" y="11"/>
              </a:cxn>
              <a:cxn ang="0">
                <a:pos x="3" y="38"/>
              </a:cxn>
              <a:cxn ang="0">
                <a:pos x="5" y="39"/>
              </a:cxn>
              <a:cxn ang="0">
                <a:pos x="24" y="39"/>
              </a:cxn>
              <a:cxn ang="0">
                <a:pos x="25" y="38"/>
              </a:cxn>
              <a:cxn ang="0">
                <a:pos x="25" y="11"/>
              </a:cxn>
              <a:cxn ang="0">
                <a:pos x="17" y="5"/>
              </a:cxn>
              <a:cxn ang="0">
                <a:pos x="11" y="5"/>
              </a:cxn>
              <a:cxn ang="0">
                <a:pos x="11" y="6"/>
              </a:cxn>
              <a:cxn ang="0">
                <a:pos x="11" y="6"/>
              </a:cxn>
              <a:cxn ang="0">
                <a:pos x="17" y="6"/>
              </a:cxn>
              <a:cxn ang="0">
                <a:pos x="18" y="6"/>
              </a:cxn>
              <a:cxn ang="0">
                <a:pos x="17" y="5"/>
              </a:cxn>
              <a:cxn ang="0">
                <a:pos x="14" y="41"/>
              </a:cxn>
              <a:cxn ang="0">
                <a:pos x="11" y="44"/>
              </a:cxn>
              <a:cxn ang="0">
                <a:pos x="14" y="47"/>
              </a:cxn>
              <a:cxn ang="0">
                <a:pos x="17" y="44"/>
              </a:cxn>
              <a:cxn ang="0">
                <a:pos x="14" y="41"/>
              </a:cxn>
            </a:cxnLst>
            <a:rect l="0" t="0" r="r" b="b"/>
            <a:pathLst>
              <a:path w="29" h="49">
                <a:moveTo>
                  <a:pt x="29" y="44"/>
                </a:moveTo>
                <a:cubicBezTo>
                  <a:pt x="29" y="47"/>
                  <a:pt x="27" y="49"/>
                  <a:pt x="24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0"/>
                  <a:pt x="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7" y="0"/>
                  <a:pt x="29" y="3"/>
                  <a:pt x="29" y="5"/>
                </a:cubicBezTo>
                <a:lnTo>
                  <a:pt x="29" y="44"/>
                </a:lnTo>
                <a:close/>
                <a:moveTo>
                  <a:pt x="25" y="11"/>
                </a:moveTo>
                <a:cubicBezTo>
                  <a:pt x="25" y="11"/>
                  <a:pt x="25" y="10"/>
                  <a:pt x="24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9"/>
                  <a:pt x="4" y="39"/>
                  <a:pt x="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5" y="39"/>
                  <a:pt x="25" y="39"/>
                  <a:pt x="25" y="38"/>
                </a:cubicBezTo>
                <a:lnTo>
                  <a:pt x="25" y="11"/>
                </a:lnTo>
                <a:close/>
                <a:moveTo>
                  <a:pt x="17" y="5"/>
                </a:move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5"/>
                  <a:pt x="17" y="5"/>
                </a:cubicBezTo>
                <a:close/>
                <a:moveTo>
                  <a:pt x="14" y="41"/>
                </a:moveTo>
                <a:cubicBezTo>
                  <a:pt x="13" y="41"/>
                  <a:pt x="11" y="42"/>
                  <a:pt x="11" y="44"/>
                </a:cubicBezTo>
                <a:cubicBezTo>
                  <a:pt x="11" y="46"/>
                  <a:pt x="13" y="47"/>
                  <a:pt x="14" y="47"/>
                </a:cubicBezTo>
                <a:cubicBezTo>
                  <a:pt x="16" y="47"/>
                  <a:pt x="17" y="46"/>
                  <a:pt x="17" y="44"/>
                </a:cubicBezTo>
                <a:cubicBezTo>
                  <a:pt x="17" y="42"/>
                  <a:pt x="16" y="41"/>
                  <a:pt x="14" y="4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107"/>
          <p:cNvSpPr>
            <a:spLocks noEditPoints="1"/>
          </p:cNvSpPr>
          <p:nvPr/>
        </p:nvSpPr>
        <p:spPr bwMode="auto">
          <a:xfrm>
            <a:off x="8116901" y="4375892"/>
            <a:ext cx="509153" cy="516376"/>
          </a:xfrm>
          <a:custGeom>
            <a:avLst/>
            <a:gdLst/>
            <a:ahLst/>
            <a:cxnLst>
              <a:cxn ang="0">
                <a:pos x="64" y="14"/>
              </a:cxn>
              <a:cxn ang="0">
                <a:pos x="12" y="65"/>
              </a:cxn>
              <a:cxn ang="0">
                <a:pos x="10" y="66"/>
              </a:cxn>
              <a:cxn ang="0">
                <a:pos x="8" y="65"/>
              </a:cxn>
              <a:cxn ang="0">
                <a:pos x="0" y="57"/>
              </a:cxn>
              <a:cxn ang="0">
                <a:pos x="0" y="56"/>
              </a:cxn>
              <a:cxn ang="0">
                <a:pos x="0" y="54"/>
              </a:cxn>
              <a:cxn ang="0">
                <a:pos x="52" y="2"/>
              </a:cxn>
              <a:cxn ang="0">
                <a:pos x="54" y="1"/>
              </a:cxn>
              <a:cxn ang="0">
                <a:pos x="56" y="2"/>
              </a:cxn>
              <a:cxn ang="0">
                <a:pos x="64" y="10"/>
              </a:cxn>
              <a:cxn ang="0">
                <a:pos x="64" y="12"/>
              </a:cxn>
              <a:cxn ang="0">
                <a:pos x="64" y="14"/>
              </a:cxn>
              <a:cxn ang="0">
                <a:pos x="14" y="5"/>
              </a:cxn>
              <a:cxn ang="0">
                <a:pos x="10" y="7"/>
              </a:cxn>
              <a:cxn ang="0">
                <a:pos x="9" y="11"/>
              </a:cxn>
              <a:cxn ang="0">
                <a:pos x="8" y="7"/>
              </a:cxn>
              <a:cxn ang="0">
                <a:pos x="4" y="5"/>
              </a:cxn>
              <a:cxn ang="0">
                <a:pos x="8" y="4"/>
              </a:cxn>
              <a:cxn ang="0">
                <a:pos x="9" y="0"/>
              </a:cxn>
              <a:cxn ang="0">
                <a:pos x="10" y="4"/>
              </a:cxn>
              <a:cxn ang="0">
                <a:pos x="14" y="5"/>
              </a:cxn>
              <a:cxn ang="0">
                <a:pos x="32" y="13"/>
              </a:cxn>
              <a:cxn ang="0">
                <a:pos x="24" y="16"/>
              </a:cxn>
              <a:cxn ang="0">
                <a:pos x="22" y="23"/>
              </a:cxn>
              <a:cxn ang="0">
                <a:pos x="19" y="16"/>
              </a:cxn>
              <a:cxn ang="0">
                <a:pos x="11" y="13"/>
              </a:cxn>
              <a:cxn ang="0">
                <a:pos x="19" y="11"/>
              </a:cxn>
              <a:cxn ang="0">
                <a:pos x="22" y="3"/>
              </a:cxn>
              <a:cxn ang="0">
                <a:pos x="24" y="11"/>
              </a:cxn>
              <a:cxn ang="0">
                <a:pos x="32" y="13"/>
              </a:cxn>
              <a:cxn ang="0">
                <a:pos x="40" y="5"/>
              </a:cxn>
              <a:cxn ang="0">
                <a:pos x="36" y="7"/>
              </a:cxn>
              <a:cxn ang="0">
                <a:pos x="34" y="11"/>
              </a:cxn>
              <a:cxn ang="0">
                <a:pos x="33" y="7"/>
              </a:cxn>
              <a:cxn ang="0">
                <a:pos x="29" y="5"/>
              </a:cxn>
              <a:cxn ang="0">
                <a:pos x="33" y="4"/>
              </a:cxn>
              <a:cxn ang="0">
                <a:pos x="34" y="0"/>
              </a:cxn>
              <a:cxn ang="0">
                <a:pos x="36" y="4"/>
              </a:cxn>
              <a:cxn ang="0">
                <a:pos x="40" y="5"/>
              </a:cxn>
              <a:cxn ang="0">
                <a:pos x="58" y="12"/>
              </a:cxn>
              <a:cxn ang="0">
                <a:pos x="54" y="8"/>
              </a:cxn>
              <a:cxn ang="0">
                <a:pos x="42" y="19"/>
              </a:cxn>
              <a:cxn ang="0">
                <a:pos x="46" y="24"/>
              </a:cxn>
              <a:cxn ang="0">
                <a:pos x="58" y="12"/>
              </a:cxn>
              <a:cxn ang="0">
                <a:pos x="65" y="31"/>
              </a:cxn>
              <a:cxn ang="0">
                <a:pos x="61" y="32"/>
              </a:cxn>
              <a:cxn ang="0">
                <a:pos x="60" y="36"/>
              </a:cxn>
              <a:cxn ang="0">
                <a:pos x="59" y="32"/>
              </a:cxn>
              <a:cxn ang="0">
                <a:pos x="55" y="31"/>
              </a:cxn>
              <a:cxn ang="0">
                <a:pos x="59" y="30"/>
              </a:cxn>
              <a:cxn ang="0">
                <a:pos x="60" y="26"/>
              </a:cxn>
              <a:cxn ang="0">
                <a:pos x="61" y="30"/>
              </a:cxn>
              <a:cxn ang="0">
                <a:pos x="65" y="31"/>
              </a:cxn>
            </a:cxnLst>
            <a:rect l="0" t="0" r="r" b="b"/>
            <a:pathLst>
              <a:path w="65" h="66">
                <a:moveTo>
                  <a:pt x="64" y="14"/>
                </a:moveTo>
                <a:cubicBezTo>
                  <a:pt x="12" y="65"/>
                  <a:pt x="12" y="65"/>
                  <a:pt x="12" y="65"/>
                </a:cubicBezTo>
                <a:cubicBezTo>
                  <a:pt x="11" y="66"/>
                  <a:pt x="11" y="66"/>
                  <a:pt x="10" y="66"/>
                </a:cubicBezTo>
                <a:cubicBezTo>
                  <a:pt x="9" y="66"/>
                  <a:pt x="9" y="66"/>
                  <a:pt x="8" y="65"/>
                </a:cubicBezTo>
                <a:cubicBezTo>
                  <a:pt x="0" y="57"/>
                  <a:pt x="0" y="57"/>
                  <a:pt x="0" y="57"/>
                </a:cubicBezTo>
                <a:cubicBezTo>
                  <a:pt x="0" y="57"/>
                  <a:pt x="0" y="56"/>
                  <a:pt x="0" y="56"/>
                </a:cubicBezTo>
                <a:cubicBezTo>
                  <a:pt x="0" y="55"/>
                  <a:pt x="0" y="54"/>
                  <a:pt x="0" y="54"/>
                </a:cubicBezTo>
                <a:cubicBezTo>
                  <a:pt x="52" y="2"/>
                  <a:pt x="52" y="2"/>
                  <a:pt x="52" y="2"/>
                </a:cubicBezTo>
                <a:cubicBezTo>
                  <a:pt x="52" y="2"/>
                  <a:pt x="53" y="1"/>
                  <a:pt x="54" y="1"/>
                </a:cubicBezTo>
                <a:cubicBezTo>
                  <a:pt x="54" y="1"/>
                  <a:pt x="55" y="2"/>
                  <a:pt x="56" y="2"/>
                </a:cubicBezTo>
                <a:cubicBezTo>
                  <a:pt x="64" y="10"/>
                  <a:pt x="64" y="10"/>
                  <a:pt x="64" y="10"/>
                </a:cubicBezTo>
                <a:cubicBezTo>
                  <a:pt x="64" y="11"/>
                  <a:pt x="64" y="11"/>
                  <a:pt x="64" y="12"/>
                </a:cubicBezTo>
                <a:cubicBezTo>
                  <a:pt x="64" y="13"/>
                  <a:pt x="64" y="13"/>
                  <a:pt x="64" y="14"/>
                </a:cubicBezTo>
                <a:close/>
                <a:moveTo>
                  <a:pt x="14" y="5"/>
                </a:moveTo>
                <a:cubicBezTo>
                  <a:pt x="10" y="7"/>
                  <a:pt x="10" y="7"/>
                  <a:pt x="10" y="7"/>
                </a:cubicBezTo>
                <a:cubicBezTo>
                  <a:pt x="9" y="11"/>
                  <a:pt x="9" y="11"/>
                  <a:pt x="9" y="11"/>
                </a:cubicBezTo>
                <a:cubicBezTo>
                  <a:pt x="8" y="7"/>
                  <a:pt x="8" y="7"/>
                  <a:pt x="8" y="7"/>
                </a:cubicBezTo>
                <a:cubicBezTo>
                  <a:pt x="4" y="5"/>
                  <a:pt x="4" y="5"/>
                  <a:pt x="4" y="5"/>
                </a:cubicBezTo>
                <a:cubicBezTo>
                  <a:pt x="8" y="4"/>
                  <a:pt x="8" y="4"/>
                  <a:pt x="8" y="4"/>
                </a:cubicBezTo>
                <a:cubicBezTo>
                  <a:pt x="9" y="0"/>
                  <a:pt x="9" y="0"/>
                  <a:pt x="9" y="0"/>
                </a:cubicBezTo>
                <a:cubicBezTo>
                  <a:pt x="10" y="4"/>
                  <a:pt x="10" y="4"/>
                  <a:pt x="10" y="4"/>
                </a:cubicBezTo>
                <a:lnTo>
                  <a:pt x="14" y="5"/>
                </a:lnTo>
                <a:close/>
                <a:moveTo>
                  <a:pt x="32" y="13"/>
                </a:moveTo>
                <a:cubicBezTo>
                  <a:pt x="24" y="16"/>
                  <a:pt x="24" y="16"/>
                  <a:pt x="24" y="16"/>
                </a:cubicBezTo>
                <a:cubicBezTo>
                  <a:pt x="22" y="23"/>
                  <a:pt x="22" y="23"/>
                  <a:pt x="22" y="23"/>
                </a:cubicBezTo>
                <a:cubicBezTo>
                  <a:pt x="19" y="16"/>
                  <a:pt x="19" y="16"/>
                  <a:pt x="19" y="16"/>
                </a:cubicBezTo>
                <a:cubicBezTo>
                  <a:pt x="11" y="13"/>
                  <a:pt x="11" y="13"/>
                  <a:pt x="11" y="13"/>
                </a:cubicBezTo>
                <a:cubicBezTo>
                  <a:pt x="19" y="11"/>
                  <a:pt x="19" y="11"/>
                  <a:pt x="19" y="11"/>
                </a:cubicBezTo>
                <a:cubicBezTo>
                  <a:pt x="22" y="3"/>
                  <a:pt x="22" y="3"/>
                  <a:pt x="22" y="3"/>
                </a:cubicBezTo>
                <a:cubicBezTo>
                  <a:pt x="24" y="11"/>
                  <a:pt x="24" y="11"/>
                  <a:pt x="24" y="11"/>
                </a:cubicBezTo>
                <a:lnTo>
                  <a:pt x="32" y="13"/>
                </a:lnTo>
                <a:close/>
                <a:moveTo>
                  <a:pt x="40" y="5"/>
                </a:moveTo>
                <a:cubicBezTo>
                  <a:pt x="36" y="7"/>
                  <a:pt x="36" y="7"/>
                  <a:pt x="36" y="7"/>
                </a:cubicBezTo>
                <a:cubicBezTo>
                  <a:pt x="34" y="11"/>
                  <a:pt x="34" y="11"/>
                  <a:pt x="34" y="11"/>
                </a:cubicBezTo>
                <a:cubicBezTo>
                  <a:pt x="33" y="7"/>
                  <a:pt x="33" y="7"/>
                  <a:pt x="33" y="7"/>
                </a:cubicBezTo>
                <a:cubicBezTo>
                  <a:pt x="29" y="5"/>
                  <a:pt x="29" y="5"/>
                  <a:pt x="29" y="5"/>
                </a:cubicBezTo>
                <a:cubicBezTo>
                  <a:pt x="33" y="4"/>
                  <a:pt x="33" y="4"/>
                  <a:pt x="33" y="4"/>
                </a:cubicBezTo>
                <a:cubicBezTo>
                  <a:pt x="34" y="0"/>
                  <a:pt x="34" y="0"/>
                  <a:pt x="34" y="0"/>
                </a:cubicBezTo>
                <a:cubicBezTo>
                  <a:pt x="36" y="4"/>
                  <a:pt x="36" y="4"/>
                  <a:pt x="36" y="4"/>
                </a:cubicBezTo>
                <a:lnTo>
                  <a:pt x="40" y="5"/>
                </a:lnTo>
                <a:close/>
                <a:moveTo>
                  <a:pt x="58" y="12"/>
                </a:moveTo>
                <a:cubicBezTo>
                  <a:pt x="54" y="8"/>
                  <a:pt x="54" y="8"/>
                  <a:pt x="54" y="8"/>
                </a:cubicBezTo>
                <a:cubicBezTo>
                  <a:pt x="42" y="19"/>
                  <a:pt x="42" y="19"/>
                  <a:pt x="42" y="19"/>
                </a:cubicBezTo>
                <a:cubicBezTo>
                  <a:pt x="46" y="24"/>
                  <a:pt x="46" y="24"/>
                  <a:pt x="46" y="24"/>
                </a:cubicBezTo>
                <a:lnTo>
                  <a:pt x="58" y="12"/>
                </a:lnTo>
                <a:close/>
                <a:moveTo>
                  <a:pt x="65" y="31"/>
                </a:moveTo>
                <a:cubicBezTo>
                  <a:pt x="61" y="32"/>
                  <a:pt x="61" y="32"/>
                  <a:pt x="61" y="32"/>
                </a:cubicBezTo>
                <a:cubicBezTo>
                  <a:pt x="60" y="36"/>
                  <a:pt x="60" y="36"/>
                  <a:pt x="60" y="36"/>
                </a:cubicBezTo>
                <a:cubicBezTo>
                  <a:pt x="59" y="32"/>
                  <a:pt x="59" y="32"/>
                  <a:pt x="59" y="32"/>
                </a:cubicBezTo>
                <a:cubicBezTo>
                  <a:pt x="55" y="31"/>
                  <a:pt x="55" y="31"/>
                  <a:pt x="55" y="31"/>
                </a:cubicBezTo>
                <a:cubicBezTo>
                  <a:pt x="59" y="30"/>
                  <a:pt x="59" y="30"/>
                  <a:pt x="59" y="30"/>
                </a:cubicBezTo>
                <a:cubicBezTo>
                  <a:pt x="60" y="26"/>
                  <a:pt x="60" y="26"/>
                  <a:pt x="60" y="26"/>
                </a:cubicBezTo>
                <a:cubicBezTo>
                  <a:pt x="61" y="30"/>
                  <a:pt x="61" y="30"/>
                  <a:pt x="61" y="30"/>
                </a:cubicBezTo>
                <a:lnTo>
                  <a:pt x="65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Freeform 144"/>
          <p:cNvSpPr>
            <a:spLocks noEditPoints="1"/>
          </p:cNvSpPr>
          <p:nvPr/>
        </p:nvSpPr>
        <p:spPr bwMode="auto">
          <a:xfrm>
            <a:off x="2966017" y="2501118"/>
            <a:ext cx="437380" cy="379292"/>
          </a:xfrm>
          <a:custGeom>
            <a:avLst/>
            <a:gdLst/>
            <a:ahLst/>
            <a:cxnLst>
              <a:cxn ang="0">
                <a:pos x="59" y="26"/>
              </a:cxn>
              <a:cxn ang="0">
                <a:pos x="57" y="28"/>
              </a:cxn>
              <a:cxn ang="0">
                <a:pos x="20" y="32"/>
              </a:cxn>
              <a:cxn ang="0">
                <a:pos x="20" y="35"/>
              </a:cxn>
              <a:cxn ang="0">
                <a:pos x="19" y="37"/>
              </a:cxn>
              <a:cxn ang="0">
                <a:pos x="52" y="37"/>
              </a:cxn>
              <a:cxn ang="0">
                <a:pos x="55" y="39"/>
              </a:cxn>
              <a:cxn ang="0">
                <a:pos x="52" y="42"/>
              </a:cxn>
              <a:cxn ang="0">
                <a:pos x="16" y="42"/>
              </a:cxn>
              <a:cxn ang="0">
                <a:pos x="13" y="39"/>
              </a:cxn>
              <a:cxn ang="0">
                <a:pos x="16" y="34"/>
              </a:cxn>
              <a:cxn ang="0">
                <a:pos x="9" y="5"/>
              </a:cxn>
              <a:cxn ang="0">
                <a:pos x="2" y="5"/>
              </a:cxn>
              <a:cxn ang="0">
                <a:pos x="0" y="3"/>
              </a:cxn>
              <a:cxn ang="0">
                <a:pos x="2" y="0"/>
              </a:cxn>
              <a:cxn ang="0">
                <a:pos x="11" y="0"/>
              </a:cxn>
              <a:cxn ang="0">
                <a:pos x="14" y="5"/>
              </a:cxn>
              <a:cxn ang="0">
                <a:pos x="57" y="5"/>
              </a:cxn>
              <a:cxn ang="0">
                <a:pos x="59" y="7"/>
              </a:cxn>
              <a:cxn ang="0">
                <a:pos x="59" y="26"/>
              </a:cxn>
              <a:cxn ang="0">
                <a:pos x="18" y="51"/>
              </a:cxn>
              <a:cxn ang="0">
                <a:pos x="13" y="46"/>
              </a:cxn>
              <a:cxn ang="0">
                <a:pos x="18" y="42"/>
              </a:cxn>
              <a:cxn ang="0">
                <a:pos x="23" y="46"/>
              </a:cxn>
              <a:cxn ang="0">
                <a:pos x="18" y="51"/>
              </a:cxn>
              <a:cxn ang="0">
                <a:pos x="50" y="51"/>
              </a:cxn>
              <a:cxn ang="0">
                <a:pos x="45" y="46"/>
              </a:cxn>
              <a:cxn ang="0">
                <a:pos x="50" y="42"/>
              </a:cxn>
              <a:cxn ang="0">
                <a:pos x="55" y="46"/>
              </a:cxn>
              <a:cxn ang="0">
                <a:pos x="50" y="51"/>
              </a:cxn>
            </a:cxnLst>
            <a:rect l="0" t="0" r="r" b="b"/>
            <a:pathLst>
              <a:path w="59" h="51">
                <a:moveTo>
                  <a:pt x="59" y="26"/>
                </a:moveTo>
                <a:cubicBezTo>
                  <a:pt x="59" y="27"/>
                  <a:pt x="58" y="28"/>
                  <a:pt x="57" y="28"/>
                </a:cubicBezTo>
                <a:cubicBezTo>
                  <a:pt x="20" y="32"/>
                  <a:pt x="20" y="32"/>
                  <a:pt x="20" y="32"/>
                </a:cubicBezTo>
                <a:cubicBezTo>
                  <a:pt x="20" y="33"/>
                  <a:pt x="20" y="34"/>
                  <a:pt x="20" y="35"/>
                </a:cubicBezTo>
                <a:cubicBezTo>
                  <a:pt x="20" y="36"/>
                  <a:pt x="20" y="36"/>
                  <a:pt x="19" y="37"/>
                </a:cubicBezTo>
                <a:cubicBezTo>
                  <a:pt x="52" y="37"/>
                  <a:pt x="52" y="37"/>
                  <a:pt x="52" y="37"/>
                </a:cubicBezTo>
                <a:cubicBezTo>
                  <a:pt x="54" y="37"/>
                  <a:pt x="55" y="38"/>
                  <a:pt x="55" y="39"/>
                </a:cubicBezTo>
                <a:cubicBezTo>
                  <a:pt x="55" y="41"/>
                  <a:pt x="54" y="42"/>
                  <a:pt x="52" y="42"/>
                </a:cubicBezTo>
                <a:cubicBezTo>
                  <a:pt x="16" y="42"/>
                  <a:pt x="16" y="42"/>
                  <a:pt x="16" y="42"/>
                </a:cubicBezTo>
                <a:cubicBezTo>
                  <a:pt x="15" y="42"/>
                  <a:pt x="13" y="41"/>
                  <a:pt x="13" y="39"/>
                </a:cubicBezTo>
                <a:cubicBezTo>
                  <a:pt x="13" y="38"/>
                  <a:pt x="15" y="35"/>
                  <a:pt x="16" y="34"/>
                </a:cubicBezTo>
                <a:cubicBezTo>
                  <a:pt x="9" y="5"/>
                  <a:pt x="9" y="5"/>
                  <a:pt x="9" y="5"/>
                </a:cubicBezTo>
                <a:cubicBezTo>
                  <a:pt x="2" y="5"/>
                  <a:pt x="2" y="5"/>
                  <a:pt x="2" y="5"/>
                </a:cubicBezTo>
                <a:cubicBezTo>
                  <a:pt x="1" y="5"/>
                  <a:pt x="0" y="4"/>
                  <a:pt x="0" y="3"/>
                </a:cubicBezTo>
                <a:cubicBezTo>
                  <a:pt x="0" y="2"/>
                  <a:pt x="1" y="0"/>
                  <a:pt x="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4" y="0"/>
                  <a:pt x="14" y="3"/>
                  <a:pt x="14" y="5"/>
                </a:cubicBezTo>
                <a:cubicBezTo>
                  <a:pt x="57" y="5"/>
                  <a:pt x="57" y="5"/>
                  <a:pt x="57" y="5"/>
                </a:cubicBezTo>
                <a:cubicBezTo>
                  <a:pt x="58" y="5"/>
                  <a:pt x="59" y="6"/>
                  <a:pt x="59" y="7"/>
                </a:cubicBezTo>
                <a:lnTo>
                  <a:pt x="59" y="26"/>
                </a:lnTo>
                <a:close/>
                <a:moveTo>
                  <a:pt x="18" y="51"/>
                </a:moveTo>
                <a:cubicBezTo>
                  <a:pt x="16" y="51"/>
                  <a:pt x="13" y="49"/>
                  <a:pt x="13" y="46"/>
                </a:cubicBezTo>
                <a:cubicBezTo>
                  <a:pt x="13" y="44"/>
                  <a:pt x="16" y="42"/>
                  <a:pt x="18" y="42"/>
                </a:cubicBezTo>
                <a:cubicBezTo>
                  <a:pt x="21" y="42"/>
                  <a:pt x="23" y="44"/>
                  <a:pt x="23" y="46"/>
                </a:cubicBezTo>
                <a:cubicBezTo>
                  <a:pt x="23" y="49"/>
                  <a:pt x="21" y="51"/>
                  <a:pt x="18" y="51"/>
                </a:cubicBezTo>
                <a:close/>
                <a:moveTo>
                  <a:pt x="50" y="51"/>
                </a:moveTo>
                <a:cubicBezTo>
                  <a:pt x="47" y="51"/>
                  <a:pt x="45" y="49"/>
                  <a:pt x="45" y="46"/>
                </a:cubicBezTo>
                <a:cubicBezTo>
                  <a:pt x="45" y="44"/>
                  <a:pt x="47" y="42"/>
                  <a:pt x="50" y="42"/>
                </a:cubicBezTo>
                <a:cubicBezTo>
                  <a:pt x="53" y="42"/>
                  <a:pt x="55" y="44"/>
                  <a:pt x="55" y="46"/>
                </a:cubicBezTo>
                <a:cubicBezTo>
                  <a:pt x="55" y="49"/>
                  <a:pt x="53" y="51"/>
                  <a:pt x="50" y="5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6"/>
          <p:cNvSpPr>
            <a:spLocks noEditPoints="1"/>
          </p:cNvSpPr>
          <p:nvPr/>
        </p:nvSpPr>
        <p:spPr bwMode="auto">
          <a:xfrm>
            <a:off x="9451877" y="3117611"/>
            <a:ext cx="401263" cy="46870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3754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ACE4AE-79D0-4588-848C-A3CE8EE8534A}"/>
              </a:ext>
            </a:extLst>
          </p:cNvPr>
          <p:cNvSpPr txBox="1"/>
          <p:nvPr/>
        </p:nvSpPr>
        <p:spPr>
          <a:xfrm>
            <a:off x="2784943" y="3503082"/>
            <a:ext cx="3096527" cy="7755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1219170">
              <a:spcBef>
                <a:spcPct val="20000"/>
              </a:spcBef>
              <a:defRPr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Combining Multimodal Data</a:t>
            </a:r>
          </a:p>
          <a:p>
            <a:pPr defTabSz="1219170">
              <a:spcBef>
                <a:spcPct val="20000"/>
              </a:spcBef>
              <a:defRPr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speech features with other biomarkers like gait and handwriting for comprehensive diagnostics.</a:t>
            </a:r>
          </a:p>
        </p:txBody>
      </p:sp>
    </p:spTree>
    <p:extLst>
      <p:ext uri="{BB962C8B-B14F-4D97-AF65-F5344CB8AC3E}">
        <p14:creationId xmlns:p14="http://schemas.microsoft.com/office/powerpoint/2010/main" val="418580520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2" presetClass="entr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0"/>
                            </p:stCondLst>
                            <p:childTnLst>
                              <p:par>
                                <p:cTn id="6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000"/>
                            </p:stCondLst>
                            <p:childTnLst>
                              <p:par>
                                <p:cTn id="72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4" grpId="0"/>
      <p:bldP spid="130" grpId="0"/>
      <p:bldP spid="133" grpId="0"/>
      <p:bldP spid="149" grpId="0"/>
      <p:bldP spid="44" grpId="0" animBg="1"/>
      <p:bldP spid="45" grpId="0" animBg="1"/>
      <p:bldP spid="46" grpId="0" animBg="1"/>
      <p:bldP spid="56" grpId="0" animBg="1"/>
      <p:bldP spid="57" grpId="0" animBg="1"/>
      <p:bldP spid="67" grpId="0" animBg="1"/>
      <p:bldP spid="3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BE8FFA-F4AF-4125-8C47-71F96E9F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98685"/>
            <a:ext cx="3141430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b="1" u="sng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References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C102B-D580-4717-9C55-EB21E1590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38928" y="1338729"/>
            <a:ext cx="5740354" cy="411649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262626"/>
                </a:solidFill>
              </a:rPr>
              <a:t>Italian Parkinson dataset : </a:t>
            </a:r>
            <a:r>
              <a:rPr lang="en-US" sz="1400" dirty="0">
                <a:solidFill>
                  <a:srgbClr val="26262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Italian Parkinson's Voice and Speech | IEEE </a:t>
            </a:r>
            <a:r>
              <a:rPr lang="en-US" sz="1400" dirty="0" err="1">
                <a:solidFill>
                  <a:srgbClr val="26262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DataPort</a:t>
            </a:r>
            <a:endParaRPr lang="en-US" sz="1400" dirty="0">
              <a:solidFill>
                <a:srgbClr val="262626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endParaRPr lang="en-US" sz="1400" dirty="0">
              <a:solidFill>
                <a:srgbClr val="262626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262626"/>
                </a:solidFill>
              </a:rPr>
              <a:t>KCL dataset :</a:t>
            </a:r>
            <a:r>
              <a:rPr lang="en-US" sz="1400" dirty="0">
                <a:solidFill>
                  <a:srgbClr val="26262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Mobile Device Voice Recordings at King's College London (MDVR-KCL) from both early and advanced Parkinson's disease patients and healthy controls</a:t>
            </a:r>
            <a:endParaRPr lang="en-US" sz="1400" dirty="0">
              <a:solidFill>
                <a:srgbClr val="262626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endParaRPr lang="en-US" sz="1400" dirty="0">
              <a:solidFill>
                <a:srgbClr val="262626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262626"/>
                </a:solidFill>
              </a:rPr>
              <a:t>Comparative Study of Speech Analysis Methods to Predict Parkinson’s Disease</a:t>
            </a:r>
            <a:r>
              <a:rPr lang="en-US" sz="1400" dirty="0">
                <a:solidFill>
                  <a:srgbClr val="26262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2111.10207</a:t>
            </a:r>
            <a:endParaRPr lang="en-US" sz="1400" dirty="0">
              <a:solidFill>
                <a:srgbClr val="262626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endParaRPr lang="en-US" sz="1400" dirty="0">
              <a:solidFill>
                <a:srgbClr val="262626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262626"/>
                </a:solidFill>
              </a:rPr>
              <a:t>Voice Analysis for Neurological Disorder Recognition–A Systematic Review and Perspective on Emerging Trendshttps://doi.org/10.3389/fdgth.2022.842301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endParaRPr lang="en-US" sz="1400" dirty="0">
              <a:solidFill>
                <a:srgbClr val="262626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solidFill>
                  <a:srgbClr val="262626"/>
                </a:solidFill>
              </a:rPr>
              <a:t>Automated Assessment of Psychiatric Disorders Using Speech: A Systematic </a:t>
            </a:r>
            <a:r>
              <a:rPr lang="en-US" sz="1400" dirty="0" err="1">
                <a:solidFill>
                  <a:srgbClr val="262626"/>
                </a:solidFill>
              </a:rPr>
              <a:t>Review</a:t>
            </a:r>
            <a:r>
              <a:rPr lang="en-US" sz="1400" dirty="0" err="1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OSF</a:t>
            </a:r>
            <a:r>
              <a:rPr lang="en-US" sz="1400" dirty="0">
                <a:solidFill>
                  <a:srgbClr val="26262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Preprints | Automated Assessment of Psychiatric Disorders Using Speech: A Systematic Review</a:t>
            </a:r>
            <a:endParaRPr lang="en-US" sz="1400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291982"/>
      </p:ext>
    </p:extLst>
  </p:cSld>
  <p:clrMapOvr>
    <a:masterClrMapping/>
  </p:clrMapOvr>
  <p:transition spd="slow">
    <p:cover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36961" y="4135554"/>
            <a:ext cx="6836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all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+mn-ea"/>
              </a:rPr>
              <a:t>Thank you 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/>
              <a:ea typeface="+mn-ea"/>
            </a:endParaRPr>
          </a:p>
        </p:txBody>
      </p:sp>
      <p:sp>
        <p:nvSpPr>
          <p:cNvPr id="7" name="Rectangle 6"/>
          <p:cNvSpPr/>
          <p:nvPr/>
        </p:nvSpPr>
        <p:spPr>
          <a:xfrm rot="2700000">
            <a:off x="5829878" y="5342828"/>
            <a:ext cx="230427" cy="23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Condensed"/>
              <a:ea typeface="+mn-ea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3804314" y="5458041"/>
            <a:ext cx="18242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6281416" y="5458041"/>
            <a:ext cx="17474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entagon 10"/>
          <p:cNvSpPr/>
          <p:nvPr/>
        </p:nvSpPr>
        <p:spPr bwMode="auto">
          <a:xfrm rot="5400000">
            <a:off x="3986474" y="444501"/>
            <a:ext cx="3937003" cy="3048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Roboto Condensed"/>
              <a:ea typeface="+mn-ea"/>
            </a:endParaRP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1_Colored Theme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FFC000"/>
      </a:accent1>
      <a:accent2>
        <a:srgbClr val="FF3F5F"/>
      </a:accent2>
      <a:accent3>
        <a:srgbClr val="2AC2AC"/>
      </a:accent3>
      <a:accent4>
        <a:srgbClr val="3BC7E2"/>
      </a:accent4>
      <a:accent5>
        <a:srgbClr val="2993FF"/>
      </a:accent5>
      <a:accent6>
        <a:srgbClr val="7F739A"/>
      </a:accent6>
      <a:hlink>
        <a:srgbClr val="FFFFFF"/>
      </a:hlink>
      <a:folHlink>
        <a:srgbClr val="595959"/>
      </a:folHlink>
    </a:clrScheme>
    <a:fontScheme name="Roboto">
      <a:majorFont>
        <a:latin typeface="Roboto Medium"/>
        <a:ea typeface=""/>
        <a:cs typeface="FontAwesome"/>
      </a:majorFont>
      <a:minorFont>
        <a:latin typeface="Roboto Condensed"/>
        <a:ea typeface=""/>
        <a:cs typeface="FontAwesom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>
          <a:noFill/>
          <a:round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2561</Words>
  <Application>Microsoft Office PowerPoint</Application>
  <PresentationFormat>Widescreen</PresentationFormat>
  <Paragraphs>309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Calibri Light</vt:lpstr>
      <vt:lpstr>FontAwesome</vt:lpstr>
      <vt:lpstr>Roboto Condensed</vt:lpstr>
      <vt:lpstr>Roboto Medium</vt:lpstr>
      <vt:lpstr>Times New Roman</vt:lpstr>
      <vt:lpstr>Office Theme</vt:lpstr>
      <vt:lpstr>1_Custom Design</vt:lpstr>
      <vt:lpstr>PowerPoint Presentation</vt:lpstr>
      <vt:lpstr>Parkinson’s Disease​</vt:lpstr>
      <vt:lpstr>Problem Statement</vt:lpstr>
      <vt:lpstr>Speech</vt:lpstr>
      <vt:lpstr>Why OpenSMILE?</vt:lpstr>
      <vt:lpstr>Feature Sets in  OpenSMILE</vt:lpstr>
      <vt:lpstr>OpenSMILE  Feature Processing</vt:lpstr>
      <vt:lpstr>PowerPoint Presentation</vt:lpstr>
      <vt:lpstr>Literature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 Diagram</vt:lpstr>
      <vt:lpstr>PowerPoint Presentation</vt:lpstr>
      <vt:lpstr>Features</vt:lpstr>
      <vt:lpstr>Feature set after extraction</vt:lpstr>
      <vt:lpstr>Model Comparison:</vt:lpstr>
      <vt:lpstr>Literature Study</vt:lpstr>
      <vt:lpstr>Adapted Methodologies</vt:lpstr>
      <vt:lpstr>Adapted Methodologies</vt:lpstr>
      <vt:lpstr>Spectrogram Analysis</vt:lpstr>
      <vt:lpstr>Dataset Analysis</vt:lpstr>
      <vt:lpstr>Model Performance</vt:lpstr>
      <vt:lpstr>Our Methodology </vt:lpstr>
      <vt:lpstr>PowerPoint Presentation</vt:lpstr>
      <vt:lpstr>Feature Extraction</vt:lpstr>
      <vt:lpstr>Feature Normalization</vt:lpstr>
      <vt:lpstr>Machine Learning Pipeline</vt:lpstr>
      <vt:lpstr>Real-time Classification </vt:lpstr>
      <vt:lpstr>PowerPoint Presentation</vt:lpstr>
      <vt:lpstr>Model Comparison: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Channam, Akshay</dc:creator>
  <cp:lastModifiedBy>Channam, Akshay</cp:lastModifiedBy>
  <cp:revision>1</cp:revision>
  <dcterms:created xsi:type="dcterms:W3CDTF">2024-12-04T19:17:46Z</dcterms:created>
  <dcterms:modified xsi:type="dcterms:W3CDTF">2024-12-04T19:21:34Z</dcterms:modified>
</cp:coreProperties>
</file>